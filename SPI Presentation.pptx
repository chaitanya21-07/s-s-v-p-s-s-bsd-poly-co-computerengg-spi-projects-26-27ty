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24"/>
  </p:notesMasterIdLst>
  <p:sldIdLst>
    <p:sldId id="257" r:id="rId3"/>
    <p:sldId id="258" r:id="rId4"/>
    <p:sldId id="259" r:id="rId5"/>
    <p:sldId id="260" r:id="rId6"/>
    <p:sldId id="275" r:id="rId7"/>
    <p:sldId id="276" r:id="rId8"/>
    <p:sldId id="277" r:id="rId9"/>
    <p:sldId id="278" r:id="rId10"/>
    <p:sldId id="263" r:id="rId11"/>
    <p:sldId id="264" r:id="rId12"/>
    <p:sldId id="265" r:id="rId13"/>
    <p:sldId id="266" r:id="rId14"/>
    <p:sldId id="267" r:id="rId15"/>
    <p:sldId id="268" r:id="rId16"/>
    <p:sldId id="269" r:id="rId17"/>
    <p:sldId id="270" r:id="rId18"/>
    <p:sldId id="271" r:id="rId19"/>
    <p:sldId id="272" r:id="rId20"/>
    <p:sldId id="273" r:id="rId21"/>
    <p:sldId id="279" r:id="rId22"/>
    <p:sldId id="274"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A71C5E-2C92-4BC8-86C0-E4E7B2617216}" v="83" dt="2026-10-16T05:40:00.1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488" autoAdjust="0"/>
    <p:restoredTop sz="94660"/>
  </p:normalViewPr>
  <p:slideViewPr>
    <p:cSldViewPr snapToGrid="0">
      <p:cViewPr varScale="1">
        <p:scale>
          <a:sx n="78" d="100"/>
          <a:sy n="78" d="100"/>
        </p:scale>
        <p:origin x="141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itanya Jadhav" userId="ad5662e8af922972" providerId="LiveId" clId="{DDA61B84-32FA-4F37-BD79-D7022125222E}"/>
    <pc:docChg chg="undo redo custSel addSld delSld modSld sldOrd">
      <pc:chgData name="Chaitanya Jadhav" userId="ad5662e8af922972" providerId="LiveId" clId="{DDA61B84-32FA-4F37-BD79-D7022125222E}" dt="2026-10-16T05:58:54.709" v="927" actId="20577"/>
      <pc:docMkLst>
        <pc:docMk/>
      </pc:docMkLst>
      <pc:sldChg chg="modSp mod">
        <pc:chgData name="Chaitanya Jadhav" userId="ad5662e8af922972" providerId="LiveId" clId="{DDA61B84-32FA-4F37-BD79-D7022125222E}" dt="2026-10-15T08:22:56.106" v="470" actId="20577"/>
        <pc:sldMkLst>
          <pc:docMk/>
          <pc:sldMk cId="2868500000" sldId="257"/>
        </pc:sldMkLst>
        <pc:graphicFrameChg chg="modGraphic">
          <ac:chgData name="Chaitanya Jadhav" userId="ad5662e8af922972" providerId="LiveId" clId="{DDA61B84-32FA-4F37-BD79-D7022125222E}" dt="2026-10-15T08:22:56.106" v="470" actId="20577"/>
          <ac:graphicFrameMkLst>
            <pc:docMk/>
            <pc:sldMk cId="2868500000" sldId="257"/>
            <ac:graphicFrameMk id="504" creationId="{00000000-0000-0000-0000-000000000000}"/>
          </ac:graphicFrameMkLst>
        </pc:graphicFrameChg>
      </pc:sldChg>
      <pc:sldChg chg="modSp mod">
        <pc:chgData name="Chaitanya Jadhav" userId="ad5662e8af922972" providerId="LiveId" clId="{DDA61B84-32FA-4F37-BD79-D7022125222E}" dt="2026-10-16T05:58:54.709" v="927" actId="20577"/>
        <pc:sldMkLst>
          <pc:docMk/>
          <pc:sldMk cId="1850772874" sldId="258"/>
        </pc:sldMkLst>
        <pc:spChg chg="mod">
          <ac:chgData name="Chaitanya Jadhav" userId="ad5662e8af922972" providerId="LiveId" clId="{DDA61B84-32FA-4F37-BD79-D7022125222E}" dt="2026-10-16T05:58:54.709" v="927" actId="20577"/>
          <ac:spMkLst>
            <pc:docMk/>
            <pc:sldMk cId="1850772874" sldId="258"/>
            <ac:spMk id="510" creationId="{00000000-0000-0000-0000-000000000000}"/>
          </ac:spMkLst>
        </pc:spChg>
      </pc:sldChg>
      <pc:sldChg chg="addSp delSp modSp mod">
        <pc:chgData name="Chaitanya Jadhav" userId="ad5662e8af922972" providerId="LiveId" clId="{DDA61B84-32FA-4F37-BD79-D7022125222E}" dt="2026-10-15T08:24:31.104" v="477" actId="1036"/>
        <pc:sldMkLst>
          <pc:docMk/>
          <pc:sldMk cId="3562826746" sldId="260"/>
        </pc:sldMkLst>
        <pc:spChg chg="add mod">
          <ac:chgData name="Chaitanya Jadhav" userId="ad5662e8af922972" providerId="LiveId" clId="{DDA61B84-32FA-4F37-BD79-D7022125222E}" dt="2026-10-15T07:00:06.598" v="248" actId="123"/>
          <ac:spMkLst>
            <pc:docMk/>
            <pc:sldMk cId="3562826746" sldId="260"/>
            <ac:spMk id="12" creationId="{B38D88BA-89AA-1B0A-BED1-6EAC38190CE3}"/>
          </ac:spMkLst>
        </pc:spChg>
        <pc:spChg chg="mod">
          <ac:chgData name="Chaitanya Jadhav" userId="ad5662e8af922972" providerId="LiveId" clId="{DDA61B84-32FA-4F37-BD79-D7022125222E}" dt="2026-10-15T05:06:50.164" v="111" actId="20577"/>
          <ac:spMkLst>
            <pc:docMk/>
            <pc:sldMk cId="3562826746" sldId="260"/>
            <ac:spMk id="525" creationId="{00000000-0000-0000-0000-000000000000}"/>
          </ac:spMkLst>
        </pc:spChg>
        <pc:grpChg chg="del mod">
          <ac:chgData name="Chaitanya Jadhav" userId="ad5662e8af922972" providerId="LiveId" clId="{DDA61B84-32FA-4F37-BD79-D7022125222E}" dt="2026-10-15T05:04:35.081" v="60" actId="478"/>
          <ac:grpSpMkLst>
            <pc:docMk/>
            <pc:sldMk cId="3562826746" sldId="260"/>
            <ac:grpSpMk id="9" creationId="{AB78422A-B59B-A4F1-1517-532847ED2332}"/>
          </ac:grpSpMkLst>
        </pc:grpChg>
        <pc:picChg chg="add del mod modCrop">
          <ac:chgData name="Chaitanya Jadhav" userId="ad5662e8af922972" providerId="LiveId" clId="{DDA61B84-32FA-4F37-BD79-D7022125222E}" dt="2026-10-15T04:59:46.869" v="11" actId="478"/>
          <ac:picMkLst>
            <pc:docMk/>
            <pc:sldMk cId="3562826746" sldId="260"/>
            <ac:picMk id="3" creationId="{59722D63-B5E1-AAA6-33AD-ED7B5388FE68}"/>
          </ac:picMkLst>
        </pc:picChg>
        <pc:picChg chg="add mod modCrop">
          <ac:chgData name="Chaitanya Jadhav" userId="ad5662e8af922972" providerId="LiveId" clId="{DDA61B84-32FA-4F37-BD79-D7022125222E}" dt="2026-10-15T08:24:31.104" v="477" actId="1036"/>
          <ac:picMkLst>
            <pc:docMk/>
            <pc:sldMk cId="3562826746" sldId="260"/>
            <ac:picMk id="11" creationId="{E6011F87-3053-A232-9F1D-39FDAEC17CEA}"/>
          </ac:picMkLst>
        </pc:picChg>
        <pc:inkChg chg="add del">
          <ac:chgData name="Chaitanya Jadhav" userId="ad5662e8af922972" providerId="LiveId" clId="{DDA61B84-32FA-4F37-BD79-D7022125222E}" dt="2026-10-15T05:01:54.965" v="43" actId="9405"/>
          <ac:inkMkLst>
            <pc:docMk/>
            <pc:sldMk cId="3562826746" sldId="260"/>
            <ac:inkMk id="4" creationId="{88F39F9A-721B-DF25-B4F6-3D5206CDF2C1}"/>
          </ac:inkMkLst>
        </pc:inkChg>
        <pc:inkChg chg="add del">
          <ac:chgData name="Chaitanya Jadhav" userId="ad5662e8af922972" providerId="LiveId" clId="{DDA61B84-32FA-4F37-BD79-D7022125222E}" dt="2026-10-15T05:04:31.860" v="59" actId="478"/>
          <ac:inkMkLst>
            <pc:docMk/>
            <pc:sldMk cId="3562826746" sldId="260"/>
            <ac:inkMk id="5" creationId="{0CEA000B-C855-92FF-B4DF-07D12AD35623}"/>
          </ac:inkMkLst>
        </pc:inkChg>
        <pc:inkChg chg="add del">
          <ac:chgData name="Chaitanya Jadhav" userId="ad5662e8af922972" providerId="LiveId" clId="{DDA61B84-32FA-4F37-BD79-D7022125222E}" dt="2026-10-15T05:02:19.883" v="46" actId="9405"/>
          <ac:inkMkLst>
            <pc:docMk/>
            <pc:sldMk cId="3562826746" sldId="260"/>
            <ac:inkMk id="6" creationId="{BB66F691-7C44-FD8E-F2A2-D2F2C6B96FFF}"/>
          </ac:inkMkLst>
        </pc:inkChg>
        <pc:inkChg chg="add mod">
          <ac:chgData name="Chaitanya Jadhav" userId="ad5662e8af922972" providerId="LiveId" clId="{DDA61B84-32FA-4F37-BD79-D7022125222E}" dt="2026-10-15T05:02:28.748" v="49"/>
          <ac:inkMkLst>
            <pc:docMk/>
            <pc:sldMk cId="3562826746" sldId="260"/>
            <ac:inkMk id="7" creationId="{9D143762-94BA-EC42-5ED1-2E838C7F78E4}"/>
          </ac:inkMkLst>
        </pc:inkChg>
        <pc:inkChg chg="add mod">
          <ac:chgData name="Chaitanya Jadhav" userId="ad5662e8af922972" providerId="LiveId" clId="{DDA61B84-32FA-4F37-BD79-D7022125222E}" dt="2026-10-15T05:02:28.748" v="49"/>
          <ac:inkMkLst>
            <pc:docMk/>
            <pc:sldMk cId="3562826746" sldId="260"/>
            <ac:inkMk id="8" creationId="{3115B153-AE00-0F77-0D24-F12941FA4500}"/>
          </ac:inkMkLst>
        </pc:inkChg>
      </pc:sldChg>
      <pc:sldChg chg="del">
        <pc:chgData name="Chaitanya Jadhav" userId="ad5662e8af922972" providerId="LiveId" clId="{DDA61B84-32FA-4F37-BD79-D7022125222E}" dt="2026-10-15T07:03:31.320" v="264" actId="2696"/>
        <pc:sldMkLst>
          <pc:docMk/>
          <pc:sldMk cId="3143127981" sldId="261"/>
        </pc:sldMkLst>
      </pc:sldChg>
      <pc:sldChg chg="del">
        <pc:chgData name="Chaitanya Jadhav" userId="ad5662e8af922972" providerId="LiveId" clId="{DDA61B84-32FA-4F37-BD79-D7022125222E}" dt="2026-10-15T07:04:15.278" v="268" actId="2696"/>
        <pc:sldMkLst>
          <pc:docMk/>
          <pc:sldMk cId="3967509631" sldId="262"/>
        </pc:sldMkLst>
      </pc:sldChg>
      <pc:sldChg chg="modSp mod">
        <pc:chgData name="Chaitanya Jadhav" userId="ad5662e8af922972" providerId="LiveId" clId="{DDA61B84-32FA-4F37-BD79-D7022125222E}" dt="2026-10-15T07:00:28.083" v="253" actId="123"/>
        <pc:sldMkLst>
          <pc:docMk/>
          <pc:sldMk cId="531206737" sldId="263"/>
        </pc:sldMkLst>
        <pc:spChg chg="mod">
          <ac:chgData name="Chaitanya Jadhav" userId="ad5662e8af922972" providerId="LiveId" clId="{DDA61B84-32FA-4F37-BD79-D7022125222E}" dt="2026-10-15T07:00:24.149" v="252" actId="20577"/>
          <ac:spMkLst>
            <pc:docMk/>
            <pc:sldMk cId="531206737" sldId="263"/>
            <ac:spMk id="538" creationId="{00000000-0000-0000-0000-000000000000}"/>
          </ac:spMkLst>
        </pc:spChg>
        <pc:spChg chg="mod">
          <ac:chgData name="Chaitanya Jadhav" userId="ad5662e8af922972" providerId="LiveId" clId="{DDA61B84-32FA-4F37-BD79-D7022125222E}" dt="2026-10-15T07:00:28.083" v="253" actId="123"/>
          <ac:spMkLst>
            <pc:docMk/>
            <pc:sldMk cId="531206737" sldId="263"/>
            <ac:spMk id="539" creationId="{00000000-0000-0000-0000-000000000000}"/>
          </ac:spMkLst>
        </pc:spChg>
      </pc:sldChg>
      <pc:sldChg chg="modSp mod ord">
        <pc:chgData name="Chaitanya Jadhav" userId="ad5662e8af922972" providerId="LiveId" clId="{DDA61B84-32FA-4F37-BD79-D7022125222E}" dt="2026-10-15T07:00:33.858" v="254" actId="123"/>
        <pc:sldMkLst>
          <pc:docMk/>
          <pc:sldMk cId="3468139614" sldId="264"/>
        </pc:sldMkLst>
        <pc:spChg chg="mod">
          <ac:chgData name="Chaitanya Jadhav" userId="ad5662e8af922972" providerId="LiveId" clId="{DDA61B84-32FA-4F37-BD79-D7022125222E}" dt="2026-10-15T07:00:33.858" v="254" actId="123"/>
          <ac:spMkLst>
            <pc:docMk/>
            <pc:sldMk cId="3468139614" sldId="264"/>
            <ac:spMk id="546" creationId="{00000000-0000-0000-0000-000000000000}"/>
          </ac:spMkLst>
        </pc:spChg>
      </pc:sldChg>
      <pc:sldChg chg="addSp modSp mod">
        <pc:chgData name="Chaitanya Jadhav" userId="ad5662e8af922972" providerId="LiveId" clId="{DDA61B84-32FA-4F37-BD79-D7022125222E}" dt="2026-10-15T07:00:39.504" v="255" actId="123"/>
        <pc:sldMkLst>
          <pc:docMk/>
          <pc:sldMk cId="2738317772" sldId="265"/>
        </pc:sldMkLst>
        <pc:spChg chg="mod">
          <ac:chgData name="Chaitanya Jadhav" userId="ad5662e8af922972" providerId="LiveId" clId="{DDA61B84-32FA-4F37-BD79-D7022125222E}" dt="2026-10-15T07:00:39.504" v="255" actId="123"/>
          <ac:spMkLst>
            <pc:docMk/>
            <pc:sldMk cId="2738317772" sldId="265"/>
            <ac:spMk id="553" creationId="{00000000-0000-0000-0000-000000000000}"/>
          </ac:spMkLst>
        </pc:spChg>
        <pc:picChg chg="add mod">
          <ac:chgData name="Chaitanya Jadhav" userId="ad5662e8af922972" providerId="LiveId" clId="{DDA61B84-32FA-4F37-BD79-D7022125222E}" dt="2026-10-15T05:13:50.196" v="146" actId="1076"/>
          <ac:picMkLst>
            <pc:docMk/>
            <pc:sldMk cId="2738317772" sldId="265"/>
            <ac:picMk id="3" creationId="{FE6F8DBF-B3B5-22B7-A206-D4D957E25C7F}"/>
          </ac:picMkLst>
        </pc:picChg>
      </pc:sldChg>
      <pc:sldChg chg="modSp mod">
        <pc:chgData name="Chaitanya Jadhav" userId="ad5662e8af922972" providerId="LiveId" clId="{DDA61B84-32FA-4F37-BD79-D7022125222E}" dt="2026-10-15T07:00:45.016" v="256" actId="123"/>
        <pc:sldMkLst>
          <pc:docMk/>
          <pc:sldMk cId="2273495794" sldId="266"/>
        </pc:sldMkLst>
        <pc:spChg chg="mod">
          <ac:chgData name="Chaitanya Jadhav" userId="ad5662e8af922972" providerId="LiveId" clId="{DDA61B84-32FA-4F37-BD79-D7022125222E}" dt="2026-10-15T07:00:45.016" v="256" actId="123"/>
          <ac:spMkLst>
            <pc:docMk/>
            <pc:sldMk cId="2273495794" sldId="266"/>
            <ac:spMk id="560" creationId="{00000000-0000-0000-0000-000000000000}"/>
          </ac:spMkLst>
        </pc:spChg>
      </pc:sldChg>
      <pc:sldChg chg="addSp modSp mod">
        <pc:chgData name="Chaitanya Jadhav" userId="ad5662e8af922972" providerId="LiveId" clId="{DDA61B84-32FA-4F37-BD79-D7022125222E}" dt="2026-10-15T08:52:50.930" v="564" actId="20577"/>
        <pc:sldMkLst>
          <pc:docMk/>
          <pc:sldMk cId="1339617521" sldId="267"/>
        </pc:sldMkLst>
        <pc:spChg chg="mod">
          <ac:chgData name="Chaitanya Jadhav" userId="ad5662e8af922972" providerId="LiveId" clId="{DDA61B84-32FA-4F37-BD79-D7022125222E}" dt="2026-10-15T08:52:50.930" v="564" actId="20577"/>
          <ac:spMkLst>
            <pc:docMk/>
            <pc:sldMk cId="1339617521" sldId="267"/>
            <ac:spMk id="566" creationId="{00000000-0000-0000-0000-000000000000}"/>
          </ac:spMkLst>
        </pc:spChg>
        <pc:spChg chg="mod">
          <ac:chgData name="Chaitanya Jadhav" userId="ad5662e8af922972" providerId="LiveId" clId="{DDA61B84-32FA-4F37-BD79-D7022125222E}" dt="2026-10-15T07:00:53.060" v="257" actId="123"/>
          <ac:spMkLst>
            <pc:docMk/>
            <pc:sldMk cId="1339617521" sldId="267"/>
            <ac:spMk id="567" creationId="{00000000-0000-0000-0000-000000000000}"/>
          </ac:spMkLst>
        </pc:spChg>
        <pc:picChg chg="add mod">
          <ac:chgData name="Chaitanya Jadhav" userId="ad5662e8af922972" providerId="LiveId" clId="{DDA61B84-32FA-4F37-BD79-D7022125222E}" dt="2026-10-15T06:45:06.307" v="156" actId="1076"/>
          <ac:picMkLst>
            <pc:docMk/>
            <pc:sldMk cId="1339617521" sldId="267"/>
            <ac:picMk id="3" creationId="{C6B156E3-7070-9AFC-C5BB-2AFDB8550A24}"/>
          </ac:picMkLst>
        </pc:picChg>
      </pc:sldChg>
      <pc:sldChg chg="modSp mod">
        <pc:chgData name="Chaitanya Jadhav" userId="ad5662e8af922972" providerId="LiveId" clId="{DDA61B84-32FA-4F37-BD79-D7022125222E}" dt="2026-10-15T08:53:05.098" v="566" actId="20577"/>
        <pc:sldMkLst>
          <pc:docMk/>
          <pc:sldMk cId="883892649" sldId="268"/>
        </pc:sldMkLst>
        <pc:spChg chg="mod">
          <ac:chgData name="Chaitanya Jadhav" userId="ad5662e8af922972" providerId="LiveId" clId="{DDA61B84-32FA-4F37-BD79-D7022125222E}" dt="2026-10-15T08:53:05.098" v="566" actId="20577"/>
          <ac:spMkLst>
            <pc:docMk/>
            <pc:sldMk cId="883892649" sldId="268"/>
            <ac:spMk id="573" creationId="{00000000-0000-0000-0000-000000000000}"/>
          </ac:spMkLst>
        </pc:spChg>
        <pc:spChg chg="mod">
          <ac:chgData name="Chaitanya Jadhav" userId="ad5662e8af922972" providerId="LiveId" clId="{DDA61B84-32FA-4F37-BD79-D7022125222E}" dt="2026-10-15T07:01:10.933" v="258" actId="123"/>
          <ac:spMkLst>
            <pc:docMk/>
            <pc:sldMk cId="883892649" sldId="268"/>
            <ac:spMk id="574" creationId="{00000000-0000-0000-0000-000000000000}"/>
          </ac:spMkLst>
        </pc:spChg>
      </pc:sldChg>
      <pc:sldChg chg="modSp mod">
        <pc:chgData name="Chaitanya Jadhav" userId="ad5662e8af922972" providerId="LiveId" clId="{DDA61B84-32FA-4F37-BD79-D7022125222E}" dt="2026-10-15T07:01:14.556" v="259" actId="123"/>
        <pc:sldMkLst>
          <pc:docMk/>
          <pc:sldMk cId="205982104" sldId="269"/>
        </pc:sldMkLst>
        <pc:spChg chg="mod">
          <ac:chgData name="Chaitanya Jadhav" userId="ad5662e8af922972" providerId="LiveId" clId="{DDA61B84-32FA-4F37-BD79-D7022125222E}" dt="2026-10-15T07:01:14.556" v="259" actId="123"/>
          <ac:spMkLst>
            <pc:docMk/>
            <pc:sldMk cId="205982104" sldId="269"/>
            <ac:spMk id="581" creationId="{00000000-0000-0000-0000-000000000000}"/>
          </ac:spMkLst>
        </pc:spChg>
      </pc:sldChg>
      <pc:sldChg chg="modSp mod">
        <pc:chgData name="Chaitanya Jadhav" userId="ad5662e8af922972" providerId="LiveId" clId="{DDA61B84-32FA-4F37-BD79-D7022125222E}" dt="2026-10-15T07:01:17.770" v="260" actId="123"/>
        <pc:sldMkLst>
          <pc:docMk/>
          <pc:sldMk cId="1762081038" sldId="270"/>
        </pc:sldMkLst>
        <pc:spChg chg="mod">
          <ac:chgData name="Chaitanya Jadhav" userId="ad5662e8af922972" providerId="LiveId" clId="{DDA61B84-32FA-4F37-BD79-D7022125222E}" dt="2026-10-15T05:00:39.972" v="30" actId="20577"/>
          <ac:spMkLst>
            <pc:docMk/>
            <pc:sldMk cId="1762081038" sldId="270"/>
            <ac:spMk id="587" creationId="{00000000-0000-0000-0000-000000000000}"/>
          </ac:spMkLst>
        </pc:spChg>
        <pc:spChg chg="mod">
          <ac:chgData name="Chaitanya Jadhav" userId="ad5662e8af922972" providerId="LiveId" clId="{DDA61B84-32FA-4F37-BD79-D7022125222E}" dt="2026-10-15T07:01:17.770" v="260" actId="123"/>
          <ac:spMkLst>
            <pc:docMk/>
            <pc:sldMk cId="1762081038" sldId="270"/>
            <ac:spMk id="588" creationId="{00000000-0000-0000-0000-000000000000}"/>
          </ac:spMkLst>
        </pc:spChg>
      </pc:sldChg>
      <pc:sldChg chg="modSp mod">
        <pc:chgData name="Chaitanya Jadhav" userId="ad5662e8af922972" providerId="LiveId" clId="{DDA61B84-32FA-4F37-BD79-D7022125222E}" dt="2026-10-15T07:01:22.767" v="261" actId="123"/>
        <pc:sldMkLst>
          <pc:docMk/>
          <pc:sldMk cId="2406712987" sldId="271"/>
        </pc:sldMkLst>
        <pc:spChg chg="mod">
          <ac:chgData name="Chaitanya Jadhav" userId="ad5662e8af922972" providerId="LiveId" clId="{DDA61B84-32FA-4F37-BD79-D7022125222E}" dt="2026-10-15T07:01:22.767" v="261" actId="123"/>
          <ac:spMkLst>
            <pc:docMk/>
            <pc:sldMk cId="2406712987" sldId="271"/>
            <ac:spMk id="595" creationId="{00000000-0000-0000-0000-000000000000}"/>
          </ac:spMkLst>
        </pc:spChg>
      </pc:sldChg>
      <pc:sldChg chg="modSp mod">
        <pc:chgData name="Chaitanya Jadhav" userId="ad5662e8af922972" providerId="LiveId" clId="{DDA61B84-32FA-4F37-BD79-D7022125222E}" dt="2026-10-15T08:53:32.068" v="569" actId="404"/>
        <pc:sldMkLst>
          <pc:docMk/>
          <pc:sldMk cId="1967335572" sldId="272"/>
        </pc:sldMkLst>
        <pc:spChg chg="mod">
          <ac:chgData name="Chaitanya Jadhav" userId="ad5662e8af922972" providerId="LiveId" clId="{DDA61B84-32FA-4F37-BD79-D7022125222E}" dt="2026-10-15T08:53:32.068" v="569" actId="404"/>
          <ac:spMkLst>
            <pc:docMk/>
            <pc:sldMk cId="1967335572" sldId="272"/>
            <ac:spMk id="601" creationId="{00000000-0000-0000-0000-000000000000}"/>
          </ac:spMkLst>
        </pc:spChg>
        <pc:spChg chg="mod">
          <ac:chgData name="Chaitanya Jadhav" userId="ad5662e8af922972" providerId="LiveId" clId="{DDA61B84-32FA-4F37-BD79-D7022125222E}" dt="2026-10-15T07:01:27.019" v="262" actId="123"/>
          <ac:spMkLst>
            <pc:docMk/>
            <pc:sldMk cId="1967335572" sldId="272"/>
            <ac:spMk id="602" creationId="{00000000-0000-0000-0000-000000000000}"/>
          </ac:spMkLst>
        </pc:spChg>
      </pc:sldChg>
      <pc:sldChg chg="addSp delSp modSp mod">
        <pc:chgData name="Chaitanya Jadhav" userId="ad5662e8af922972" providerId="LiveId" clId="{DDA61B84-32FA-4F37-BD79-D7022125222E}" dt="2026-10-16T05:42:42.157" v="902" actId="255"/>
        <pc:sldMkLst>
          <pc:docMk/>
          <pc:sldMk cId="3468624194" sldId="273"/>
        </pc:sldMkLst>
        <pc:spChg chg="add del mod">
          <ac:chgData name="Chaitanya Jadhav" userId="ad5662e8af922972" providerId="LiveId" clId="{DDA61B84-32FA-4F37-BD79-D7022125222E}" dt="2026-10-15T09:09:46.967" v="575" actId="478"/>
          <ac:spMkLst>
            <pc:docMk/>
            <pc:sldMk cId="3468624194" sldId="273"/>
            <ac:spMk id="2" creationId="{59F06973-7A67-A451-A834-37232EDE477C}"/>
          </ac:spMkLst>
        </pc:spChg>
        <pc:spChg chg="add del mod">
          <ac:chgData name="Chaitanya Jadhav" userId="ad5662e8af922972" providerId="LiveId" clId="{DDA61B84-32FA-4F37-BD79-D7022125222E}" dt="2026-10-15T06:57:21.327" v="222"/>
          <ac:spMkLst>
            <pc:docMk/>
            <pc:sldMk cId="3468624194" sldId="273"/>
            <ac:spMk id="3" creationId="{43D839B2-CC59-6CC8-DA62-4377FE1E028C}"/>
          </ac:spMkLst>
        </pc:spChg>
        <pc:spChg chg="mod">
          <ac:chgData name="Chaitanya Jadhav" userId="ad5662e8af922972" providerId="LiveId" clId="{DDA61B84-32FA-4F37-BD79-D7022125222E}" dt="2026-10-16T05:42:42.157" v="902" actId="255"/>
          <ac:spMkLst>
            <pc:docMk/>
            <pc:sldMk cId="3468624194" sldId="273"/>
            <ac:spMk id="609" creationId="{00000000-0000-0000-0000-000000000000}"/>
          </ac:spMkLst>
        </pc:spChg>
      </pc:sldChg>
      <pc:sldChg chg="modSp add mod">
        <pc:chgData name="Chaitanya Jadhav" userId="ad5662e8af922972" providerId="LiveId" clId="{DDA61B84-32FA-4F37-BD79-D7022125222E}" dt="2026-10-15T08:30:43.089" v="488" actId="2711"/>
        <pc:sldMkLst>
          <pc:docMk/>
          <pc:sldMk cId="0" sldId="275"/>
        </pc:sldMkLst>
        <pc:graphicFrameChg chg="mod modGraphic">
          <ac:chgData name="Chaitanya Jadhav" userId="ad5662e8af922972" providerId="LiveId" clId="{DDA61B84-32FA-4F37-BD79-D7022125222E}" dt="2026-10-15T08:30:43.089" v="488" actId="2711"/>
          <ac:graphicFrameMkLst>
            <pc:docMk/>
            <pc:sldMk cId="0" sldId="275"/>
            <ac:graphicFrameMk id="3" creationId="{20C7D25D-C2DD-14C4-3795-EFBE3BAD0452}"/>
          </ac:graphicFrameMkLst>
        </pc:graphicFrameChg>
      </pc:sldChg>
      <pc:sldChg chg="modSp add mod">
        <pc:chgData name="Chaitanya Jadhav" userId="ad5662e8af922972" providerId="LiveId" clId="{DDA61B84-32FA-4F37-BD79-D7022125222E}" dt="2026-10-15T09:43:29.179" v="588" actId="14100"/>
        <pc:sldMkLst>
          <pc:docMk/>
          <pc:sldMk cId="2959878552" sldId="276"/>
        </pc:sldMkLst>
        <pc:graphicFrameChg chg="mod modGraphic">
          <ac:chgData name="Chaitanya Jadhav" userId="ad5662e8af922972" providerId="LiveId" clId="{DDA61B84-32FA-4F37-BD79-D7022125222E}" dt="2026-10-15T09:43:29.179" v="588" actId="14100"/>
          <ac:graphicFrameMkLst>
            <pc:docMk/>
            <pc:sldMk cId="2959878552" sldId="276"/>
            <ac:graphicFrameMk id="5" creationId="{897499E5-8CB4-DAE8-21FB-4BE7CB70F5F3}"/>
          </ac:graphicFrameMkLst>
        </pc:graphicFrameChg>
      </pc:sldChg>
      <pc:sldChg chg="modSp add mod">
        <pc:chgData name="Chaitanya Jadhav" userId="ad5662e8af922972" providerId="LiveId" clId="{DDA61B84-32FA-4F37-BD79-D7022125222E}" dt="2026-10-15T08:45:38.929" v="522" actId="2711"/>
        <pc:sldMkLst>
          <pc:docMk/>
          <pc:sldMk cId="3939053908" sldId="277"/>
        </pc:sldMkLst>
        <pc:graphicFrameChg chg="mod modGraphic">
          <ac:chgData name="Chaitanya Jadhav" userId="ad5662e8af922972" providerId="LiveId" clId="{DDA61B84-32FA-4F37-BD79-D7022125222E}" dt="2026-10-15T08:45:38.929" v="522" actId="2711"/>
          <ac:graphicFrameMkLst>
            <pc:docMk/>
            <pc:sldMk cId="3939053908" sldId="277"/>
            <ac:graphicFrameMk id="5" creationId="{DFACAE3B-8C3E-AE68-D226-1A669FFA2F4B}"/>
          </ac:graphicFrameMkLst>
        </pc:graphicFrameChg>
      </pc:sldChg>
      <pc:sldChg chg="modSp add mod">
        <pc:chgData name="Chaitanya Jadhav" userId="ad5662e8af922972" providerId="LiveId" clId="{DDA61B84-32FA-4F37-BD79-D7022125222E}" dt="2026-10-15T08:47:06.192" v="526" actId="2711"/>
        <pc:sldMkLst>
          <pc:docMk/>
          <pc:sldMk cId="1959362573" sldId="278"/>
        </pc:sldMkLst>
        <pc:graphicFrameChg chg="mod modGraphic">
          <ac:chgData name="Chaitanya Jadhav" userId="ad5662e8af922972" providerId="LiveId" clId="{DDA61B84-32FA-4F37-BD79-D7022125222E}" dt="2026-10-15T08:47:06.192" v="526" actId="2711"/>
          <ac:graphicFrameMkLst>
            <pc:docMk/>
            <pc:sldMk cId="1959362573" sldId="278"/>
            <ac:graphicFrameMk id="5" creationId="{91D3346C-B134-68BD-1C8D-125021426C8A}"/>
          </ac:graphicFrameMkLst>
        </pc:graphicFrameChg>
      </pc:sldChg>
      <pc:sldChg chg="modSp add mod">
        <pc:chgData name="Chaitanya Jadhav" userId="ad5662e8af922972" providerId="LiveId" clId="{DDA61B84-32FA-4F37-BD79-D7022125222E}" dt="2026-10-16T05:43:52.263" v="910" actId="20577"/>
        <pc:sldMkLst>
          <pc:docMk/>
          <pc:sldMk cId="2446695466" sldId="279"/>
        </pc:sldMkLst>
        <pc:spChg chg="mod">
          <ac:chgData name="Chaitanya Jadhav" userId="ad5662e8af922972" providerId="LiveId" clId="{DDA61B84-32FA-4F37-BD79-D7022125222E}" dt="2026-10-16T05:35:20.756" v="834" actId="404"/>
          <ac:spMkLst>
            <pc:docMk/>
            <pc:sldMk cId="2446695466" sldId="279"/>
            <ac:spMk id="608" creationId="{00000000-0000-0000-0000-000000000000}"/>
          </ac:spMkLst>
        </pc:spChg>
        <pc:spChg chg="mod">
          <ac:chgData name="Chaitanya Jadhav" userId="ad5662e8af922972" providerId="LiveId" clId="{DDA61B84-32FA-4F37-BD79-D7022125222E}" dt="2026-10-16T05:43:52.263" v="910" actId="20577"/>
          <ac:spMkLst>
            <pc:docMk/>
            <pc:sldMk cId="2446695466" sldId="279"/>
            <ac:spMk id="60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0BEE08-EEA5-43A3-8648-F1E8671D01C8}" type="datetimeFigureOut">
              <a:rPr lang="en-IN" smtClean="0"/>
              <a:t>16-10-2026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8C9F1A-BEF6-4AA0-9461-ADF7501E5B47}" type="slidenum">
              <a:rPr lang="en-IN" smtClean="0"/>
              <a:t>‹#›</a:t>
            </a:fld>
            <a:endParaRPr lang="en-IN"/>
          </a:p>
        </p:txBody>
      </p:sp>
    </p:spTree>
    <p:extLst>
      <p:ext uri="{BB962C8B-B14F-4D97-AF65-F5344CB8AC3E}">
        <p14:creationId xmlns:p14="http://schemas.microsoft.com/office/powerpoint/2010/main" val="1218780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2" name="Google Shape;502;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22242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8" name="Google Shape;508;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749519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5" name="Google Shape;515;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169373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2" name="Google Shape;522;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09843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9" name="Google Shape;529;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6" name="Google Shape;536;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710964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3" name="Google Shape;543;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15218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0" name="Google Shape;550;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164487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7" name="Google Shape;557;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42096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4" name="Google Shape;56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47015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1" name="Google Shape;571;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21373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8" name="Google Shape;578;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03982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p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5" name="Google Shape;585;p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66328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g5ae31baec559f25e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2" name="Google Shape;592;g5ae31baec559f25e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94153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9" name="Google Shape;599;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44062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6" name="Google Shape;606;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85994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6" name="Google Shape;606;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97694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42183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429DF01-5614-4E4E-BD47-96A2A7B7747C}" type="datetimeFigureOut">
              <a:rPr lang="en-IN" smtClean="0"/>
              <a:t>16-10-2026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CCAA3C-E6F7-4AEE-9AA9-75A2F6EFB885}" type="slidenum">
              <a:rPr lang="en-IN" smtClean="0"/>
              <a:t>‹#›</a:t>
            </a:fld>
            <a:endParaRPr lang="en-IN"/>
          </a:p>
        </p:txBody>
      </p:sp>
    </p:spTree>
    <p:extLst>
      <p:ext uri="{BB962C8B-B14F-4D97-AF65-F5344CB8AC3E}">
        <p14:creationId xmlns:p14="http://schemas.microsoft.com/office/powerpoint/2010/main" val="3792072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29DF01-5614-4E4E-BD47-96A2A7B7747C}" type="datetimeFigureOut">
              <a:rPr lang="en-IN" smtClean="0"/>
              <a:t>16-10-2026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CCAA3C-E6F7-4AEE-9AA9-75A2F6EFB885}" type="slidenum">
              <a:rPr lang="en-IN" smtClean="0"/>
              <a:t>‹#›</a:t>
            </a:fld>
            <a:endParaRPr lang="en-IN"/>
          </a:p>
        </p:txBody>
      </p:sp>
    </p:spTree>
    <p:extLst>
      <p:ext uri="{BB962C8B-B14F-4D97-AF65-F5344CB8AC3E}">
        <p14:creationId xmlns:p14="http://schemas.microsoft.com/office/powerpoint/2010/main" val="2615253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429DF01-5614-4E4E-BD47-96A2A7B7747C}" type="datetimeFigureOut">
              <a:rPr lang="en-IN" smtClean="0"/>
              <a:t>16-10-2026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CCAA3C-E6F7-4AEE-9AA9-75A2F6EFB885}" type="slidenum">
              <a:rPr lang="en-IN" smtClean="0"/>
              <a:t>‹#›</a:t>
            </a:fld>
            <a:endParaRPr lang="en-IN"/>
          </a:p>
        </p:txBody>
      </p:sp>
    </p:spTree>
    <p:extLst>
      <p:ext uri="{BB962C8B-B14F-4D97-AF65-F5344CB8AC3E}">
        <p14:creationId xmlns:p14="http://schemas.microsoft.com/office/powerpoint/2010/main" val="1459480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429DF01-5614-4E4E-BD47-96A2A7B7747C}" type="datetimeFigureOut">
              <a:rPr lang="en-IN" smtClean="0"/>
              <a:t>16-10-2026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CCAA3C-E6F7-4AEE-9AA9-75A2F6EFB885}" type="slidenum">
              <a:rPr lang="en-IN" smtClean="0"/>
              <a:t>‹#›</a:t>
            </a:fld>
            <a:endParaRPr lang="en-IN"/>
          </a:p>
        </p:txBody>
      </p:sp>
    </p:spTree>
    <p:extLst>
      <p:ext uri="{BB962C8B-B14F-4D97-AF65-F5344CB8AC3E}">
        <p14:creationId xmlns:p14="http://schemas.microsoft.com/office/powerpoint/2010/main" val="3291512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429DF01-5614-4E4E-BD47-96A2A7B7747C}" type="datetimeFigureOut">
              <a:rPr lang="en-IN" smtClean="0"/>
              <a:t>16-10-2026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4CCAA3C-E6F7-4AEE-9AA9-75A2F6EFB885}" type="slidenum">
              <a:rPr lang="en-IN" smtClean="0"/>
              <a:t>‹#›</a:t>
            </a:fld>
            <a:endParaRPr lang="en-IN"/>
          </a:p>
        </p:txBody>
      </p:sp>
    </p:spTree>
    <p:extLst>
      <p:ext uri="{BB962C8B-B14F-4D97-AF65-F5344CB8AC3E}">
        <p14:creationId xmlns:p14="http://schemas.microsoft.com/office/powerpoint/2010/main" val="1689875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429DF01-5614-4E4E-BD47-96A2A7B7747C}" type="datetimeFigureOut">
              <a:rPr lang="en-IN" smtClean="0"/>
              <a:t>16-10-2026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4CCAA3C-E6F7-4AEE-9AA9-75A2F6EFB885}" type="slidenum">
              <a:rPr lang="en-IN" smtClean="0"/>
              <a:t>‹#›</a:t>
            </a:fld>
            <a:endParaRPr lang="en-IN"/>
          </a:p>
        </p:txBody>
      </p:sp>
    </p:spTree>
    <p:extLst>
      <p:ext uri="{BB962C8B-B14F-4D97-AF65-F5344CB8AC3E}">
        <p14:creationId xmlns:p14="http://schemas.microsoft.com/office/powerpoint/2010/main" val="2281606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29DF01-5614-4E4E-BD47-96A2A7B7747C}" type="datetimeFigureOut">
              <a:rPr lang="en-IN" smtClean="0"/>
              <a:t>16-10-2026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4CCAA3C-E6F7-4AEE-9AA9-75A2F6EFB885}" type="slidenum">
              <a:rPr lang="en-IN" smtClean="0"/>
              <a:t>‹#›</a:t>
            </a:fld>
            <a:endParaRPr lang="en-IN"/>
          </a:p>
        </p:txBody>
      </p:sp>
    </p:spTree>
    <p:extLst>
      <p:ext uri="{BB962C8B-B14F-4D97-AF65-F5344CB8AC3E}">
        <p14:creationId xmlns:p14="http://schemas.microsoft.com/office/powerpoint/2010/main" val="33315147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429DF01-5614-4E4E-BD47-96A2A7B7747C}" type="datetimeFigureOut">
              <a:rPr lang="en-IN" smtClean="0"/>
              <a:t>16-10-2026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CCAA3C-E6F7-4AEE-9AA9-75A2F6EFB885}" type="slidenum">
              <a:rPr lang="en-IN" smtClean="0"/>
              <a:t>‹#›</a:t>
            </a:fld>
            <a:endParaRPr lang="en-IN"/>
          </a:p>
        </p:txBody>
      </p:sp>
    </p:spTree>
    <p:extLst>
      <p:ext uri="{BB962C8B-B14F-4D97-AF65-F5344CB8AC3E}">
        <p14:creationId xmlns:p14="http://schemas.microsoft.com/office/powerpoint/2010/main" val="3639061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429DF01-5614-4E4E-BD47-96A2A7B7747C}" type="datetimeFigureOut">
              <a:rPr lang="en-IN" smtClean="0"/>
              <a:t>16-10-2026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CCAA3C-E6F7-4AEE-9AA9-75A2F6EFB885}" type="slidenum">
              <a:rPr lang="en-IN" smtClean="0"/>
              <a:t>‹#›</a:t>
            </a:fld>
            <a:endParaRPr lang="en-IN"/>
          </a:p>
        </p:txBody>
      </p:sp>
    </p:spTree>
    <p:extLst>
      <p:ext uri="{BB962C8B-B14F-4D97-AF65-F5344CB8AC3E}">
        <p14:creationId xmlns:p14="http://schemas.microsoft.com/office/powerpoint/2010/main" val="1784063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29DF01-5614-4E4E-BD47-96A2A7B7747C}" type="datetimeFigureOut">
              <a:rPr lang="en-IN" smtClean="0"/>
              <a:t>16-10-2026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CCAA3C-E6F7-4AEE-9AA9-75A2F6EFB885}" type="slidenum">
              <a:rPr lang="en-IN" smtClean="0"/>
              <a:t>‹#›</a:t>
            </a:fld>
            <a:endParaRPr lang="en-IN"/>
          </a:p>
        </p:txBody>
      </p:sp>
    </p:spTree>
    <p:extLst>
      <p:ext uri="{BB962C8B-B14F-4D97-AF65-F5344CB8AC3E}">
        <p14:creationId xmlns:p14="http://schemas.microsoft.com/office/powerpoint/2010/main" val="4034175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29DF01-5614-4E4E-BD47-96A2A7B7747C}" type="datetimeFigureOut">
              <a:rPr lang="en-IN" smtClean="0"/>
              <a:t>16-10-2026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CCAA3C-E6F7-4AEE-9AA9-75A2F6EFB885}" type="slidenum">
              <a:rPr lang="en-IN" smtClean="0"/>
              <a:t>‹#›</a:t>
            </a:fld>
            <a:endParaRPr lang="en-IN"/>
          </a:p>
        </p:txBody>
      </p:sp>
    </p:spTree>
    <p:extLst>
      <p:ext uri="{BB962C8B-B14F-4D97-AF65-F5344CB8AC3E}">
        <p14:creationId xmlns:p14="http://schemas.microsoft.com/office/powerpoint/2010/main" val="699452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431"/>
        <p:cNvGrpSpPr/>
        <p:nvPr/>
      </p:nvGrpSpPr>
      <p:grpSpPr>
        <a:xfrm>
          <a:off x="0" y="0"/>
          <a:ext cx="0" cy="0"/>
          <a:chOff x="0" y="0"/>
          <a:chExt cx="0" cy="0"/>
        </a:xfrm>
      </p:grpSpPr>
      <p:sp>
        <p:nvSpPr>
          <p:cNvPr id="432" name="Google Shape;432;p2"/>
          <p:cNvSpPr txBox="1">
            <a:spLocks noGrp="1"/>
          </p:cNvSpPr>
          <p:nvPr>
            <p:ph type="ctrTitle"/>
          </p:nvPr>
        </p:nvSpPr>
        <p:spPr>
          <a:xfrm>
            <a:off x="685800" y="2130425"/>
            <a:ext cx="7772400" cy="14700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33" name="Google Shape;433;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rtl="0">
              <a:spcBef>
                <a:spcPts val="640"/>
              </a:spcBef>
              <a:spcAft>
                <a:spcPts val="0"/>
              </a:spcAft>
              <a:buClr>
                <a:srgbClr val="888888"/>
              </a:buClr>
              <a:buSzPts val="3200"/>
              <a:buNone/>
              <a:defRPr>
                <a:solidFill>
                  <a:srgbClr val="888888"/>
                </a:solidFill>
              </a:defRPr>
            </a:lvl1pPr>
            <a:lvl2pPr lvl="1" algn="ctr" rtl="0">
              <a:spcBef>
                <a:spcPts val="560"/>
              </a:spcBef>
              <a:spcAft>
                <a:spcPts val="0"/>
              </a:spcAft>
              <a:buClr>
                <a:srgbClr val="888888"/>
              </a:buClr>
              <a:buSzPts val="2800"/>
              <a:buNone/>
              <a:defRPr>
                <a:solidFill>
                  <a:srgbClr val="888888"/>
                </a:solidFill>
              </a:defRPr>
            </a:lvl2pPr>
            <a:lvl3pPr lvl="2" algn="ctr" rtl="0">
              <a:spcBef>
                <a:spcPts val="480"/>
              </a:spcBef>
              <a:spcAft>
                <a:spcPts val="0"/>
              </a:spcAft>
              <a:buClr>
                <a:srgbClr val="888888"/>
              </a:buClr>
              <a:buSzPts val="2400"/>
              <a:buNone/>
              <a:defRPr>
                <a:solidFill>
                  <a:srgbClr val="888888"/>
                </a:solidFill>
              </a:defRPr>
            </a:lvl3pPr>
            <a:lvl4pPr lvl="3" algn="ctr" rtl="0">
              <a:spcBef>
                <a:spcPts val="400"/>
              </a:spcBef>
              <a:spcAft>
                <a:spcPts val="0"/>
              </a:spcAft>
              <a:buClr>
                <a:srgbClr val="888888"/>
              </a:buClr>
              <a:buSzPts val="2000"/>
              <a:buNone/>
              <a:defRPr>
                <a:solidFill>
                  <a:srgbClr val="888888"/>
                </a:solidFill>
              </a:defRPr>
            </a:lvl4pPr>
            <a:lvl5pPr lvl="4" algn="ctr" rtl="0">
              <a:spcBef>
                <a:spcPts val="400"/>
              </a:spcBef>
              <a:spcAft>
                <a:spcPts val="0"/>
              </a:spcAft>
              <a:buClr>
                <a:srgbClr val="888888"/>
              </a:buClr>
              <a:buSzPts val="20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434" name="Google Shape;434;p2"/>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35" name="Google Shape;435;p2"/>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36" name="Google Shape;436;p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1766675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437"/>
        <p:cNvGrpSpPr/>
        <p:nvPr/>
      </p:nvGrpSpPr>
      <p:grpSpPr>
        <a:xfrm>
          <a:off x="0" y="0"/>
          <a:ext cx="0" cy="0"/>
          <a:chOff x="0" y="0"/>
          <a:chExt cx="0" cy="0"/>
        </a:xfrm>
      </p:grpSpPr>
      <p:sp>
        <p:nvSpPr>
          <p:cNvPr id="438" name="Google Shape;438;p3"/>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lvl1pPr lvl="0" algn="ctr" rtl="0">
              <a:spcBef>
                <a:spcPts val="0"/>
              </a:spcBef>
              <a:spcAft>
                <a:spcPts val="0"/>
              </a:spcAft>
              <a:buClr>
                <a:srgbClr val="002060"/>
              </a:buClr>
              <a:buSzPts val="4400"/>
              <a:buFont typeface="Arial"/>
              <a:buNone/>
              <a:defRPr>
                <a:solidFill>
                  <a:srgbClr val="002060"/>
                </a:solidFill>
                <a:latin typeface="Times New Roman"/>
                <a:ea typeface="Times New Roman"/>
                <a:cs typeface="Times New Roman"/>
                <a:sym typeface="Times New Roma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39" name="Google Shape;439;p3"/>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440" name="Google Shape;440;p3"/>
          <p:cNvSpPr txBox="1">
            <a:spLocks noGrp="1"/>
          </p:cNvSpPr>
          <p:nvPr>
            <p:ph type="dt" idx="10"/>
          </p:nvPr>
        </p:nvSpPr>
        <p:spPr>
          <a:xfrm>
            <a:off x="457200" y="6356350"/>
            <a:ext cx="21336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1" name="Google Shape;441;p3"/>
          <p:cNvSpPr txBox="1">
            <a:spLocks noGrp="1"/>
          </p:cNvSpPr>
          <p:nvPr>
            <p:ph type="ftr" idx="11"/>
          </p:nvPr>
        </p:nvSpPr>
        <p:spPr>
          <a:xfrm>
            <a:off x="3124200" y="6356350"/>
            <a:ext cx="28956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2" name="Google Shape;442;p3"/>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lvl1pPr marL="0" lvl="0" indent="0" algn="ctr" rtl="0">
              <a:spcBef>
                <a:spcPts val="0"/>
              </a:spcBef>
              <a:buNone/>
              <a:defRPr sz="1200" b="0" i="0" u="none" strike="noStrike" cap="none">
                <a:solidFill>
                  <a:srgbClr val="888888"/>
                </a:solidFill>
                <a:latin typeface="Times New Roman"/>
                <a:ea typeface="Times New Roman"/>
                <a:cs typeface="Times New Roman"/>
                <a:sym typeface="Times New Roman"/>
              </a:defRPr>
            </a:lvl1pPr>
            <a:lvl2pPr marL="0" lvl="1" indent="0" algn="ctr" rtl="0">
              <a:spcBef>
                <a:spcPts val="0"/>
              </a:spcBef>
              <a:buNone/>
              <a:defRPr sz="1200" b="0" i="0" u="none" strike="noStrike" cap="none">
                <a:solidFill>
                  <a:srgbClr val="888888"/>
                </a:solidFill>
                <a:latin typeface="Times New Roman"/>
                <a:ea typeface="Times New Roman"/>
                <a:cs typeface="Times New Roman"/>
                <a:sym typeface="Times New Roman"/>
              </a:defRPr>
            </a:lvl2pPr>
            <a:lvl3pPr marL="0" lvl="2" indent="0" algn="ctr" rtl="0">
              <a:spcBef>
                <a:spcPts val="0"/>
              </a:spcBef>
              <a:buNone/>
              <a:defRPr sz="1200" b="0" i="0" u="none" strike="noStrike" cap="none">
                <a:solidFill>
                  <a:srgbClr val="888888"/>
                </a:solidFill>
                <a:latin typeface="Times New Roman"/>
                <a:ea typeface="Times New Roman"/>
                <a:cs typeface="Times New Roman"/>
                <a:sym typeface="Times New Roman"/>
              </a:defRPr>
            </a:lvl3pPr>
            <a:lvl4pPr marL="0" lvl="3" indent="0" algn="ctr" rtl="0">
              <a:spcBef>
                <a:spcPts val="0"/>
              </a:spcBef>
              <a:buNone/>
              <a:defRPr sz="1200" b="0" i="0" u="none" strike="noStrike" cap="none">
                <a:solidFill>
                  <a:srgbClr val="888888"/>
                </a:solidFill>
                <a:latin typeface="Times New Roman"/>
                <a:ea typeface="Times New Roman"/>
                <a:cs typeface="Times New Roman"/>
                <a:sym typeface="Times New Roman"/>
              </a:defRPr>
            </a:lvl4pPr>
            <a:lvl5pPr marL="0" lvl="4" indent="0" algn="ctr" rtl="0">
              <a:spcBef>
                <a:spcPts val="0"/>
              </a:spcBef>
              <a:buNone/>
              <a:defRPr sz="1200" b="0" i="0" u="none" strike="noStrike" cap="none">
                <a:solidFill>
                  <a:srgbClr val="888888"/>
                </a:solidFill>
                <a:latin typeface="Times New Roman"/>
                <a:ea typeface="Times New Roman"/>
                <a:cs typeface="Times New Roman"/>
                <a:sym typeface="Times New Roman"/>
              </a:defRPr>
            </a:lvl5pPr>
            <a:lvl6pPr marL="0" lvl="5" indent="0" algn="ctr" rtl="0">
              <a:spcBef>
                <a:spcPts val="0"/>
              </a:spcBef>
              <a:buNone/>
              <a:defRPr sz="1200" b="0" i="0" u="none" strike="noStrike" cap="none">
                <a:solidFill>
                  <a:srgbClr val="888888"/>
                </a:solidFill>
                <a:latin typeface="Times New Roman"/>
                <a:ea typeface="Times New Roman"/>
                <a:cs typeface="Times New Roman"/>
                <a:sym typeface="Times New Roman"/>
              </a:defRPr>
            </a:lvl6pPr>
            <a:lvl7pPr marL="0" lvl="6" indent="0" algn="ctr" rtl="0">
              <a:spcBef>
                <a:spcPts val="0"/>
              </a:spcBef>
              <a:buNone/>
              <a:defRPr sz="1200" b="0" i="0" u="none" strike="noStrike" cap="none">
                <a:solidFill>
                  <a:srgbClr val="888888"/>
                </a:solidFill>
                <a:latin typeface="Times New Roman"/>
                <a:ea typeface="Times New Roman"/>
                <a:cs typeface="Times New Roman"/>
                <a:sym typeface="Times New Roman"/>
              </a:defRPr>
            </a:lvl7pPr>
            <a:lvl8pPr marL="0" lvl="7" indent="0" algn="ctr" rtl="0">
              <a:spcBef>
                <a:spcPts val="0"/>
              </a:spcBef>
              <a:buNone/>
              <a:defRPr sz="1200" b="0" i="0" u="none" strike="noStrike" cap="none">
                <a:solidFill>
                  <a:srgbClr val="888888"/>
                </a:solidFill>
                <a:latin typeface="Times New Roman"/>
                <a:ea typeface="Times New Roman"/>
                <a:cs typeface="Times New Roman"/>
                <a:sym typeface="Times New Roman"/>
              </a:defRPr>
            </a:lvl8pPr>
            <a:lvl9pPr marL="0" lvl="8" indent="0" algn="ctr" rtl="0">
              <a:spcBef>
                <a:spcPts val="0"/>
              </a:spcBef>
              <a:buNone/>
              <a:defRPr sz="1200" b="0" i="0" u="none" strike="noStrike" cap="none">
                <a:solidFill>
                  <a:srgbClr val="888888"/>
                </a:solidFill>
                <a:latin typeface="Times New Roman"/>
                <a:ea typeface="Times New Roman"/>
                <a:cs typeface="Times New Roman"/>
                <a:sym typeface="Times New Roman"/>
              </a:defRPr>
            </a:lvl9pPr>
          </a:lstStyle>
          <a:p>
            <a:pPr marL="0" lvl="0" indent="0" algn="ct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2878859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3"/>
        <p:cNvGrpSpPr/>
        <p:nvPr/>
      </p:nvGrpSpPr>
      <p:grpSpPr>
        <a:xfrm>
          <a:off x="0" y="0"/>
          <a:ext cx="0" cy="0"/>
          <a:chOff x="0" y="0"/>
          <a:chExt cx="0" cy="0"/>
        </a:xfrm>
      </p:grpSpPr>
      <p:sp>
        <p:nvSpPr>
          <p:cNvPr id="444" name="Google Shape;444;p4"/>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5" name="Google Shape;445;p4"/>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6" name="Google Shape;446;p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2043296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447"/>
        <p:cNvGrpSpPr/>
        <p:nvPr/>
      </p:nvGrpSpPr>
      <p:grpSpPr>
        <a:xfrm>
          <a:off x="0" y="0"/>
          <a:ext cx="0" cy="0"/>
          <a:chOff x="0" y="0"/>
          <a:chExt cx="0" cy="0"/>
        </a:xfrm>
      </p:grpSpPr>
      <p:sp>
        <p:nvSpPr>
          <p:cNvPr id="448" name="Google Shape;448;p5"/>
          <p:cNvSpPr txBox="1">
            <a:spLocks noGrp="1"/>
          </p:cNvSpPr>
          <p:nvPr>
            <p:ph type="title"/>
          </p:nvPr>
        </p:nvSpPr>
        <p:spPr>
          <a:xfrm>
            <a:off x="722313" y="4406900"/>
            <a:ext cx="7772400" cy="13620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dk1"/>
              </a:buClr>
              <a:buSzPts val="4000"/>
              <a:buFont typeface="Arial"/>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9" name="Google Shape;449;p5"/>
          <p:cNvSpPr txBox="1">
            <a:spLocks noGrp="1"/>
          </p:cNvSpPr>
          <p:nvPr>
            <p:ph type="body" idx="1"/>
          </p:nvPr>
        </p:nvSpPr>
        <p:spPr>
          <a:xfrm>
            <a:off x="722313" y="2906713"/>
            <a:ext cx="77724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450" name="Google Shape;450;p5"/>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1" name="Google Shape;451;p5"/>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2" name="Google Shape;452;p5"/>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2137317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453"/>
        <p:cNvGrpSpPr/>
        <p:nvPr/>
      </p:nvGrpSpPr>
      <p:grpSpPr>
        <a:xfrm>
          <a:off x="0" y="0"/>
          <a:ext cx="0" cy="0"/>
          <a:chOff x="0" y="0"/>
          <a:chExt cx="0" cy="0"/>
        </a:xfrm>
      </p:grpSpPr>
      <p:sp>
        <p:nvSpPr>
          <p:cNvPr id="454" name="Google Shape;454;p6"/>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55" name="Google Shape;455;p6"/>
          <p:cNvSpPr txBox="1">
            <a:spLocks noGrp="1"/>
          </p:cNvSpPr>
          <p:nvPr>
            <p:ph type="body" idx="1"/>
          </p:nvPr>
        </p:nvSpPr>
        <p:spPr>
          <a:xfrm>
            <a:off x="457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456" name="Google Shape;456;p6"/>
          <p:cNvSpPr txBox="1">
            <a:spLocks noGrp="1"/>
          </p:cNvSpPr>
          <p:nvPr>
            <p:ph type="body" idx="2"/>
          </p:nvPr>
        </p:nvSpPr>
        <p:spPr>
          <a:xfrm>
            <a:off x="4648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457" name="Google Shape;457;p6"/>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8" name="Google Shape;458;p6"/>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9" name="Google Shape;459;p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8837333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60"/>
        <p:cNvGrpSpPr/>
        <p:nvPr/>
      </p:nvGrpSpPr>
      <p:grpSpPr>
        <a:xfrm>
          <a:off x="0" y="0"/>
          <a:ext cx="0" cy="0"/>
          <a:chOff x="0" y="0"/>
          <a:chExt cx="0" cy="0"/>
        </a:xfrm>
      </p:grpSpPr>
      <p:sp>
        <p:nvSpPr>
          <p:cNvPr id="461" name="Google Shape;461;p7"/>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4400"/>
              <a:buFont typeface="Arial"/>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62" name="Google Shape;462;p7"/>
          <p:cNvSpPr txBox="1">
            <a:spLocks noGrp="1"/>
          </p:cNvSpPr>
          <p:nvPr>
            <p:ph type="body" idx="1"/>
          </p:nvPr>
        </p:nvSpPr>
        <p:spPr>
          <a:xfrm>
            <a:off x="457200" y="1535113"/>
            <a:ext cx="40401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63" name="Google Shape;463;p7"/>
          <p:cNvSpPr txBox="1">
            <a:spLocks noGrp="1"/>
          </p:cNvSpPr>
          <p:nvPr>
            <p:ph type="body" idx="2"/>
          </p:nvPr>
        </p:nvSpPr>
        <p:spPr>
          <a:xfrm>
            <a:off x="457200" y="2174875"/>
            <a:ext cx="40401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64" name="Google Shape;464;p7"/>
          <p:cNvSpPr txBox="1">
            <a:spLocks noGrp="1"/>
          </p:cNvSpPr>
          <p:nvPr>
            <p:ph type="body" idx="3"/>
          </p:nvPr>
        </p:nvSpPr>
        <p:spPr>
          <a:xfrm>
            <a:off x="4645025" y="1535113"/>
            <a:ext cx="4041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65" name="Google Shape;465;p7"/>
          <p:cNvSpPr txBox="1">
            <a:spLocks noGrp="1"/>
          </p:cNvSpPr>
          <p:nvPr>
            <p:ph type="body" idx="4"/>
          </p:nvPr>
        </p:nvSpPr>
        <p:spPr>
          <a:xfrm>
            <a:off x="4645025" y="2174875"/>
            <a:ext cx="4041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66" name="Google Shape;466;p7"/>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7" name="Google Shape;467;p7"/>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8" name="Google Shape;468;p7"/>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5769614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69"/>
        <p:cNvGrpSpPr/>
        <p:nvPr/>
      </p:nvGrpSpPr>
      <p:grpSpPr>
        <a:xfrm>
          <a:off x="0" y="0"/>
          <a:ext cx="0" cy="0"/>
          <a:chOff x="0" y="0"/>
          <a:chExt cx="0" cy="0"/>
        </a:xfrm>
      </p:grpSpPr>
      <p:sp>
        <p:nvSpPr>
          <p:cNvPr id="470" name="Google Shape;470;p8"/>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71" name="Google Shape;471;p8"/>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72" name="Google Shape;472;p8"/>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73" name="Google Shape;473;p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8292019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474"/>
        <p:cNvGrpSpPr/>
        <p:nvPr/>
      </p:nvGrpSpPr>
      <p:grpSpPr>
        <a:xfrm>
          <a:off x="0" y="0"/>
          <a:ext cx="0" cy="0"/>
          <a:chOff x="0" y="0"/>
          <a:chExt cx="0" cy="0"/>
        </a:xfrm>
      </p:grpSpPr>
      <p:sp>
        <p:nvSpPr>
          <p:cNvPr id="475" name="Google Shape;475;p9"/>
          <p:cNvSpPr txBox="1">
            <a:spLocks noGrp="1"/>
          </p:cNvSpPr>
          <p:nvPr>
            <p:ph type="title"/>
          </p:nvPr>
        </p:nvSpPr>
        <p:spPr>
          <a:xfrm>
            <a:off x="457200" y="273050"/>
            <a:ext cx="3008400" cy="11622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dk1"/>
              </a:buClr>
              <a:buSzPts val="2000"/>
              <a:buFont typeface="Arial"/>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76" name="Google Shape;476;p9"/>
          <p:cNvSpPr txBox="1">
            <a:spLocks noGrp="1"/>
          </p:cNvSpPr>
          <p:nvPr>
            <p:ph type="body" idx="1"/>
          </p:nvPr>
        </p:nvSpPr>
        <p:spPr>
          <a:xfrm>
            <a:off x="3575050" y="273050"/>
            <a:ext cx="5111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477" name="Google Shape;477;p9"/>
          <p:cNvSpPr txBox="1">
            <a:spLocks noGrp="1"/>
          </p:cNvSpPr>
          <p:nvPr>
            <p:ph type="body" idx="2"/>
          </p:nvPr>
        </p:nvSpPr>
        <p:spPr>
          <a:xfrm>
            <a:off x="457200" y="1435100"/>
            <a:ext cx="30084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478" name="Google Shape;478;p9"/>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79" name="Google Shape;479;p9"/>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80" name="Google Shape;480;p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6002068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481"/>
        <p:cNvGrpSpPr/>
        <p:nvPr/>
      </p:nvGrpSpPr>
      <p:grpSpPr>
        <a:xfrm>
          <a:off x="0" y="0"/>
          <a:ext cx="0" cy="0"/>
          <a:chOff x="0" y="0"/>
          <a:chExt cx="0" cy="0"/>
        </a:xfrm>
      </p:grpSpPr>
      <p:sp>
        <p:nvSpPr>
          <p:cNvPr id="482" name="Google Shape;482;p10"/>
          <p:cNvSpPr txBox="1">
            <a:spLocks noGrp="1"/>
          </p:cNvSpPr>
          <p:nvPr>
            <p:ph type="title"/>
          </p:nvPr>
        </p:nvSpPr>
        <p:spPr>
          <a:xfrm>
            <a:off x="1792288" y="4800600"/>
            <a:ext cx="5486400" cy="5667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dk1"/>
              </a:buClr>
              <a:buSzPts val="2000"/>
              <a:buFont typeface="Arial"/>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83" name="Google Shape;483;p10"/>
          <p:cNvSpPr>
            <a:spLocks noGrp="1"/>
          </p:cNvSpPr>
          <p:nvPr>
            <p:ph type="pic" idx="2"/>
          </p:nvPr>
        </p:nvSpPr>
        <p:spPr>
          <a:xfrm>
            <a:off x="1792288" y="612775"/>
            <a:ext cx="5486400" cy="4114800"/>
          </a:xfrm>
          <a:prstGeom prst="rect">
            <a:avLst/>
          </a:prstGeom>
          <a:noFill/>
          <a:ln>
            <a:noFill/>
          </a:ln>
        </p:spPr>
      </p:sp>
      <p:sp>
        <p:nvSpPr>
          <p:cNvPr id="484" name="Google Shape;484;p10"/>
          <p:cNvSpPr txBox="1">
            <a:spLocks noGrp="1"/>
          </p:cNvSpPr>
          <p:nvPr>
            <p:ph type="body" idx="1"/>
          </p:nvPr>
        </p:nvSpPr>
        <p:spPr>
          <a:xfrm>
            <a:off x="1792288" y="5367338"/>
            <a:ext cx="54864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485" name="Google Shape;485;p10"/>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86" name="Google Shape;486;p10"/>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87" name="Google Shape;487;p1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8106921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488"/>
        <p:cNvGrpSpPr/>
        <p:nvPr/>
      </p:nvGrpSpPr>
      <p:grpSpPr>
        <a:xfrm>
          <a:off x="0" y="0"/>
          <a:ext cx="0" cy="0"/>
          <a:chOff x="0" y="0"/>
          <a:chExt cx="0" cy="0"/>
        </a:xfrm>
      </p:grpSpPr>
      <p:sp>
        <p:nvSpPr>
          <p:cNvPr id="489" name="Google Shape;489;p11"/>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0" name="Google Shape;490;p11"/>
          <p:cNvSpPr txBox="1">
            <a:spLocks noGrp="1"/>
          </p:cNvSpPr>
          <p:nvPr>
            <p:ph type="body" idx="1"/>
          </p:nvPr>
        </p:nvSpPr>
        <p:spPr>
          <a:xfrm rot="5400000">
            <a:off x="1981200" y="-457200"/>
            <a:ext cx="5181600" cy="82296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491" name="Google Shape;491;p1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2" name="Google Shape;492;p11"/>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3" name="Google Shape;493;p1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187006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494"/>
        <p:cNvGrpSpPr/>
        <p:nvPr/>
      </p:nvGrpSpPr>
      <p:grpSpPr>
        <a:xfrm>
          <a:off x="0" y="0"/>
          <a:ext cx="0" cy="0"/>
          <a:chOff x="0" y="0"/>
          <a:chExt cx="0" cy="0"/>
        </a:xfrm>
      </p:grpSpPr>
      <p:sp>
        <p:nvSpPr>
          <p:cNvPr id="495" name="Google Shape;495;p12"/>
          <p:cNvSpPr txBox="1">
            <a:spLocks noGrp="1"/>
          </p:cNvSpPr>
          <p:nvPr>
            <p:ph type="title"/>
          </p:nvPr>
        </p:nvSpPr>
        <p:spPr>
          <a:xfrm rot="5400000">
            <a:off x="4732350" y="2171688"/>
            <a:ext cx="5851500" cy="20574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6" name="Google Shape;496;p12"/>
          <p:cNvSpPr txBox="1">
            <a:spLocks noGrp="1"/>
          </p:cNvSpPr>
          <p:nvPr>
            <p:ph type="body" idx="1"/>
          </p:nvPr>
        </p:nvSpPr>
        <p:spPr>
          <a:xfrm rot="5400000">
            <a:off x="541350" y="190488"/>
            <a:ext cx="5851500" cy="60198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497" name="Google Shape;497;p12"/>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8" name="Google Shape;498;p12"/>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9" name="Google Shape;499;p1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8633001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29DF01-5614-4E4E-BD47-96A2A7B7747C}" type="datetimeFigureOut">
              <a:rPr lang="en-IN" smtClean="0"/>
              <a:t>16-10-2026</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CCAA3C-E6F7-4AEE-9AA9-75A2F6EFB885}" type="slidenum">
              <a:rPr lang="en-IN" smtClean="0"/>
              <a:t>‹#›</a:t>
            </a:fld>
            <a:endParaRPr lang="en-IN"/>
          </a:p>
        </p:txBody>
      </p:sp>
    </p:spTree>
    <p:extLst>
      <p:ext uri="{BB962C8B-B14F-4D97-AF65-F5344CB8AC3E}">
        <p14:creationId xmlns:p14="http://schemas.microsoft.com/office/powerpoint/2010/main" val="38910490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25"/>
        <p:cNvGrpSpPr/>
        <p:nvPr/>
      </p:nvGrpSpPr>
      <p:grpSpPr>
        <a:xfrm>
          <a:off x="0" y="0"/>
          <a:ext cx="0" cy="0"/>
          <a:chOff x="0" y="0"/>
          <a:chExt cx="0" cy="0"/>
        </a:xfrm>
      </p:grpSpPr>
      <p:sp>
        <p:nvSpPr>
          <p:cNvPr id="426" name="Google Shape;426;p1"/>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27" name="Google Shape;427;p1"/>
          <p:cNvSpPr txBox="1">
            <a:spLocks noGrp="1"/>
          </p:cNvSpPr>
          <p:nvPr>
            <p:ph type="body" idx="1"/>
          </p:nvPr>
        </p:nvSpPr>
        <p:spPr>
          <a:xfrm>
            <a:off x="457200" y="1066800"/>
            <a:ext cx="8229600" cy="5181600"/>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428" name="Google Shape;428;p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429" name="Google Shape;429;p1"/>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430" name="Google Shape;430;p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Times New Roman"/>
                <a:ea typeface="Times New Roman"/>
                <a:cs typeface="Times New Roman"/>
                <a:sym typeface="Times New Roman"/>
              </a:defRPr>
            </a:lvl1pPr>
            <a:lvl2pPr marL="0" marR="0" lvl="1" indent="0" algn="r" rtl="0">
              <a:spcBef>
                <a:spcPts val="0"/>
              </a:spcBef>
              <a:buNone/>
              <a:defRPr sz="1200" b="0" i="0" u="none" strike="noStrike" cap="none">
                <a:solidFill>
                  <a:srgbClr val="888888"/>
                </a:solidFill>
                <a:latin typeface="Times New Roman"/>
                <a:ea typeface="Times New Roman"/>
                <a:cs typeface="Times New Roman"/>
                <a:sym typeface="Times New Roman"/>
              </a:defRPr>
            </a:lvl2pPr>
            <a:lvl3pPr marL="0" marR="0" lvl="2" indent="0" algn="r" rtl="0">
              <a:spcBef>
                <a:spcPts val="0"/>
              </a:spcBef>
              <a:buNone/>
              <a:defRPr sz="1200" b="0" i="0" u="none" strike="noStrike" cap="none">
                <a:solidFill>
                  <a:srgbClr val="888888"/>
                </a:solidFill>
                <a:latin typeface="Times New Roman"/>
                <a:ea typeface="Times New Roman"/>
                <a:cs typeface="Times New Roman"/>
                <a:sym typeface="Times New Roman"/>
              </a:defRPr>
            </a:lvl3pPr>
            <a:lvl4pPr marL="0" marR="0" lvl="3" indent="0" algn="r" rtl="0">
              <a:spcBef>
                <a:spcPts val="0"/>
              </a:spcBef>
              <a:buNone/>
              <a:defRPr sz="1200" b="0" i="0" u="none" strike="noStrike" cap="none">
                <a:solidFill>
                  <a:srgbClr val="888888"/>
                </a:solidFill>
                <a:latin typeface="Times New Roman"/>
                <a:ea typeface="Times New Roman"/>
                <a:cs typeface="Times New Roman"/>
                <a:sym typeface="Times New Roman"/>
              </a:defRPr>
            </a:lvl4pPr>
            <a:lvl5pPr marL="0" marR="0" lvl="4" indent="0" algn="r" rtl="0">
              <a:spcBef>
                <a:spcPts val="0"/>
              </a:spcBef>
              <a:buNone/>
              <a:defRPr sz="1200" b="0" i="0" u="none" strike="noStrike" cap="none">
                <a:solidFill>
                  <a:srgbClr val="888888"/>
                </a:solidFill>
                <a:latin typeface="Times New Roman"/>
                <a:ea typeface="Times New Roman"/>
                <a:cs typeface="Times New Roman"/>
                <a:sym typeface="Times New Roman"/>
              </a:defRPr>
            </a:lvl5pPr>
            <a:lvl6pPr marL="0" marR="0" lvl="5" indent="0" algn="r" rtl="0">
              <a:spcBef>
                <a:spcPts val="0"/>
              </a:spcBef>
              <a:buNone/>
              <a:defRPr sz="1200" b="0" i="0" u="none" strike="noStrike" cap="none">
                <a:solidFill>
                  <a:srgbClr val="888888"/>
                </a:solidFill>
                <a:latin typeface="Times New Roman"/>
                <a:ea typeface="Times New Roman"/>
                <a:cs typeface="Times New Roman"/>
                <a:sym typeface="Times New Roman"/>
              </a:defRPr>
            </a:lvl6pPr>
            <a:lvl7pPr marL="0" marR="0" lvl="6" indent="0" algn="r" rtl="0">
              <a:spcBef>
                <a:spcPts val="0"/>
              </a:spcBef>
              <a:buNone/>
              <a:defRPr sz="1200" b="0" i="0" u="none" strike="noStrike" cap="none">
                <a:solidFill>
                  <a:srgbClr val="888888"/>
                </a:solidFill>
                <a:latin typeface="Times New Roman"/>
                <a:ea typeface="Times New Roman"/>
                <a:cs typeface="Times New Roman"/>
                <a:sym typeface="Times New Roman"/>
              </a:defRPr>
            </a:lvl7pPr>
            <a:lvl8pPr marL="0" marR="0" lvl="7" indent="0" algn="r" rtl="0">
              <a:spcBef>
                <a:spcPts val="0"/>
              </a:spcBef>
              <a:buNone/>
              <a:defRPr sz="1200" b="0" i="0" u="none" strike="noStrike" cap="none">
                <a:solidFill>
                  <a:srgbClr val="888888"/>
                </a:solidFill>
                <a:latin typeface="Times New Roman"/>
                <a:ea typeface="Times New Roman"/>
                <a:cs typeface="Times New Roman"/>
                <a:sym typeface="Times New Roman"/>
              </a:defRPr>
            </a:lvl8pPr>
            <a:lvl9pPr marL="0" marR="0" lvl="8" indent="0" algn="r" rtl="0">
              <a:spcBef>
                <a:spcPts val="0"/>
              </a:spcBef>
              <a:buNone/>
              <a:defRPr sz="1200" b="0" i="0" u="none" strike="noStrike" cap="none">
                <a:solidFill>
                  <a:srgbClr val="888888"/>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694423419"/>
      </p:ext>
    </p:extLst>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arduino.cc/"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hyperlink" Target="https://www.energy.gov/" TargetMode="External"/><Relationship Id="rId5" Type="http://schemas.openxmlformats.org/officeDocument/2006/relationships/hyperlink" Target="http://www.mdpi.com/" TargetMode="External"/><Relationship Id="rId4" Type="http://schemas.openxmlformats.org/officeDocument/2006/relationships/hyperlink" Target="https://docs.espressif.com/projects/arduino-esp32/en/latest/"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graphicFrame>
        <p:nvGraphicFramePr>
          <p:cNvPr id="504" name="Google Shape;504;p13"/>
          <p:cNvGraphicFramePr/>
          <p:nvPr>
            <p:extLst>
              <p:ext uri="{D42A27DB-BD31-4B8C-83A1-F6EECF244321}">
                <p14:modId xmlns:p14="http://schemas.microsoft.com/office/powerpoint/2010/main" val="3974907759"/>
              </p:ext>
            </p:extLst>
          </p:nvPr>
        </p:nvGraphicFramePr>
        <p:xfrm>
          <a:off x="228600" y="304800"/>
          <a:ext cx="8639525" cy="5765675"/>
        </p:xfrm>
        <a:graphic>
          <a:graphicData uri="http://schemas.openxmlformats.org/drawingml/2006/table">
            <a:tbl>
              <a:tblPr firstRow="1" bandRow="1">
                <a:noFill/>
              </a:tblPr>
              <a:tblGrid>
                <a:gridCol w="1476725">
                  <a:extLst>
                    <a:ext uri="{9D8B030D-6E8A-4147-A177-3AD203B41FA5}">
                      <a16:colId xmlns:a16="http://schemas.microsoft.com/office/drawing/2014/main" val="20000"/>
                    </a:ext>
                  </a:extLst>
                </a:gridCol>
                <a:gridCol w="352075">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gridCol w="2619725">
                  <a:extLst>
                    <a:ext uri="{9D8B030D-6E8A-4147-A177-3AD203B41FA5}">
                      <a16:colId xmlns:a16="http://schemas.microsoft.com/office/drawing/2014/main" val="20003"/>
                    </a:ext>
                  </a:extLst>
                </a:gridCol>
              </a:tblGrid>
              <a:tr h="1752600">
                <a:tc>
                  <a:txBody>
                    <a:bodyPr/>
                    <a:lstStyle/>
                    <a:p>
                      <a:pPr marL="0" marR="0" lvl="0" indent="0" algn="ctr" rtl="0">
                        <a:spcBef>
                          <a:spcPts val="0"/>
                        </a:spcBef>
                        <a:spcAft>
                          <a:spcPts val="0"/>
                        </a:spcAft>
                        <a:buNone/>
                      </a:pPr>
                      <a:endParaRPr sz="2200" u="none" strike="noStrike" cap="none">
                        <a:solidFill>
                          <a:schemeClr val="lt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gridSpan="3">
                  <a:txBody>
                    <a:bodyPr/>
                    <a:lstStyle/>
                    <a:p>
                      <a:pPr marL="0" marR="0" lvl="0" indent="0" algn="ctr" rtl="0">
                        <a:spcBef>
                          <a:spcPts val="0"/>
                        </a:spcBef>
                        <a:spcAft>
                          <a:spcPts val="0"/>
                        </a:spcAft>
                        <a:buNone/>
                      </a:pPr>
                      <a:r>
                        <a:rPr lang="en-US" sz="2800" u="none" strike="noStrike" cap="none" dirty="0">
                          <a:solidFill>
                            <a:schemeClr val="lt1"/>
                          </a:solidFill>
                          <a:latin typeface="Times New Roman" panose="02020603050405020304" pitchFamily="18" charset="0"/>
                          <a:cs typeface="Times New Roman" panose="02020603050405020304" pitchFamily="18" charset="0"/>
                        </a:rPr>
                        <a:t>S.S.V.P.S’s B. S. Deore Polytechnic, Dhule</a:t>
                      </a:r>
                      <a:endParaRPr sz="2800" u="none" strike="noStrike" cap="none" dirty="0">
                        <a:solidFill>
                          <a:schemeClr val="lt1"/>
                        </a:solidFill>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chemeClr val="lt1"/>
                        </a:buClr>
                        <a:buSzPts val="3200"/>
                        <a:buFont typeface="Times New Roman"/>
                        <a:buNone/>
                      </a:pPr>
                      <a:r>
                        <a:rPr lang="en-US" sz="3200" u="none" strike="noStrike" cap="none" dirty="0">
                          <a:solidFill>
                            <a:schemeClr val="lt1"/>
                          </a:solidFill>
                          <a:latin typeface="Times New Roman" panose="02020603050405020304" pitchFamily="18" charset="0"/>
                          <a:cs typeface="Times New Roman" panose="02020603050405020304" pitchFamily="18" charset="0"/>
                        </a:rPr>
                        <a:t>Department of Computer Engineering</a:t>
                      </a:r>
                      <a:endParaRPr dirty="0">
                        <a:latin typeface="Times New Roman" panose="02020603050405020304" pitchFamily="18" charset="0"/>
                        <a:cs typeface="Times New Roman" panose="02020603050405020304" pitchFamily="18" charset="0"/>
                      </a:endParaRPr>
                    </a:p>
                    <a:p>
                      <a:pPr marL="0" marR="0" lvl="0" indent="0" algn="ctr" rtl="0">
                        <a:spcBef>
                          <a:spcPts val="0"/>
                        </a:spcBef>
                        <a:spcAft>
                          <a:spcPts val="0"/>
                        </a:spcAft>
                        <a:buNone/>
                      </a:pPr>
                      <a:r>
                        <a:rPr lang="en-US" sz="2800" b="0" i="1" u="none" strike="noStrike" cap="none" dirty="0">
                          <a:solidFill>
                            <a:schemeClr val="lt1"/>
                          </a:solidFill>
                          <a:latin typeface="Times New Roman" panose="02020603050405020304" pitchFamily="18" charset="0"/>
                          <a:cs typeface="Times New Roman" panose="02020603050405020304" pitchFamily="18" charset="0"/>
                        </a:rPr>
                        <a:t>Academic Year : </a:t>
                      </a:r>
                      <a:r>
                        <a:rPr lang="en-US" sz="2800" b="0" i="1" dirty="0">
                          <a:latin typeface="Times New Roman" panose="02020603050405020304" pitchFamily="18" charset="0"/>
                          <a:cs typeface="Times New Roman" panose="02020603050405020304" pitchFamily="18" charset="0"/>
                        </a:rPr>
                        <a:t>2026-2027</a:t>
                      </a:r>
                      <a:endParaRPr sz="2800" b="0" i="1" u="none" strike="noStrike" cap="none" dirty="0">
                        <a:solidFill>
                          <a:schemeClr val="lt1"/>
                        </a:solidFill>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93225">
                <a:tc gridSpan="4">
                  <a:txBody>
                    <a:bodyPr/>
                    <a:lstStyle/>
                    <a:p>
                      <a:pPr marL="0" marR="0" lvl="0" indent="0" algn="ctr" rtl="0">
                        <a:spcBef>
                          <a:spcPts val="0"/>
                        </a:spcBef>
                        <a:spcAft>
                          <a:spcPts val="0"/>
                        </a:spcAft>
                        <a:buNone/>
                      </a:pPr>
                      <a:r>
                        <a:rPr lang="en-US" sz="2400" b="1" u="none" strike="noStrike" cap="none" dirty="0">
                          <a:solidFill>
                            <a:srgbClr val="002060"/>
                          </a:solidFill>
                          <a:latin typeface="Times New Roman"/>
                          <a:ea typeface="Times New Roman"/>
                          <a:cs typeface="Times New Roman"/>
                          <a:sym typeface="Times New Roman"/>
                        </a:rPr>
                        <a:t>SEMINAR AND PROJECT INITIATION COURSE</a:t>
                      </a:r>
                      <a:endParaRPr sz="16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488550">
                <a:tc gridSpan="2">
                  <a:txBody>
                    <a:bodyPr/>
                    <a:lstStyle/>
                    <a:p>
                      <a:pPr marL="0" marR="0" lvl="0" indent="0" algn="l" rtl="0">
                        <a:lnSpc>
                          <a:spcPct val="100000"/>
                        </a:lnSpc>
                        <a:spcBef>
                          <a:spcPts val="0"/>
                        </a:spcBef>
                        <a:spcAft>
                          <a:spcPts val="0"/>
                        </a:spcAft>
                        <a:buClr>
                          <a:srgbClr val="FF0000"/>
                        </a:buClr>
                        <a:buSzPts val="2100"/>
                        <a:buFont typeface="Times New Roman"/>
                        <a:buNone/>
                      </a:pPr>
                      <a:r>
                        <a:rPr lang="en-US" sz="2000" b="1" u="none" strike="noStrike" cap="none" dirty="0">
                          <a:solidFill>
                            <a:srgbClr val="FF0000"/>
                          </a:solidFill>
                          <a:latin typeface="Times New Roman" panose="02020603050405020304" pitchFamily="18" charset="0"/>
                          <a:cs typeface="Times New Roman" panose="02020603050405020304" pitchFamily="18" charset="0"/>
                        </a:rPr>
                        <a:t>Sem: CO 5 K</a:t>
                      </a:r>
                      <a:endParaRPr sz="2000" b="1" u="none" strike="noStrike" cap="none" dirty="0">
                        <a:solidFill>
                          <a:srgbClr val="FF0000"/>
                        </a:solidFill>
                        <a:latin typeface="Times New Roman" panose="02020603050405020304" pitchFamily="18" charset="0"/>
                        <a:cs typeface="Times New Roman" panose="02020603050405020304" pitchFamily="18"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a:txBody>
                    <a:bodyPr/>
                    <a:lstStyle/>
                    <a:p>
                      <a:pPr marL="0" marR="0" lvl="0" indent="0" algn="ctr" rtl="0">
                        <a:lnSpc>
                          <a:spcPct val="100000"/>
                        </a:lnSpc>
                        <a:spcBef>
                          <a:spcPts val="0"/>
                        </a:spcBef>
                        <a:spcAft>
                          <a:spcPts val="0"/>
                        </a:spcAft>
                        <a:buClr>
                          <a:srgbClr val="002060"/>
                        </a:buClr>
                        <a:buSzPts val="2400"/>
                        <a:buFont typeface="Times New Roman"/>
                        <a:buNone/>
                      </a:pPr>
                      <a:r>
                        <a:rPr lang="en-US" sz="2000" b="1" u="none" strike="noStrike" cap="none" dirty="0">
                          <a:solidFill>
                            <a:srgbClr val="002060"/>
                          </a:solidFill>
                          <a:latin typeface="Times New Roman" panose="02020603050405020304" pitchFamily="18" charset="0"/>
                          <a:ea typeface="Times New Roman"/>
                          <a:cs typeface="Times New Roman" panose="02020603050405020304" pitchFamily="18" charset="0"/>
                          <a:sym typeface="Times New Roman"/>
                        </a:rPr>
                        <a:t>SPI – 315003</a:t>
                      </a:r>
                      <a:endParaRPr sz="16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2100"/>
                        <a:buFont typeface="Times New Roman"/>
                        <a:buNone/>
                      </a:pPr>
                      <a:r>
                        <a:rPr lang="en-US" sz="2000" b="1" u="none" strike="noStrike" cap="none" dirty="0">
                          <a:solidFill>
                            <a:srgbClr val="FF0000"/>
                          </a:solidFill>
                          <a:latin typeface="Times New Roman" panose="02020603050405020304" pitchFamily="18" charset="0"/>
                          <a:cs typeface="Times New Roman" panose="02020603050405020304" pitchFamily="18" charset="0"/>
                        </a:rPr>
                        <a:t>Date: </a:t>
                      </a:r>
                      <a:endParaRPr sz="2000" b="1" u="none" strike="noStrike" cap="none" dirty="0">
                        <a:solidFill>
                          <a:srgbClr val="FF0000"/>
                        </a:solidFill>
                        <a:latin typeface="Times New Roman" panose="02020603050405020304" pitchFamily="18" charset="0"/>
                        <a:cs typeface="Times New Roman" panose="02020603050405020304" pitchFamily="18"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88550">
                <a:tc gridSpan="4">
                  <a:txBody>
                    <a:bodyPr/>
                    <a:lstStyle/>
                    <a:p>
                      <a:pPr marL="0" marR="0" lvl="0" indent="0" algn="l" rtl="0">
                        <a:spcBef>
                          <a:spcPts val="0"/>
                        </a:spcBef>
                        <a:spcAft>
                          <a:spcPts val="0"/>
                        </a:spcAft>
                        <a:buNone/>
                      </a:pPr>
                      <a:r>
                        <a:rPr lang="en-US" sz="2000" b="1" u="none" strike="noStrike" cap="none" dirty="0">
                          <a:solidFill>
                            <a:schemeClr val="accent1">
                              <a:lumMod val="50000"/>
                            </a:schemeClr>
                          </a:solidFill>
                          <a:latin typeface="Times New Roman" panose="02020603050405020304" pitchFamily="18" charset="0"/>
                          <a:cs typeface="Times New Roman" panose="02020603050405020304" pitchFamily="18" charset="0"/>
                        </a:rPr>
                        <a:t>Topic: </a:t>
                      </a:r>
                      <a:r>
                        <a:rPr lang="en-US" sz="2400" b="1" u="none" strike="noStrike" cap="none" dirty="0">
                          <a:solidFill>
                            <a:schemeClr val="accent1">
                              <a:lumMod val="50000"/>
                            </a:schemeClr>
                          </a:solidFill>
                          <a:latin typeface="Times New Roman" panose="02020603050405020304" pitchFamily="18" charset="0"/>
                          <a:cs typeface="Times New Roman" panose="02020603050405020304" pitchFamily="18" charset="0"/>
                        </a:rPr>
                        <a:t>Smart Power Management</a:t>
                      </a:r>
                      <a:endParaRPr sz="2000" b="1" u="none" strike="noStrike" cap="none" dirty="0">
                        <a:solidFill>
                          <a:schemeClr val="accent1">
                            <a:lumMod val="50000"/>
                          </a:schemeClr>
                        </a:solidFill>
                        <a:latin typeface="Times New Roman" panose="02020603050405020304" pitchFamily="18" charset="0"/>
                        <a:cs typeface="Times New Roman" panose="02020603050405020304" pitchFamily="18"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488550">
                <a:tc gridSpan="2">
                  <a:txBody>
                    <a:bodyPr/>
                    <a:lstStyle/>
                    <a:p>
                      <a:pPr marL="0" marR="0" lvl="0" indent="0" algn="ctr" rtl="0">
                        <a:spcBef>
                          <a:spcPts val="0"/>
                        </a:spcBef>
                        <a:spcAft>
                          <a:spcPts val="0"/>
                        </a:spcAft>
                        <a:buNone/>
                      </a:pPr>
                      <a:r>
                        <a:rPr lang="en-US" sz="2000" b="1" u="none" strike="noStrike" cap="none" dirty="0">
                          <a:latin typeface="Times New Roman" panose="02020603050405020304" pitchFamily="18" charset="0"/>
                          <a:cs typeface="Times New Roman" panose="02020603050405020304" pitchFamily="18" charset="0"/>
                        </a:rPr>
                        <a:t>Roll No.</a:t>
                      </a:r>
                      <a:endParaRPr sz="2000" b="1"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lnSpc>
                          <a:spcPct val="100000"/>
                        </a:lnSpc>
                        <a:spcBef>
                          <a:spcPts val="0"/>
                        </a:spcBef>
                        <a:spcAft>
                          <a:spcPts val="0"/>
                        </a:spcAft>
                        <a:buClr>
                          <a:schemeClr val="dk1"/>
                        </a:buClr>
                        <a:buSzPts val="2400"/>
                        <a:buFont typeface="Times New Roman"/>
                        <a:buNone/>
                      </a:pPr>
                      <a:r>
                        <a:rPr lang="en-US" sz="2000" b="1" u="none" strike="noStrike" cap="none" dirty="0">
                          <a:latin typeface="Times New Roman" panose="02020603050405020304" pitchFamily="18" charset="0"/>
                          <a:cs typeface="Times New Roman" panose="02020603050405020304" pitchFamily="18" charset="0"/>
                        </a:rPr>
                        <a:t>Name of Student</a:t>
                      </a:r>
                      <a:endParaRPr sz="2000" b="1"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4"/>
                  </a:ext>
                </a:extLst>
              </a:tr>
              <a:tr h="488550">
                <a:tc gridSpan="2">
                  <a:txBody>
                    <a:bodyPr/>
                    <a:lstStyle/>
                    <a:p>
                      <a:pPr marL="0" marR="0" lvl="0" indent="0" algn="ctr" rtl="0">
                        <a:spcBef>
                          <a:spcPts val="0"/>
                        </a:spcBef>
                        <a:spcAft>
                          <a:spcPts val="0"/>
                        </a:spcAft>
                        <a:buNone/>
                      </a:pPr>
                      <a:r>
                        <a:rPr lang="en-IN" sz="1800" dirty="0">
                          <a:latin typeface="Times New Roman" panose="02020603050405020304" pitchFamily="18" charset="0"/>
                          <a:cs typeface="Times New Roman" panose="02020603050405020304" pitchFamily="18" charset="0"/>
                        </a:rPr>
                        <a:t>24</a:t>
                      </a:r>
                      <a:endParaRPr sz="1800" dirty="0">
                        <a:latin typeface="Times New Roman" panose="02020603050405020304" pitchFamily="18" charset="0"/>
                        <a:cs typeface="Times New Roman" panose="02020603050405020304" pitchFamily="18"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spcBef>
                          <a:spcPts val="0"/>
                        </a:spcBef>
                        <a:spcAft>
                          <a:spcPts val="0"/>
                        </a:spcAft>
                        <a:buNone/>
                      </a:pPr>
                      <a:r>
                        <a:rPr lang="en-US" sz="1800" dirty="0">
                          <a:latin typeface="Times New Roman" panose="02020603050405020304" pitchFamily="18" charset="0"/>
                          <a:cs typeface="Times New Roman" panose="02020603050405020304" pitchFamily="18" charset="0"/>
                        </a:rPr>
                        <a:t>N</a:t>
                      </a:r>
                      <a:r>
                        <a:rPr lang="en-IN" sz="1800" dirty="0" err="1">
                          <a:latin typeface="Times New Roman" panose="02020603050405020304" pitchFamily="18" charset="0"/>
                          <a:cs typeface="Times New Roman" panose="02020603050405020304" pitchFamily="18" charset="0"/>
                        </a:rPr>
                        <a:t>agarale</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Dakshyani</a:t>
                      </a:r>
                      <a:r>
                        <a:rPr lang="en-IN" sz="1800" dirty="0">
                          <a:latin typeface="Times New Roman" panose="02020603050405020304" pitchFamily="18" charset="0"/>
                          <a:cs typeface="Times New Roman" panose="02020603050405020304" pitchFamily="18" charset="0"/>
                        </a:rPr>
                        <a:t> Kiran</a:t>
                      </a:r>
                      <a:endParaRPr sz="1800" dirty="0">
                        <a:latin typeface="Times New Roman" panose="02020603050405020304" pitchFamily="18" charset="0"/>
                        <a:cs typeface="Times New Roman" panose="02020603050405020304" pitchFamily="18"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5"/>
                  </a:ext>
                </a:extLst>
              </a:tr>
              <a:tr h="488550">
                <a:tc gridSpan="2">
                  <a:txBody>
                    <a:bodyPr/>
                    <a:lstStyle/>
                    <a:p>
                      <a:pPr marL="0" marR="0" lvl="0" indent="0" algn="ctr" rtl="0">
                        <a:spcBef>
                          <a:spcPts val="0"/>
                        </a:spcBef>
                        <a:spcAft>
                          <a:spcPts val="0"/>
                        </a:spcAft>
                        <a:buNone/>
                      </a:pPr>
                      <a:r>
                        <a:rPr lang="en-IN" sz="1800" dirty="0">
                          <a:latin typeface="Times New Roman" panose="02020603050405020304" pitchFamily="18" charset="0"/>
                          <a:cs typeface="Times New Roman" panose="02020603050405020304" pitchFamily="18" charset="0"/>
                        </a:rPr>
                        <a:t>27</a:t>
                      </a:r>
                      <a:endParaRPr sz="1800" dirty="0">
                        <a:latin typeface="Times New Roman" panose="02020603050405020304" pitchFamily="18" charset="0"/>
                        <a:cs typeface="Times New Roman" panose="02020603050405020304" pitchFamily="18"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spcBef>
                          <a:spcPts val="0"/>
                        </a:spcBef>
                        <a:spcAft>
                          <a:spcPts val="0"/>
                        </a:spcAft>
                        <a:buNone/>
                      </a:pPr>
                      <a:r>
                        <a:rPr lang="en-US" sz="1800" dirty="0">
                          <a:latin typeface="Times New Roman" panose="02020603050405020304" pitchFamily="18" charset="0"/>
                          <a:cs typeface="Times New Roman" panose="02020603050405020304" pitchFamily="18" charset="0"/>
                        </a:rPr>
                        <a:t>H</a:t>
                      </a:r>
                      <a:r>
                        <a:rPr lang="en-IN" sz="1800" dirty="0" err="1">
                          <a:latin typeface="Times New Roman" panose="02020603050405020304" pitchFamily="18" charset="0"/>
                          <a:cs typeface="Times New Roman" panose="02020603050405020304" pitchFamily="18" charset="0"/>
                        </a:rPr>
                        <a:t>arwani</a:t>
                      </a:r>
                      <a:r>
                        <a:rPr lang="en-IN" sz="1800" dirty="0">
                          <a:latin typeface="Times New Roman" panose="02020603050405020304" pitchFamily="18" charset="0"/>
                          <a:cs typeface="Times New Roman" panose="02020603050405020304" pitchFamily="18" charset="0"/>
                        </a:rPr>
                        <a:t> Aryan Shankar</a:t>
                      </a:r>
                      <a:endParaRPr sz="1800" dirty="0">
                        <a:latin typeface="Times New Roman" panose="02020603050405020304" pitchFamily="18" charset="0"/>
                        <a:cs typeface="Times New Roman" panose="02020603050405020304" pitchFamily="18"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6"/>
                  </a:ext>
                </a:extLst>
              </a:tr>
              <a:tr h="488550">
                <a:tc gridSpan="2">
                  <a:txBody>
                    <a:bodyPr/>
                    <a:lstStyle/>
                    <a:p>
                      <a:pPr marL="0" marR="0" lvl="0" indent="0" algn="ctr" rtl="0">
                        <a:spcBef>
                          <a:spcPts val="0"/>
                        </a:spcBef>
                        <a:spcAft>
                          <a:spcPts val="0"/>
                        </a:spcAft>
                        <a:buNone/>
                      </a:pPr>
                      <a:r>
                        <a:rPr lang="en-IN" sz="1800" b="0" dirty="0">
                          <a:solidFill>
                            <a:schemeClr val="tx1"/>
                          </a:solidFill>
                          <a:latin typeface="Times New Roman" panose="02020603050405020304" pitchFamily="18" charset="0"/>
                          <a:cs typeface="Times New Roman" panose="02020603050405020304" pitchFamily="18" charset="0"/>
                        </a:rPr>
                        <a:t>28</a:t>
                      </a:r>
                      <a:endParaRPr sz="1800" b="0" dirty="0">
                        <a:solidFill>
                          <a:schemeClr val="tx1"/>
                        </a:solidFill>
                        <a:latin typeface="Times New Roman" panose="02020603050405020304" pitchFamily="18" charset="0"/>
                        <a:cs typeface="Times New Roman" panose="02020603050405020304" pitchFamily="18"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spcBef>
                          <a:spcPts val="0"/>
                        </a:spcBef>
                        <a:spcAft>
                          <a:spcPts val="0"/>
                        </a:spcAft>
                        <a:buNone/>
                      </a:pPr>
                      <a:r>
                        <a:rPr lang="en-US" sz="1800" dirty="0">
                          <a:latin typeface="Times New Roman" panose="02020603050405020304" pitchFamily="18" charset="0"/>
                          <a:cs typeface="Times New Roman" panose="02020603050405020304" pitchFamily="18" charset="0"/>
                        </a:rPr>
                        <a:t>J</a:t>
                      </a:r>
                      <a:r>
                        <a:rPr lang="en-IN" sz="1800" dirty="0" err="1">
                          <a:latin typeface="Times New Roman" panose="02020603050405020304" pitchFamily="18" charset="0"/>
                          <a:cs typeface="Times New Roman" panose="02020603050405020304" pitchFamily="18" charset="0"/>
                        </a:rPr>
                        <a:t>adhav</a:t>
                      </a:r>
                      <a:r>
                        <a:rPr lang="en-IN" sz="1800" dirty="0">
                          <a:latin typeface="Times New Roman" panose="02020603050405020304" pitchFamily="18" charset="0"/>
                          <a:cs typeface="Times New Roman" panose="02020603050405020304" pitchFamily="18" charset="0"/>
                        </a:rPr>
                        <a:t> Chaitanya Suresh</a:t>
                      </a:r>
                      <a:endParaRPr sz="1800" dirty="0">
                        <a:latin typeface="Times New Roman" panose="02020603050405020304" pitchFamily="18" charset="0"/>
                        <a:cs typeface="Times New Roman" panose="02020603050405020304" pitchFamily="18"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7"/>
                  </a:ext>
                </a:extLst>
              </a:tr>
              <a:tr h="488550">
                <a:tc gridSpan="2">
                  <a:txBody>
                    <a:bodyPr/>
                    <a:lstStyle/>
                    <a:p>
                      <a:pPr marL="0" marR="0" lvl="0" indent="0" algn="ctr" rtl="0">
                        <a:spcBef>
                          <a:spcPts val="0"/>
                        </a:spcBef>
                        <a:spcAft>
                          <a:spcPts val="0"/>
                        </a:spcAft>
                        <a:buNone/>
                      </a:pPr>
                      <a:r>
                        <a:rPr lang="en-IN" sz="1800" b="0" dirty="0">
                          <a:solidFill>
                            <a:schemeClr val="tx1"/>
                          </a:solidFill>
                          <a:latin typeface="Times New Roman" panose="02020603050405020304" pitchFamily="18" charset="0"/>
                          <a:cs typeface="Times New Roman" panose="02020603050405020304" pitchFamily="18" charset="0"/>
                        </a:rPr>
                        <a:t>31</a:t>
                      </a:r>
                      <a:endParaRPr sz="1800" b="0" dirty="0">
                        <a:solidFill>
                          <a:schemeClr val="tx1"/>
                        </a:solidFill>
                        <a:latin typeface="Times New Roman" panose="02020603050405020304" pitchFamily="18" charset="0"/>
                        <a:cs typeface="Times New Roman" panose="02020603050405020304" pitchFamily="18"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spcBef>
                          <a:spcPts val="0"/>
                        </a:spcBef>
                        <a:spcAft>
                          <a:spcPts val="0"/>
                        </a:spcAft>
                        <a:buNone/>
                      </a:pPr>
                      <a:r>
                        <a:rPr lang="en-US" sz="1800" dirty="0">
                          <a:latin typeface="Times New Roman" panose="02020603050405020304" pitchFamily="18" charset="0"/>
                          <a:cs typeface="Times New Roman" panose="02020603050405020304" pitchFamily="18" charset="0"/>
                        </a:rPr>
                        <a:t>K</a:t>
                      </a:r>
                      <a:r>
                        <a:rPr lang="en-IN" sz="1800" dirty="0">
                          <a:latin typeface="Times New Roman" panose="02020603050405020304" pitchFamily="18" charset="0"/>
                          <a:cs typeface="Times New Roman" panose="02020603050405020304" pitchFamily="18" charset="0"/>
                        </a:rPr>
                        <a:t>amble Meghana Manoj</a:t>
                      </a:r>
                      <a:endParaRPr sz="1800" dirty="0">
                        <a:latin typeface="Times New Roman" panose="02020603050405020304" pitchFamily="18" charset="0"/>
                        <a:cs typeface="Times New Roman" panose="02020603050405020304" pitchFamily="18"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8"/>
                  </a:ext>
                </a:extLst>
              </a:tr>
            </a:tbl>
          </a:graphicData>
        </a:graphic>
      </p:graphicFrame>
      <p:pic>
        <p:nvPicPr>
          <p:cNvPr id="505" name="Google Shape;505;p13" descr="ssvpslogo.png"/>
          <p:cNvPicPr preferRelativeResize="0"/>
          <p:nvPr/>
        </p:nvPicPr>
        <p:blipFill rotWithShape="1">
          <a:blip r:embed="rId3">
            <a:alphaModFix/>
          </a:blip>
          <a:srcRect/>
          <a:stretch/>
        </p:blipFill>
        <p:spPr>
          <a:xfrm>
            <a:off x="381000" y="457201"/>
            <a:ext cx="1090961" cy="1427356"/>
          </a:xfrm>
          <a:prstGeom prst="rect">
            <a:avLst/>
          </a:prstGeom>
          <a:noFill/>
          <a:ln>
            <a:noFill/>
          </a:ln>
        </p:spPr>
      </p:pic>
    </p:spTree>
    <p:extLst>
      <p:ext uri="{BB962C8B-B14F-4D97-AF65-F5344CB8AC3E}">
        <p14:creationId xmlns:p14="http://schemas.microsoft.com/office/powerpoint/2010/main" val="28685000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14"/>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373380" lvl="0" indent="-342900" algn="l" rtl="0">
              <a:spcBef>
                <a:spcPts val="496"/>
              </a:spcBef>
              <a:spcAft>
                <a:spcPts val="0"/>
              </a:spcAft>
              <a:buClr>
                <a:schemeClr val="dk1"/>
              </a:buClr>
              <a:buSzPct val="100000"/>
            </a:pPr>
            <a:r>
              <a:rPr lang="en-US" sz="2000" dirty="0">
                <a:latin typeface="Times New Roman" panose="02020603050405020304" pitchFamily="18" charset="0"/>
                <a:cs typeface="Times New Roman" panose="02020603050405020304" pitchFamily="18" charset="0"/>
              </a:rPr>
              <a:t>  Abstract </a:t>
            </a:r>
            <a:endParaRPr sz="2000" dirty="0">
              <a:latin typeface="Times New Roman" panose="02020603050405020304" pitchFamily="18" charset="0"/>
              <a:cs typeface="Times New Roman" panose="02020603050405020304" pitchFamily="18" charset="0"/>
            </a:endParaRPr>
          </a:p>
          <a:p>
            <a:pPr marL="514350" lvl="0" indent="-483870" algn="l" rtl="0">
              <a:spcBef>
                <a:spcPts val="496"/>
              </a:spcBef>
              <a:spcAft>
                <a:spcPts val="0"/>
              </a:spcAft>
              <a:buClr>
                <a:schemeClr val="dk1"/>
              </a:buClr>
              <a:buSzPct val="100000"/>
              <a:buFont typeface="Arial"/>
              <a:buAutoNum type="arabicPeriod"/>
            </a:pPr>
            <a:r>
              <a:rPr lang="en-US" sz="2000" dirty="0">
                <a:latin typeface="Times New Roman" panose="02020603050405020304" pitchFamily="18" charset="0"/>
                <a:cs typeface="Times New Roman" panose="02020603050405020304" pitchFamily="18" charset="0"/>
              </a:rPr>
              <a:t>Introduction</a:t>
            </a:r>
            <a:endParaRPr sz="2000" dirty="0">
              <a:latin typeface="Times New Roman" panose="02020603050405020304" pitchFamily="18" charset="0"/>
              <a:cs typeface="Times New Roman" panose="02020603050405020304" pitchFamily="18" charset="0"/>
            </a:endParaRPr>
          </a:p>
          <a:p>
            <a:pPr marL="514350" lvl="0" indent="-483870" algn="l" rtl="0">
              <a:spcBef>
                <a:spcPts val="496"/>
              </a:spcBef>
              <a:spcAft>
                <a:spcPts val="0"/>
              </a:spcAft>
              <a:buClr>
                <a:schemeClr val="dk1"/>
              </a:buClr>
              <a:buSzPct val="100000"/>
              <a:buFont typeface="Arial"/>
              <a:buAutoNum type="arabicPeriod"/>
            </a:pPr>
            <a:r>
              <a:rPr lang="en-US" sz="2000" dirty="0">
                <a:latin typeface="Times New Roman" panose="02020603050405020304" pitchFamily="18" charset="0"/>
                <a:cs typeface="Times New Roman" panose="02020603050405020304" pitchFamily="18" charset="0"/>
              </a:rPr>
              <a:t>Literature Review</a:t>
            </a:r>
            <a:endParaRPr sz="2000" dirty="0">
              <a:latin typeface="Times New Roman" panose="02020603050405020304" pitchFamily="18" charset="0"/>
              <a:cs typeface="Times New Roman" panose="02020603050405020304" pitchFamily="18" charset="0"/>
            </a:endParaRPr>
          </a:p>
          <a:p>
            <a:pPr marL="514350" lvl="0" indent="-483870" algn="l" rtl="0">
              <a:spcBef>
                <a:spcPts val="496"/>
              </a:spcBef>
              <a:spcAft>
                <a:spcPts val="0"/>
              </a:spcAft>
              <a:buClr>
                <a:schemeClr val="dk1"/>
              </a:buClr>
              <a:buSzPct val="100000"/>
              <a:buFont typeface="Arial"/>
              <a:buAutoNum type="arabicPeriod"/>
            </a:pPr>
            <a:r>
              <a:rPr lang="en-US" sz="2000" dirty="0">
                <a:latin typeface="Times New Roman" panose="02020603050405020304" pitchFamily="18" charset="0"/>
                <a:cs typeface="Times New Roman" panose="02020603050405020304" pitchFamily="18" charset="0"/>
              </a:rPr>
              <a:t>Information to Seminar Topic</a:t>
            </a:r>
            <a:endParaRPr sz="2000" dirty="0">
              <a:latin typeface="Times New Roman" panose="02020603050405020304" pitchFamily="18" charset="0"/>
              <a:cs typeface="Times New Roman" panose="02020603050405020304" pitchFamily="18" charset="0"/>
            </a:endParaRPr>
          </a:p>
          <a:p>
            <a:pPr marL="514350" lvl="0" indent="-483870" algn="l" rtl="0">
              <a:spcBef>
                <a:spcPts val="496"/>
              </a:spcBef>
              <a:spcAft>
                <a:spcPts val="0"/>
              </a:spcAft>
              <a:buClr>
                <a:schemeClr val="dk1"/>
              </a:buClr>
              <a:buSzPct val="100000"/>
              <a:buFont typeface="Arial"/>
              <a:buAutoNum type="arabicPeriod"/>
            </a:pPr>
            <a:r>
              <a:rPr lang="en-US" sz="2000" dirty="0">
                <a:latin typeface="Times New Roman" panose="02020603050405020304" pitchFamily="18" charset="0"/>
                <a:cs typeface="Times New Roman" panose="02020603050405020304" pitchFamily="18" charset="0"/>
              </a:rPr>
              <a:t>Advantages and Disadvantages</a:t>
            </a:r>
            <a:endParaRPr sz="2000" dirty="0">
              <a:latin typeface="Times New Roman" panose="02020603050405020304" pitchFamily="18" charset="0"/>
              <a:cs typeface="Times New Roman" panose="02020603050405020304" pitchFamily="18" charset="0"/>
            </a:endParaRPr>
          </a:p>
          <a:p>
            <a:pPr marL="514350" lvl="0" indent="-483870" algn="l" rtl="0">
              <a:spcBef>
                <a:spcPts val="496"/>
              </a:spcBef>
              <a:spcAft>
                <a:spcPts val="0"/>
              </a:spcAft>
              <a:buClr>
                <a:schemeClr val="dk1"/>
              </a:buClr>
              <a:buSzPct val="100000"/>
              <a:buFont typeface="Arial"/>
              <a:buAutoNum type="arabicPeriod"/>
            </a:pPr>
            <a:r>
              <a:rPr lang="en-US" sz="2000" dirty="0">
                <a:latin typeface="Times New Roman" panose="02020603050405020304" pitchFamily="18" charset="0"/>
                <a:cs typeface="Times New Roman" panose="02020603050405020304" pitchFamily="18" charset="0"/>
              </a:rPr>
              <a:t>Conclusion</a:t>
            </a:r>
            <a:endParaRPr sz="2000" dirty="0">
              <a:latin typeface="Times New Roman" panose="02020603050405020304" pitchFamily="18" charset="0"/>
              <a:cs typeface="Times New Roman" panose="02020603050405020304" pitchFamily="18" charset="0"/>
            </a:endParaRPr>
          </a:p>
          <a:p>
            <a:pPr marL="514350" lvl="0" indent="-483870" algn="l" rtl="0">
              <a:spcBef>
                <a:spcPts val="496"/>
              </a:spcBef>
              <a:spcAft>
                <a:spcPts val="0"/>
              </a:spcAft>
              <a:buClr>
                <a:schemeClr val="dk1"/>
              </a:buClr>
              <a:buSzPct val="100000"/>
              <a:buFont typeface="Arial"/>
              <a:buAutoNum type="arabicPeriod"/>
            </a:pPr>
            <a:r>
              <a:rPr lang="en-US" sz="2000" dirty="0">
                <a:latin typeface="Times New Roman" panose="02020603050405020304" pitchFamily="18" charset="0"/>
                <a:cs typeface="Times New Roman" panose="02020603050405020304" pitchFamily="18" charset="0"/>
              </a:rPr>
              <a:t>Project Initiation: </a:t>
            </a:r>
            <a:endParaRPr sz="2000" dirty="0">
              <a:latin typeface="Times New Roman" panose="02020603050405020304" pitchFamily="18" charset="0"/>
              <a:cs typeface="Times New Roman" panose="02020603050405020304" pitchFamily="18" charset="0"/>
            </a:endParaRPr>
          </a:p>
          <a:p>
            <a:pPr marL="742950" lvl="0" indent="0" algn="l" rtl="0">
              <a:spcBef>
                <a:spcPts val="434"/>
              </a:spcBef>
              <a:spcAft>
                <a:spcPts val="0"/>
              </a:spcAft>
              <a:buNone/>
            </a:pPr>
            <a:r>
              <a:rPr lang="en-US" sz="2000" dirty="0">
                <a:latin typeface="Times New Roman" panose="02020603050405020304" pitchFamily="18" charset="0"/>
                <a:cs typeface="Times New Roman" panose="02020603050405020304" pitchFamily="18" charset="0"/>
              </a:rPr>
              <a:t>6. 1 Description of Problem Statement</a:t>
            </a:r>
            <a:endParaRPr sz="2000" dirty="0">
              <a:latin typeface="Times New Roman" panose="02020603050405020304" pitchFamily="18" charset="0"/>
              <a:cs typeface="Times New Roman" panose="02020603050405020304" pitchFamily="18" charset="0"/>
            </a:endParaRPr>
          </a:p>
          <a:p>
            <a:pPr marL="742950" lvl="0" indent="0" algn="l" rtl="0">
              <a:spcBef>
                <a:spcPts val="434"/>
              </a:spcBef>
              <a:spcAft>
                <a:spcPts val="0"/>
              </a:spcAft>
              <a:buNone/>
            </a:pPr>
            <a:r>
              <a:rPr lang="en-US" sz="2000" dirty="0">
                <a:latin typeface="Times New Roman" panose="02020603050405020304" pitchFamily="18" charset="0"/>
                <a:cs typeface="Times New Roman" panose="02020603050405020304" pitchFamily="18" charset="0"/>
              </a:rPr>
              <a:t>6. 2 Scope and Objectives</a:t>
            </a:r>
            <a:endParaRPr sz="2000" dirty="0">
              <a:latin typeface="Times New Roman" panose="02020603050405020304" pitchFamily="18" charset="0"/>
              <a:cs typeface="Times New Roman" panose="02020603050405020304" pitchFamily="18" charset="0"/>
            </a:endParaRPr>
          </a:p>
          <a:p>
            <a:pPr marL="742950" lvl="0" indent="0" algn="l" rtl="0">
              <a:spcBef>
                <a:spcPts val="434"/>
              </a:spcBef>
              <a:spcAft>
                <a:spcPts val="0"/>
              </a:spcAft>
              <a:buNone/>
            </a:pPr>
            <a:r>
              <a:rPr lang="en-US" sz="2000" dirty="0">
                <a:latin typeface="Times New Roman" panose="02020603050405020304" pitchFamily="18" charset="0"/>
                <a:cs typeface="Times New Roman" panose="02020603050405020304" pitchFamily="18" charset="0"/>
              </a:rPr>
              <a:t>6. 3 Stakeholder</a:t>
            </a:r>
            <a:endParaRPr sz="2000" dirty="0">
              <a:latin typeface="Times New Roman" panose="02020603050405020304" pitchFamily="18" charset="0"/>
              <a:cs typeface="Times New Roman" panose="02020603050405020304" pitchFamily="18" charset="0"/>
            </a:endParaRPr>
          </a:p>
          <a:p>
            <a:pPr marL="742950" lvl="0" indent="0">
              <a:spcBef>
                <a:spcPts val="434"/>
              </a:spcBef>
              <a:buNone/>
            </a:pPr>
            <a:r>
              <a:rPr lang="en-US" sz="2000" dirty="0">
                <a:latin typeface="Times New Roman" panose="02020603050405020304" pitchFamily="18" charset="0"/>
                <a:cs typeface="Times New Roman" panose="02020603050405020304" pitchFamily="18" charset="0"/>
              </a:rPr>
              <a:t>6. 4 Seminar Discussion Plan</a:t>
            </a:r>
            <a:endParaRPr sz="2000" dirty="0">
              <a:latin typeface="Times New Roman" panose="02020603050405020304" pitchFamily="18" charset="0"/>
              <a:cs typeface="Times New Roman" panose="02020603050405020304" pitchFamily="18" charset="0"/>
            </a:endParaRPr>
          </a:p>
          <a:p>
            <a:pPr marL="742950" lvl="0" indent="0" algn="l" rtl="0">
              <a:spcBef>
                <a:spcPts val="434"/>
              </a:spcBef>
              <a:spcAft>
                <a:spcPts val="0"/>
              </a:spcAft>
              <a:buNone/>
            </a:pPr>
            <a:r>
              <a:rPr lang="en-US" sz="2000" dirty="0">
                <a:latin typeface="Times New Roman" panose="02020603050405020304" pitchFamily="18" charset="0"/>
                <a:cs typeface="Times New Roman" panose="02020603050405020304" pitchFamily="18" charset="0"/>
              </a:rPr>
              <a:t>6. 5 Platform/ Equipment/ Resources Identification.</a:t>
            </a:r>
            <a:endParaRPr sz="2000" dirty="0">
              <a:latin typeface="Times New Roman" panose="02020603050405020304" pitchFamily="18" charset="0"/>
              <a:cs typeface="Times New Roman" panose="02020603050405020304" pitchFamily="18" charset="0"/>
            </a:endParaRPr>
          </a:p>
          <a:p>
            <a:pPr marL="514350" lvl="0" indent="-483870" algn="l" rtl="0">
              <a:spcBef>
                <a:spcPts val="496"/>
              </a:spcBef>
              <a:spcAft>
                <a:spcPts val="0"/>
              </a:spcAft>
              <a:buClr>
                <a:schemeClr val="dk1"/>
              </a:buClr>
              <a:buSzPct val="100000"/>
              <a:buFont typeface="Arial"/>
              <a:buAutoNum type="arabicPeriod"/>
            </a:pPr>
            <a:r>
              <a:rPr lang="en-US" sz="2000" dirty="0">
                <a:latin typeface="Times New Roman" panose="02020603050405020304" pitchFamily="18" charset="0"/>
                <a:cs typeface="Times New Roman" panose="02020603050405020304" pitchFamily="18" charset="0"/>
              </a:rPr>
              <a:t>Bibliography</a:t>
            </a:r>
            <a:endParaRPr sz="2000" dirty="0">
              <a:latin typeface="Times New Roman" panose="02020603050405020304" pitchFamily="18" charset="0"/>
              <a:cs typeface="Times New Roman" panose="02020603050405020304" pitchFamily="18" charset="0"/>
            </a:endParaRPr>
          </a:p>
          <a:p>
            <a:pPr marL="514350" lvl="0" indent="-483870" algn="l" rtl="0">
              <a:spcBef>
                <a:spcPts val="496"/>
              </a:spcBef>
              <a:spcAft>
                <a:spcPts val="0"/>
              </a:spcAft>
              <a:buClr>
                <a:schemeClr val="dk1"/>
              </a:buClr>
              <a:buSzPct val="100000"/>
              <a:buFont typeface="Arial"/>
              <a:buAutoNum type="arabicPeriod"/>
            </a:pPr>
            <a:r>
              <a:rPr lang="en-US" sz="2000" dirty="0">
                <a:latin typeface="Times New Roman" panose="02020603050405020304" pitchFamily="18" charset="0"/>
                <a:cs typeface="Times New Roman" panose="02020603050405020304" pitchFamily="18" charset="0"/>
              </a:rPr>
              <a:t>References</a:t>
            </a:r>
            <a:endParaRPr sz="2000" dirty="0">
              <a:latin typeface="Times New Roman" panose="02020603050405020304" pitchFamily="18" charset="0"/>
              <a:cs typeface="Times New Roman" panose="02020603050405020304" pitchFamily="18" charset="0"/>
            </a:endParaRPr>
          </a:p>
          <a:p>
            <a:pPr marL="342900" lvl="0" indent="-185420" algn="l" rtl="0">
              <a:spcBef>
                <a:spcPts val="496"/>
              </a:spcBef>
              <a:spcAft>
                <a:spcPts val="0"/>
              </a:spcAft>
              <a:buClr>
                <a:schemeClr val="dk1"/>
              </a:buClr>
              <a:buSzPct val="100000"/>
              <a:buNone/>
            </a:pPr>
            <a:endParaRPr sz="2000" dirty="0"/>
          </a:p>
        </p:txBody>
      </p:sp>
      <p:sp>
        <p:nvSpPr>
          <p:cNvPr id="511" name="Google Shape;511;p14"/>
          <p:cNvSpPr txBox="1">
            <a:spLocks noGrp="1"/>
          </p:cNvSpPr>
          <p:nvPr>
            <p:ph type="title"/>
          </p:nvPr>
        </p:nvSpPr>
        <p:spPr>
          <a:xfrm>
            <a:off x="457200" y="274638"/>
            <a:ext cx="8229600" cy="8685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sz="4000" dirty="0">
                <a:solidFill>
                  <a:srgbClr val="002060"/>
                </a:solidFill>
                <a:latin typeface="Times New Roman" panose="02020603050405020304" pitchFamily="18" charset="0"/>
                <a:cs typeface="Times New Roman" panose="02020603050405020304" pitchFamily="18" charset="0"/>
              </a:rPr>
              <a:t>Contents</a:t>
            </a:r>
            <a:endParaRPr sz="4000" dirty="0">
              <a:solidFill>
                <a:srgbClr val="002060"/>
              </a:solidFill>
              <a:latin typeface="Times New Roman" panose="02020603050405020304" pitchFamily="18" charset="0"/>
              <a:cs typeface="Times New Roman" panose="02020603050405020304" pitchFamily="18" charset="0"/>
            </a:endParaRPr>
          </a:p>
        </p:txBody>
      </p:sp>
      <p:sp>
        <p:nvSpPr>
          <p:cNvPr id="512" name="Google Shape;512;p14"/>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1850772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15"/>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sz="4000" dirty="0">
                <a:solidFill>
                  <a:srgbClr val="002060"/>
                </a:solidFill>
                <a:latin typeface="Times New Roman" panose="02020603050405020304" pitchFamily="18" charset="0"/>
                <a:cs typeface="Times New Roman" panose="02020603050405020304" pitchFamily="18" charset="0"/>
              </a:rPr>
              <a:t>Abstract</a:t>
            </a:r>
            <a:endParaRPr sz="4000" dirty="0">
              <a:solidFill>
                <a:srgbClr val="002060"/>
              </a:solidFill>
              <a:latin typeface="Times New Roman" panose="02020603050405020304" pitchFamily="18" charset="0"/>
              <a:cs typeface="Times New Roman" panose="02020603050405020304" pitchFamily="18" charset="0"/>
            </a:endParaRPr>
          </a:p>
        </p:txBody>
      </p:sp>
      <p:sp>
        <p:nvSpPr>
          <p:cNvPr id="518" name="Google Shape;518;p15"/>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indent="-139700">
              <a:lnSpc>
                <a:spcPct val="100000"/>
              </a:lnSpc>
              <a:spcBef>
                <a:spcPts val="0"/>
              </a:spcBef>
              <a:buClr>
                <a:schemeClr val="dk1"/>
              </a:buClr>
              <a:buSzPts val="3200"/>
              <a:buNone/>
            </a:pPr>
            <a:r>
              <a:rPr lang="en-US" sz="1800" dirty="0"/>
              <a:t>		</a:t>
            </a:r>
          </a:p>
          <a:p>
            <a:pPr marL="342900" indent="-139700">
              <a:lnSpc>
                <a:spcPct val="100000"/>
              </a:lnSpc>
              <a:spcBef>
                <a:spcPts val="0"/>
              </a:spcBef>
              <a:buClr>
                <a:schemeClr val="dk1"/>
              </a:buClr>
              <a:buSzPts val="3200"/>
              <a:buNone/>
            </a:pPr>
            <a:endParaRPr lang="en-US" sz="1800" dirty="0"/>
          </a:p>
          <a:p>
            <a:pPr marL="342900" indent="-139700">
              <a:lnSpc>
                <a:spcPct val="100000"/>
              </a:lnSpc>
              <a:spcBef>
                <a:spcPts val="0"/>
              </a:spcBef>
              <a:buClr>
                <a:schemeClr val="dk1"/>
              </a:buClr>
              <a:buSzPts val="3200"/>
              <a:buNone/>
            </a:pPr>
            <a:endParaRPr lang="en-US" sz="1800" dirty="0"/>
          </a:p>
          <a:p>
            <a:pPr marL="0" indent="0" algn="just">
              <a:lnSpc>
                <a:spcPct val="100000"/>
              </a:lnSpc>
              <a:buNone/>
            </a:pPr>
            <a:r>
              <a:rPr lang="en-US" sz="1800" dirty="0"/>
              <a:t>	</a:t>
            </a:r>
            <a:r>
              <a:rPr lang="en-US" sz="1800" dirty="0">
                <a:latin typeface="Times New Roman" panose="02020603050405020304" pitchFamily="18" charset="0"/>
                <a:cs typeface="Times New Roman" panose="02020603050405020304" pitchFamily="18" charset="0"/>
              </a:rPr>
              <a:t>Smart Power Management is an efficient approach to monitoring and controlling electricity consumption. Traditional power management systems may lead to unnecessary energy wastage due to a lack of real-time monitoring and automated control. The proposed system uses sensors, microcontrollers, smart meters, and IoT technology to monitor power consumption and optimize electricity usage. </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It aims to reduce energy wastage, lower electricity costs, and improve energy efficiency, promoting sustainable power utilization.</a:t>
            </a:r>
          </a:p>
          <a:p>
            <a:pPr marL="342900" lvl="0" indent="-139700" algn="l" rtl="0">
              <a:lnSpc>
                <a:spcPct val="100000"/>
              </a:lnSpc>
              <a:spcBef>
                <a:spcPts val="0"/>
              </a:spcBef>
              <a:spcAft>
                <a:spcPts val="0"/>
              </a:spcAft>
              <a:buClr>
                <a:schemeClr val="dk1"/>
              </a:buClr>
              <a:buSzPts val="3200"/>
              <a:buNone/>
            </a:pPr>
            <a:endParaRPr sz="1800" dirty="0"/>
          </a:p>
        </p:txBody>
      </p:sp>
      <p:sp>
        <p:nvSpPr>
          <p:cNvPr id="519" name="Google Shape;519;p15"/>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2363566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16"/>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sz="4000" dirty="0">
                <a:solidFill>
                  <a:srgbClr val="002060"/>
                </a:solidFill>
                <a:latin typeface="Times New Roman" panose="02020603050405020304" pitchFamily="18" charset="0"/>
                <a:cs typeface="Times New Roman" panose="02020603050405020304" pitchFamily="18" charset="0"/>
              </a:rPr>
              <a:t>1. Introduction</a:t>
            </a:r>
            <a:endParaRPr sz="4000" dirty="0">
              <a:solidFill>
                <a:srgbClr val="002060"/>
              </a:solidFill>
              <a:latin typeface="Times New Roman" panose="02020603050405020304" pitchFamily="18" charset="0"/>
              <a:cs typeface="Times New Roman" panose="02020603050405020304" pitchFamily="18" charset="0"/>
            </a:endParaRPr>
          </a:p>
        </p:txBody>
      </p:sp>
      <p:sp>
        <p:nvSpPr>
          <p:cNvPr id="525" name="Google Shape;525;p16"/>
          <p:cNvSpPr txBox="1">
            <a:spLocks noGrp="1"/>
          </p:cNvSpPr>
          <p:nvPr>
            <p:ph type="body" idx="1"/>
          </p:nvPr>
        </p:nvSpPr>
        <p:spPr>
          <a:xfrm>
            <a:off x="457200" y="1291389"/>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203200" indent="0">
              <a:spcBef>
                <a:spcPts val="0"/>
              </a:spcBef>
              <a:buClr>
                <a:schemeClr val="dk1"/>
              </a:buClr>
              <a:buSzPts val="3200"/>
              <a:buNone/>
            </a:pPr>
            <a:r>
              <a:rPr lang="en-US" sz="1800" dirty="0">
                <a:latin typeface="Times New Roman" panose="02020603050405020304" pitchFamily="18" charset="0"/>
                <a:cs typeface="Times New Roman" panose="02020603050405020304" pitchFamily="18" charset="0"/>
              </a:rPr>
              <a:t>                                        </a:t>
            </a:r>
            <a:endParaRPr sz="1800" dirty="0">
              <a:latin typeface="Times New Roman" panose="02020603050405020304" pitchFamily="18" charset="0"/>
              <a:cs typeface="Times New Roman" panose="02020603050405020304" pitchFamily="18" charset="0"/>
            </a:endParaRPr>
          </a:p>
        </p:txBody>
      </p:sp>
      <p:sp>
        <p:nvSpPr>
          <p:cNvPr id="526" name="Google Shape;526;p16"/>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a:t>
            </a:fld>
            <a:endParaRPr/>
          </a:p>
        </p:txBody>
      </p:sp>
      <p:pic>
        <p:nvPicPr>
          <p:cNvPr id="11" name="Picture 10">
            <a:extLst>
              <a:ext uri="{FF2B5EF4-FFF2-40B4-BE49-F238E27FC236}">
                <a16:creationId xmlns:a16="http://schemas.microsoft.com/office/drawing/2014/main" id="{E6011F87-3053-A232-9F1D-39FDAEC17CEA}"/>
              </a:ext>
            </a:extLst>
          </p:cNvPr>
          <p:cNvPicPr>
            <a:picLocks noChangeAspect="1"/>
          </p:cNvPicPr>
          <p:nvPr/>
        </p:nvPicPr>
        <p:blipFill>
          <a:blip r:embed="rId3">
            <a:extLst>
              <a:ext uri="{28A0092B-C50C-407E-A947-70E740481C1C}">
                <a14:useLocalDpi xmlns:a14="http://schemas.microsoft.com/office/drawing/2010/main" val="0"/>
              </a:ext>
            </a:extLst>
          </a:blip>
          <a:srcRect t="2866" b="6064"/>
          <a:stretch>
            <a:fillRect/>
          </a:stretch>
        </p:blipFill>
        <p:spPr>
          <a:xfrm>
            <a:off x="5063707" y="2216985"/>
            <a:ext cx="3014931" cy="2745682"/>
          </a:xfrm>
          <a:prstGeom prst="rect">
            <a:avLst/>
          </a:prstGeom>
        </p:spPr>
      </p:pic>
      <p:sp>
        <p:nvSpPr>
          <p:cNvPr id="12" name="TextBox 11">
            <a:extLst>
              <a:ext uri="{FF2B5EF4-FFF2-40B4-BE49-F238E27FC236}">
                <a16:creationId xmlns:a16="http://schemas.microsoft.com/office/drawing/2014/main" id="{B38D88BA-89AA-1B0A-BED1-6EAC38190CE3}"/>
              </a:ext>
            </a:extLst>
          </p:cNvPr>
          <p:cNvSpPr txBox="1"/>
          <p:nvPr/>
        </p:nvSpPr>
        <p:spPr>
          <a:xfrm>
            <a:off x="590911" y="1406103"/>
            <a:ext cx="4408098" cy="5909310"/>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Smart Power Management is a technology-driven approach to monitor and control electricity consumption efficiently.</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uses sensors, microcontrollers, smart meters, and IoT technology to track power usage.</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helps manage electrical appliances and reduce unnecessary energy wastage.</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aims to lower electricity costs and improve energy efficiency.</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promotes sustainable and responsible utilization of electrical power.</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p>
          <a:p>
            <a:pPr algn="just"/>
            <a:endParaRPr lang="en-IN" dirty="0"/>
          </a:p>
        </p:txBody>
      </p:sp>
    </p:spTree>
    <p:extLst>
      <p:ext uri="{BB962C8B-B14F-4D97-AF65-F5344CB8AC3E}">
        <p14:creationId xmlns:p14="http://schemas.microsoft.com/office/powerpoint/2010/main" val="35628267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17"/>
          <p:cNvSpPr txBox="1">
            <a:spLocks noGrp="1"/>
          </p:cNvSpPr>
          <p:nvPr>
            <p:ph type="title"/>
          </p:nvPr>
        </p:nvSpPr>
        <p:spPr>
          <a:xfrm>
            <a:off x="183872" y="274638"/>
            <a:ext cx="8502928"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2. Literature Survey</a:t>
            </a:r>
            <a:endParaRPr/>
          </a:p>
        </p:txBody>
      </p:sp>
      <p:sp>
        <p:nvSpPr>
          <p:cNvPr id="532" name="Google Shape;532;p17"/>
          <p:cNvSpPr txBox="1">
            <a:spLocks noGrp="1"/>
          </p:cNvSpPr>
          <p:nvPr>
            <p:ph type="body" idx="1"/>
          </p:nvPr>
        </p:nvSpPr>
        <p:spPr>
          <a:xfrm>
            <a:off x="183872" y="1219200"/>
            <a:ext cx="8502928" cy="536416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r>
              <a:rPr lang="en-GB" dirty="0"/>
              <a:t>              </a:t>
            </a:r>
            <a:endParaRPr dirty="0"/>
          </a:p>
        </p:txBody>
      </p:sp>
      <p:sp>
        <p:nvSpPr>
          <p:cNvPr id="533" name="Google Shape;533;p17"/>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Times New Roman"/>
                <a:cs typeface="Times New Roman"/>
                <a:sym typeface="Times New Roman"/>
              </a:rPr>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t>5</a:t>
            </a:fld>
            <a:endParaRPr kumimoji="0" sz="1200" b="0" i="0" u="none" strike="noStrike" kern="0" cap="none" spc="0" normalizeH="0" baseline="0" noProof="0">
              <a:ln>
                <a:noFill/>
              </a:ln>
              <a:solidFill>
                <a:srgbClr val="888888"/>
              </a:solidFill>
              <a:effectLst/>
              <a:uLnTx/>
              <a:uFillTx/>
              <a:latin typeface="Times New Roman"/>
              <a:cs typeface="Times New Roman"/>
              <a:sym typeface="Times New Roman"/>
            </a:endParaRPr>
          </a:p>
        </p:txBody>
      </p:sp>
      <p:graphicFrame>
        <p:nvGraphicFramePr>
          <p:cNvPr id="3" name="Table 2">
            <a:extLst>
              <a:ext uri="{FF2B5EF4-FFF2-40B4-BE49-F238E27FC236}">
                <a16:creationId xmlns:a16="http://schemas.microsoft.com/office/drawing/2014/main" id="{20C7D25D-C2DD-14C4-3795-EFBE3BAD0452}"/>
              </a:ext>
            </a:extLst>
          </p:cNvPr>
          <p:cNvGraphicFramePr>
            <a:graphicFrameLocks noGrp="1"/>
          </p:cNvGraphicFramePr>
          <p:nvPr>
            <p:extLst>
              <p:ext uri="{D42A27DB-BD31-4B8C-83A1-F6EECF244321}">
                <p14:modId xmlns:p14="http://schemas.microsoft.com/office/powerpoint/2010/main" val="2919390046"/>
              </p:ext>
            </p:extLst>
          </p:nvPr>
        </p:nvGraphicFramePr>
        <p:xfrm>
          <a:off x="183872" y="1219200"/>
          <a:ext cx="8502929" cy="5371406"/>
        </p:xfrm>
        <a:graphic>
          <a:graphicData uri="http://schemas.openxmlformats.org/drawingml/2006/table">
            <a:tbl>
              <a:tblPr firstRow="1" firstCol="1" bandRow="1">
                <a:tableStyleId>{BC89EF96-8CEA-46FF-86C4-4CE0E7609802}</a:tableStyleId>
              </a:tblPr>
              <a:tblGrid>
                <a:gridCol w="453437">
                  <a:extLst>
                    <a:ext uri="{9D8B030D-6E8A-4147-A177-3AD203B41FA5}">
                      <a16:colId xmlns:a16="http://schemas.microsoft.com/office/drawing/2014/main" val="3671614926"/>
                    </a:ext>
                  </a:extLst>
                </a:gridCol>
                <a:gridCol w="1432374">
                  <a:extLst>
                    <a:ext uri="{9D8B030D-6E8A-4147-A177-3AD203B41FA5}">
                      <a16:colId xmlns:a16="http://schemas.microsoft.com/office/drawing/2014/main" val="2900298569"/>
                    </a:ext>
                  </a:extLst>
                </a:gridCol>
                <a:gridCol w="1735948">
                  <a:extLst>
                    <a:ext uri="{9D8B030D-6E8A-4147-A177-3AD203B41FA5}">
                      <a16:colId xmlns:a16="http://schemas.microsoft.com/office/drawing/2014/main" val="3617710171"/>
                    </a:ext>
                  </a:extLst>
                </a:gridCol>
                <a:gridCol w="1259413">
                  <a:extLst>
                    <a:ext uri="{9D8B030D-6E8A-4147-A177-3AD203B41FA5}">
                      <a16:colId xmlns:a16="http://schemas.microsoft.com/office/drawing/2014/main" val="1925426286"/>
                    </a:ext>
                  </a:extLst>
                </a:gridCol>
                <a:gridCol w="1647543">
                  <a:extLst>
                    <a:ext uri="{9D8B030D-6E8A-4147-A177-3AD203B41FA5}">
                      <a16:colId xmlns:a16="http://schemas.microsoft.com/office/drawing/2014/main" val="1753319277"/>
                    </a:ext>
                  </a:extLst>
                </a:gridCol>
                <a:gridCol w="1974214">
                  <a:extLst>
                    <a:ext uri="{9D8B030D-6E8A-4147-A177-3AD203B41FA5}">
                      <a16:colId xmlns:a16="http://schemas.microsoft.com/office/drawing/2014/main" val="1530639041"/>
                    </a:ext>
                  </a:extLst>
                </a:gridCol>
              </a:tblGrid>
              <a:tr h="582577">
                <a:tc>
                  <a:txBody>
                    <a:bodyPr/>
                    <a:lstStyle/>
                    <a:p>
                      <a:pPr algn="ctr">
                        <a:buNone/>
                      </a:pPr>
                      <a:r>
                        <a:rPr lang="en-US" sz="1800" dirty="0">
                          <a:effectLst/>
                          <a:latin typeface="Times New Roman" panose="02020603050405020304" pitchFamily="18" charset="0"/>
                          <a:cs typeface="Times New Roman" panose="02020603050405020304" pitchFamily="18" charset="0"/>
                        </a:rPr>
                        <a:t>Sr. No.</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Approach Type</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Technologies Used</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Dataset</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Key Objective</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Limitations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extLst>
                  <a:ext uri="{0D108BD9-81ED-4DB2-BD59-A6C34878D82A}">
                    <a16:rowId xmlns:a16="http://schemas.microsoft.com/office/drawing/2014/main" val="87233224"/>
                  </a:ext>
                </a:extLst>
              </a:tr>
              <a:tr h="1410134">
                <a:tc>
                  <a:txBody>
                    <a:bodyPr/>
                    <a:lstStyle/>
                    <a:p>
                      <a:pPr algn="ctr">
                        <a:buNone/>
                      </a:pPr>
                      <a:r>
                        <a:rPr lang="en-US" sz="1800" dirty="0">
                          <a:effectLst/>
                          <a:latin typeface="Times New Roman" panose="02020603050405020304" pitchFamily="18" charset="0"/>
                          <a:cs typeface="Times New Roman" panose="02020603050405020304" pitchFamily="18" charset="0"/>
                        </a:rPr>
                        <a:t>1</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a:buNone/>
                      </a:pPr>
                      <a:r>
                        <a:rPr lang="en-IN" dirty="0">
                          <a:latin typeface="Times New Roman" panose="02020603050405020304" pitchFamily="18" charset="0"/>
                          <a:cs typeface="Times New Roman" panose="02020603050405020304" pitchFamily="18" charset="0"/>
                        </a:rPr>
                        <a:t>IoT and Big Data Analytics</a:t>
                      </a:r>
                    </a:p>
                  </a:txBody>
                  <a:tcPr anchor="ctr"/>
                </a:tc>
                <a:tc>
                  <a:txBody>
                    <a:bodyPr/>
                    <a:lstStyle/>
                    <a:p>
                      <a:pPr>
                        <a:buNone/>
                      </a:pPr>
                      <a:r>
                        <a:rPr lang="en-IN" dirty="0">
                          <a:latin typeface="Times New Roman" panose="02020603050405020304" pitchFamily="18" charset="0"/>
                          <a:cs typeface="Times New Roman" panose="02020603050405020304" pitchFamily="18" charset="0"/>
                        </a:rPr>
                        <a:t>IoT, wireless communication, data acquisition modules, centralized server, Big Data analytics</a:t>
                      </a:r>
                    </a:p>
                  </a:txBody>
                  <a:tcPr anchor="ctr"/>
                </a:tc>
                <a:tc>
                  <a:txBody>
                    <a:bodyPr/>
                    <a:lstStyle/>
                    <a:p>
                      <a:pPr>
                        <a:buNone/>
                      </a:pPr>
                      <a:r>
                        <a:rPr lang="en-IN">
                          <a:latin typeface="Times New Roman" panose="02020603050405020304" pitchFamily="18" charset="0"/>
                          <a:cs typeface="Times New Roman" panose="02020603050405020304" pitchFamily="18" charset="0"/>
                        </a:rPr>
                        <a:t>Residential HVAC energy consumption data</a:t>
                      </a:r>
                    </a:p>
                  </a:txBody>
                  <a:tcPr anchor="ctr"/>
                </a:tc>
                <a:tc>
                  <a:txBody>
                    <a:bodyPr/>
                    <a:lstStyle/>
                    <a:p>
                      <a:pPr>
                        <a:buNone/>
                      </a:pPr>
                      <a:r>
                        <a:rPr lang="en-IN">
                          <a:latin typeface="Times New Roman" panose="02020603050405020304" pitchFamily="18" charset="0"/>
                          <a:cs typeface="Times New Roman" panose="02020603050405020304" pitchFamily="18" charset="0"/>
                        </a:rPr>
                        <a:t>To monitor electricity consumption and control appliances remotely.</a:t>
                      </a:r>
                    </a:p>
                  </a:txBody>
                  <a:tcPr anchor="ctr"/>
                </a:tc>
                <a:tc>
                  <a:txBody>
                    <a:bodyPr/>
                    <a:lstStyle/>
                    <a:p>
                      <a:pPr>
                        <a:buNone/>
                      </a:pPr>
                      <a:r>
                        <a:rPr lang="en-IN" dirty="0">
                          <a:latin typeface="Times New Roman" panose="02020603050405020304" pitchFamily="18" charset="0"/>
                          <a:cs typeface="Times New Roman" panose="02020603050405020304" pitchFamily="18" charset="0"/>
                        </a:rPr>
                        <a:t>Requires reliable internet, additional hardware, data storage and security.</a:t>
                      </a:r>
                    </a:p>
                  </a:txBody>
                  <a:tcPr anchor="ctr"/>
                </a:tc>
                <a:extLst>
                  <a:ext uri="{0D108BD9-81ED-4DB2-BD59-A6C34878D82A}">
                    <a16:rowId xmlns:a16="http://schemas.microsoft.com/office/drawing/2014/main" val="3645284830"/>
                  </a:ext>
                </a:extLst>
              </a:tr>
              <a:tr h="1685726">
                <a:tc>
                  <a:txBody>
                    <a:bodyPr/>
                    <a:lstStyle/>
                    <a:p>
                      <a:pPr algn="ctr">
                        <a:buNone/>
                      </a:pPr>
                      <a:r>
                        <a:rPr lang="en-US" sz="1800">
                          <a:effectLst/>
                          <a:latin typeface="Times New Roman" panose="02020603050405020304" pitchFamily="18" charset="0"/>
                          <a:cs typeface="Times New Roman" panose="02020603050405020304" pitchFamily="18" charset="0"/>
                        </a:rPr>
                        <a:t>2</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a:buNone/>
                      </a:pPr>
                      <a:r>
                        <a:rPr lang="en-IN" dirty="0">
                          <a:latin typeface="Times New Roman" panose="02020603050405020304" pitchFamily="18" charset="0"/>
                          <a:cs typeface="Times New Roman" panose="02020603050405020304" pitchFamily="18" charset="0"/>
                        </a:rPr>
                        <a:t>IoT-Based Load Management</a:t>
                      </a:r>
                    </a:p>
                  </a:txBody>
                  <a:tcPr anchor="ctr"/>
                </a:tc>
                <a:tc>
                  <a:txBody>
                    <a:bodyPr/>
                    <a:lstStyle/>
                    <a:p>
                      <a:pPr>
                        <a:buNone/>
                      </a:pPr>
                      <a:r>
                        <a:rPr lang="en-IN" dirty="0">
                          <a:latin typeface="Times New Roman" panose="02020603050405020304" pitchFamily="18" charset="0"/>
                          <a:cs typeface="Times New Roman" panose="02020603050405020304" pitchFamily="18" charset="0"/>
                        </a:rPr>
                        <a:t>IoT, programmable load categorization, appliance scheduling, Time-of-Day tariffs</a:t>
                      </a:r>
                    </a:p>
                  </a:txBody>
                  <a:tcPr anchor="ctr"/>
                </a:tc>
                <a:tc>
                  <a:txBody>
                    <a:bodyPr/>
                    <a:lstStyle/>
                    <a:p>
                      <a:pPr>
                        <a:buNone/>
                      </a:pPr>
                      <a:r>
                        <a:rPr lang="en-IN" dirty="0">
                          <a:latin typeface="Times New Roman" panose="02020603050405020304" pitchFamily="18" charset="0"/>
                          <a:cs typeface="Times New Roman" panose="02020603050405020304" pitchFamily="18" charset="0"/>
                        </a:rPr>
                        <a:t>Indian residential electricity consumption and usage patterns</a:t>
                      </a:r>
                    </a:p>
                  </a:txBody>
                  <a:tcPr anchor="ctr"/>
                </a:tc>
                <a:tc>
                  <a:txBody>
                    <a:bodyPr/>
                    <a:lstStyle/>
                    <a:p>
                      <a:pPr>
                        <a:buNone/>
                      </a:pPr>
                      <a:r>
                        <a:rPr lang="en-IN" dirty="0">
                          <a:latin typeface="Times New Roman" panose="02020603050405020304" pitchFamily="18" charset="0"/>
                          <a:cs typeface="Times New Roman" panose="02020603050405020304" pitchFamily="18" charset="0"/>
                        </a:rPr>
                        <a:t>To reduce peak electricity demand and electricity bills through smart load scheduling.</a:t>
                      </a:r>
                    </a:p>
                  </a:txBody>
                  <a:tcPr anchor="ctr"/>
                </a:tc>
                <a:tc>
                  <a:txBody>
                    <a:bodyPr/>
                    <a:lstStyle/>
                    <a:p>
                      <a:pPr>
                        <a:buNone/>
                      </a:pPr>
                      <a:r>
                        <a:rPr lang="en-IN" dirty="0">
                          <a:latin typeface="Times New Roman" panose="02020603050405020304" pitchFamily="18" charset="0"/>
                          <a:cs typeface="Times New Roman" panose="02020603050405020304" pitchFamily="18" charset="0"/>
                        </a:rPr>
                        <a:t>Savings depend on appliance usage, electricity tariffs and user acceptance.</a:t>
                      </a:r>
                    </a:p>
                  </a:txBody>
                  <a:tcPr anchor="ctr"/>
                </a:tc>
                <a:extLst>
                  <a:ext uri="{0D108BD9-81ED-4DB2-BD59-A6C34878D82A}">
                    <a16:rowId xmlns:a16="http://schemas.microsoft.com/office/drawing/2014/main" val="402128726"/>
                  </a:ext>
                </a:extLst>
              </a:tr>
              <a:tr h="1685726">
                <a:tc>
                  <a:txBody>
                    <a:bodyPr/>
                    <a:lstStyle/>
                    <a:p>
                      <a:pPr algn="ctr">
                        <a:buNone/>
                      </a:pPr>
                      <a:r>
                        <a:rPr lang="en-US" sz="1800" dirty="0">
                          <a:effectLst/>
                          <a:latin typeface="Times New Roman" panose="02020603050405020304" pitchFamily="18" charset="0"/>
                          <a:cs typeface="Times New Roman" panose="02020603050405020304" pitchFamily="18" charset="0"/>
                        </a:rPr>
                        <a:t>3</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a:buNone/>
                      </a:pPr>
                      <a:r>
                        <a:rPr lang="en-IN" sz="1400">
                          <a:latin typeface="Times New Roman" panose="02020603050405020304" pitchFamily="18" charset="0"/>
                          <a:cs typeface="Times New Roman" panose="02020603050405020304" pitchFamily="18" charset="0"/>
                        </a:rPr>
                        <a:t>Real-Time IoT-Based Energy Management</a:t>
                      </a:r>
                    </a:p>
                  </a:txBody>
                  <a:tcPr anchor="ctr"/>
                </a:tc>
                <a:tc>
                  <a:txBody>
                    <a:bodyPr/>
                    <a:lstStyle/>
                    <a:p>
                      <a:pPr>
                        <a:buNone/>
                      </a:pPr>
                      <a:r>
                        <a:rPr lang="en-IN" sz="1400">
                          <a:latin typeface="Times New Roman" panose="02020603050405020304" pitchFamily="18" charset="0"/>
                          <a:cs typeface="Times New Roman" panose="02020603050405020304" pitchFamily="18" charset="0"/>
                        </a:rPr>
                        <a:t>IoT, smart plugs, load scheduling, mobile application, MMGO optimization algorithm</a:t>
                      </a:r>
                    </a:p>
                  </a:txBody>
                  <a:tcPr anchor="ctr"/>
                </a:tc>
                <a:tc>
                  <a:txBody>
                    <a:bodyPr/>
                    <a:lstStyle/>
                    <a:p>
                      <a:pPr>
                        <a:buNone/>
                      </a:pPr>
                      <a:r>
                        <a:rPr lang="en-IN" sz="1400">
                          <a:latin typeface="Times New Roman" panose="02020603050405020304" pitchFamily="18" charset="0"/>
                          <a:cs typeface="Times New Roman" panose="02020603050405020304" pitchFamily="18" charset="0"/>
                        </a:rPr>
                        <a:t>Energy consumption data from a single dwelling and a cluster of 50 homes</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To reduce electricity costs and peak demand while maintaining user convenience.</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Requires connected hardware, accurate energy data and complex scheduling algorithms.</a:t>
                      </a:r>
                    </a:p>
                  </a:txBody>
                  <a:tcPr anchor="ctr"/>
                </a:tc>
                <a:extLst>
                  <a:ext uri="{0D108BD9-81ED-4DB2-BD59-A6C34878D82A}">
                    <a16:rowId xmlns:a16="http://schemas.microsoft.com/office/drawing/2014/main" val="17909049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04272B4-E94B-5454-9802-F52071294196}"/>
              </a:ext>
            </a:extLst>
          </p:cNvPr>
          <p:cNvSpPr>
            <a:spLocks noGrp="1"/>
          </p:cNvSpPr>
          <p:nvPr>
            <p:ph type="body" idx="1"/>
          </p:nvPr>
        </p:nvSpPr>
        <p:spPr>
          <a:xfrm>
            <a:off x="457200" y="346364"/>
            <a:ext cx="8229600" cy="6206836"/>
          </a:xfrm>
        </p:spPr>
        <p:txBody>
          <a:bodyPr/>
          <a:lstStyle/>
          <a:p>
            <a:pPr marL="114300" indent="0">
              <a:buNone/>
            </a:pPr>
            <a:r>
              <a:rPr lang="en-GB" dirty="0"/>
              <a:t>                    </a:t>
            </a:r>
            <a:endParaRPr lang="en-IN" dirty="0"/>
          </a:p>
        </p:txBody>
      </p:sp>
      <p:sp>
        <p:nvSpPr>
          <p:cNvPr id="4" name="Slide Number Placeholder 3">
            <a:extLst>
              <a:ext uri="{FF2B5EF4-FFF2-40B4-BE49-F238E27FC236}">
                <a16:creationId xmlns:a16="http://schemas.microsoft.com/office/drawing/2014/main" id="{A5E7E95C-F9D4-5682-C25C-9E845B3F7655}"/>
              </a:ext>
            </a:extLst>
          </p:cNvPr>
          <p:cNvSpPr>
            <a:spLocks noGrp="1"/>
          </p:cNvSpPr>
          <p:nvPr>
            <p:ph type="sldNum" idx="12"/>
          </p:nvPr>
        </p:nvSpPr>
        <p:spPr/>
        <p: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smtClean="0">
                <a:ln>
                  <a:noFill/>
                </a:ln>
                <a:solidFill>
                  <a:srgbClr val="888888"/>
                </a:solidFill>
                <a:effectLst/>
                <a:uLnTx/>
                <a:uFillTx/>
                <a:latin typeface="Times New Roman"/>
                <a:cs typeface="Times New Roman"/>
                <a:sym typeface="Times New Roman"/>
              </a:rPr>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t>6</a:t>
            </a:fld>
            <a:endParaRPr kumimoji="0" lang="en-US" sz="1200" b="0" i="0" u="none" strike="noStrike" kern="0" cap="none" spc="0" normalizeH="0" baseline="0" noProof="0">
              <a:ln>
                <a:noFill/>
              </a:ln>
              <a:solidFill>
                <a:srgbClr val="888888"/>
              </a:solidFill>
              <a:effectLst/>
              <a:uLnTx/>
              <a:uFillTx/>
              <a:latin typeface="Times New Roman"/>
              <a:cs typeface="Times New Roman"/>
              <a:sym typeface="Times New Roman"/>
            </a:endParaRPr>
          </a:p>
        </p:txBody>
      </p:sp>
      <p:graphicFrame>
        <p:nvGraphicFramePr>
          <p:cNvPr id="5" name="Table 4">
            <a:extLst>
              <a:ext uri="{FF2B5EF4-FFF2-40B4-BE49-F238E27FC236}">
                <a16:creationId xmlns:a16="http://schemas.microsoft.com/office/drawing/2014/main" id="{897499E5-8CB4-DAE8-21FB-4BE7CB70F5F3}"/>
              </a:ext>
            </a:extLst>
          </p:cNvPr>
          <p:cNvGraphicFramePr>
            <a:graphicFrameLocks noGrp="1"/>
          </p:cNvGraphicFramePr>
          <p:nvPr>
            <p:extLst>
              <p:ext uri="{D42A27DB-BD31-4B8C-83A1-F6EECF244321}">
                <p14:modId xmlns:p14="http://schemas.microsoft.com/office/powerpoint/2010/main" val="1644848623"/>
              </p:ext>
            </p:extLst>
          </p:nvPr>
        </p:nvGraphicFramePr>
        <p:xfrm>
          <a:off x="457200" y="346365"/>
          <a:ext cx="8229601" cy="6244360"/>
        </p:xfrm>
        <a:graphic>
          <a:graphicData uri="http://schemas.openxmlformats.org/drawingml/2006/table">
            <a:tbl>
              <a:tblPr firstRow="1" firstCol="1" bandRow="1">
                <a:tableStyleId>{BC89EF96-8CEA-46FF-86C4-4CE0E7609802}</a:tableStyleId>
              </a:tblPr>
              <a:tblGrid>
                <a:gridCol w="393032">
                  <a:extLst>
                    <a:ext uri="{9D8B030D-6E8A-4147-A177-3AD203B41FA5}">
                      <a16:colId xmlns:a16="http://schemas.microsoft.com/office/drawing/2014/main" val="1835422985"/>
                    </a:ext>
                  </a:extLst>
                </a:gridCol>
                <a:gridCol w="1432158">
                  <a:extLst>
                    <a:ext uri="{9D8B030D-6E8A-4147-A177-3AD203B41FA5}">
                      <a16:colId xmlns:a16="http://schemas.microsoft.com/office/drawing/2014/main" val="3080172688"/>
                    </a:ext>
                  </a:extLst>
                </a:gridCol>
                <a:gridCol w="1680145">
                  <a:extLst>
                    <a:ext uri="{9D8B030D-6E8A-4147-A177-3AD203B41FA5}">
                      <a16:colId xmlns:a16="http://schemas.microsoft.com/office/drawing/2014/main" val="643243970"/>
                    </a:ext>
                  </a:extLst>
                </a:gridCol>
                <a:gridCol w="1218929">
                  <a:extLst>
                    <a:ext uri="{9D8B030D-6E8A-4147-A177-3AD203B41FA5}">
                      <a16:colId xmlns:a16="http://schemas.microsoft.com/office/drawing/2014/main" val="430704381"/>
                    </a:ext>
                  </a:extLst>
                </a:gridCol>
                <a:gridCol w="1594583">
                  <a:extLst>
                    <a:ext uri="{9D8B030D-6E8A-4147-A177-3AD203B41FA5}">
                      <a16:colId xmlns:a16="http://schemas.microsoft.com/office/drawing/2014/main" val="2556017403"/>
                    </a:ext>
                  </a:extLst>
                </a:gridCol>
                <a:gridCol w="1910754">
                  <a:extLst>
                    <a:ext uri="{9D8B030D-6E8A-4147-A177-3AD203B41FA5}">
                      <a16:colId xmlns:a16="http://schemas.microsoft.com/office/drawing/2014/main" val="910270353"/>
                    </a:ext>
                  </a:extLst>
                </a:gridCol>
              </a:tblGrid>
              <a:tr h="581957">
                <a:tc>
                  <a:txBody>
                    <a:bodyPr/>
                    <a:lstStyle/>
                    <a:p>
                      <a:pPr algn="ctr">
                        <a:buNone/>
                      </a:pPr>
                      <a:r>
                        <a:rPr lang="en-US" sz="1800" dirty="0">
                          <a:effectLst/>
                          <a:latin typeface="Times New Roman" panose="02020603050405020304" pitchFamily="18" charset="0"/>
                          <a:cs typeface="Times New Roman" panose="02020603050405020304" pitchFamily="18" charset="0"/>
                        </a:rPr>
                        <a:t>Sr. No.</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Approach Type</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Technologies Used</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Dataset</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Key Objective</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Limitations</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extLst>
                  <a:ext uri="{0D108BD9-81ED-4DB2-BD59-A6C34878D82A}">
                    <a16:rowId xmlns:a16="http://schemas.microsoft.com/office/drawing/2014/main" val="421947184"/>
                  </a:ext>
                </a:extLst>
              </a:tr>
              <a:tr h="1628396">
                <a:tc>
                  <a:txBody>
                    <a:bodyPr/>
                    <a:lstStyle/>
                    <a:p>
                      <a:pPr algn="ctr">
                        <a:buNone/>
                      </a:pPr>
                      <a:r>
                        <a:rPr lang="en-US" sz="1800" b="0" dirty="0">
                          <a:effectLst/>
                          <a:latin typeface="Times New Roman" panose="02020603050405020304" pitchFamily="18" charset="0"/>
                          <a:cs typeface="Times New Roman" panose="02020603050405020304" pitchFamily="18" charset="0"/>
                        </a:rPr>
                        <a:t>4</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a:buNone/>
                      </a:pPr>
                      <a:r>
                        <a:rPr lang="en-IN" sz="1400" dirty="0">
                          <a:latin typeface="Times New Roman" panose="02020603050405020304" pitchFamily="18" charset="0"/>
                          <a:cs typeface="Times New Roman" panose="02020603050405020304" pitchFamily="18" charset="0"/>
                        </a:rPr>
                        <a:t>ML-Based Smart Home Energy Management</a:t>
                      </a:r>
                    </a:p>
                  </a:txBody>
                  <a:tcPr anchor="ctr"/>
                </a:tc>
                <a:tc>
                  <a:txBody>
                    <a:bodyPr/>
                    <a:lstStyle/>
                    <a:p>
                      <a:pPr>
                        <a:buNone/>
                      </a:pPr>
                      <a:r>
                        <a:rPr lang="en-IN" sz="1400">
                          <a:latin typeface="Times New Roman" panose="02020603050405020304" pitchFamily="18" charset="0"/>
                          <a:cs typeface="Times New Roman" panose="02020603050405020304" pitchFamily="18" charset="0"/>
                        </a:rPr>
                        <a:t>LSTM, Machine Learning, Smart Meters, Cloud Computing</a:t>
                      </a:r>
                    </a:p>
                  </a:txBody>
                  <a:tcPr anchor="ctr"/>
                </a:tc>
                <a:tc>
                  <a:txBody>
                    <a:bodyPr/>
                    <a:lstStyle/>
                    <a:p>
                      <a:pPr>
                        <a:buNone/>
                      </a:pPr>
                      <a:r>
                        <a:rPr lang="en-IN" sz="1400">
                          <a:latin typeface="Times New Roman" panose="02020603050405020304" pitchFamily="18" charset="0"/>
                          <a:cs typeface="Times New Roman" panose="02020603050405020304" pitchFamily="18" charset="0"/>
                        </a:rPr>
                        <a:t>Household appliance energy data recorded at 1-minute intervals for 350 days.</a:t>
                      </a:r>
                    </a:p>
                  </a:txBody>
                  <a:tcPr anchor="ctr"/>
                </a:tc>
                <a:tc>
                  <a:txBody>
                    <a:bodyPr/>
                    <a:lstStyle/>
                    <a:p>
                      <a:pPr>
                        <a:buNone/>
                      </a:pPr>
                      <a:r>
                        <a:rPr lang="en-IN" sz="1400">
                          <a:latin typeface="Times New Roman" panose="02020603050405020304" pitchFamily="18" charset="0"/>
                          <a:cs typeface="Times New Roman" panose="02020603050405020304" pitchFamily="18" charset="0"/>
                        </a:rPr>
                        <a:t>To predict household energy consumption and improve energy efficiency.</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Prediction errors and dependence on data quality.</a:t>
                      </a:r>
                    </a:p>
                  </a:txBody>
                  <a:tcPr anchor="ctr"/>
                </a:tc>
                <a:extLst>
                  <a:ext uri="{0D108BD9-81ED-4DB2-BD59-A6C34878D82A}">
                    <a16:rowId xmlns:a16="http://schemas.microsoft.com/office/drawing/2014/main" val="3937688551"/>
                  </a:ext>
                </a:extLst>
              </a:tr>
              <a:tr h="1801104">
                <a:tc>
                  <a:txBody>
                    <a:bodyPr/>
                    <a:lstStyle/>
                    <a:p>
                      <a:pPr algn="ctr">
                        <a:buNone/>
                      </a:pPr>
                      <a:r>
                        <a:rPr lang="en-US" sz="1800" b="0" dirty="0">
                          <a:effectLst/>
                          <a:latin typeface="Times New Roman" panose="02020603050405020304" pitchFamily="18" charset="0"/>
                          <a:cs typeface="Times New Roman" panose="02020603050405020304" pitchFamily="18" charset="0"/>
                        </a:rPr>
                        <a:t>5</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a:buNone/>
                      </a:pPr>
                      <a:r>
                        <a:rPr lang="en-IN" sz="1400" dirty="0">
                          <a:latin typeface="Times New Roman" panose="02020603050405020304" pitchFamily="18" charset="0"/>
                          <a:cs typeface="Times New Roman" panose="02020603050405020304" pitchFamily="18" charset="0"/>
                        </a:rPr>
                        <a:t>IoT and Big Data-Based Energy Management</a:t>
                      </a:r>
                    </a:p>
                  </a:txBody>
                  <a:tcPr anchor="ctr"/>
                </a:tc>
                <a:tc>
                  <a:txBody>
                    <a:bodyPr/>
                    <a:lstStyle/>
                    <a:p>
                      <a:pPr>
                        <a:buNone/>
                      </a:pPr>
                      <a:r>
                        <a:rPr lang="en-IN" sz="1400">
                          <a:latin typeface="Times New Roman" panose="02020603050405020304" pitchFamily="18" charset="0"/>
                          <a:cs typeface="Times New Roman" panose="02020603050405020304" pitchFamily="18" charset="0"/>
                        </a:rPr>
                        <a:t>IoT, J48 Algorithm, Weka, Apache Mahout, RuleML</a:t>
                      </a:r>
                    </a:p>
                  </a:txBody>
                  <a:tcPr anchor="ctr"/>
                </a:tc>
                <a:tc>
                  <a:txBody>
                    <a:bodyPr/>
                    <a:lstStyle/>
                    <a:p>
                      <a:pPr>
                        <a:buNone/>
                      </a:pPr>
                      <a:r>
                        <a:rPr lang="en-IN" sz="1400">
                          <a:latin typeface="Times New Roman" panose="02020603050405020304" pitchFamily="18" charset="0"/>
                          <a:cs typeface="Times New Roman" panose="02020603050405020304" pitchFamily="18" charset="0"/>
                        </a:rPr>
                        <a:t>Smart home energy consumption and user behavior data.</a:t>
                      </a:r>
                    </a:p>
                  </a:txBody>
                  <a:tcPr anchor="ctr"/>
                </a:tc>
                <a:tc>
                  <a:txBody>
                    <a:bodyPr/>
                    <a:lstStyle/>
                    <a:p>
                      <a:pPr>
                        <a:buNone/>
                      </a:pPr>
                      <a:r>
                        <a:rPr lang="en-IN" sz="1400">
                          <a:latin typeface="Times New Roman" panose="02020603050405020304" pitchFamily="18" charset="0"/>
                          <a:cs typeface="Times New Roman" panose="02020603050405020304" pitchFamily="18" charset="0"/>
                        </a:rPr>
                        <a:t>To classify energy usage and recommend energy-saving actions while maintaining comfort and safety.</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Security concerns and challenges in managing large amounts of data.</a:t>
                      </a:r>
                    </a:p>
                  </a:txBody>
                  <a:tcPr anchor="ctr"/>
                </a:tc>
                <a:extLst>
                  <a:ext uri="{0D108BD9-81ED-4DB2-BD59-A6C34878D82A}">
                    <a16:rowId xmlns:a16="http://schemas.microsoft.com/office/drawing/2014/main" val="3042414057"/>
                  </a:ext>
                </a:extLst>
              </a:tr>
              <a:tr h="2195378">
                <a:tc>
                  <a:txBody>
                    <a:bodyPr/>
                    <a:lstStyle/>
                    <a:p>
                      <a:pPr algn="ctr">
                        <a:buNone/>
                      </a:pPr>
                      <a:r>
                        <a:rPr lang="en-US" sz="1800" b="0" dirty="0">
                          <a:effectLst/>
                          <a:latin typeface="Times New Roman" panose="02020603050405020304" pitchFamily="18" charset="0"/>
                          <a:cs typeface="Times New Roman" panose="02020603050405020304" pitchFamily="18" charset="0"/>
                        </a:rPr>
                        <a:t>6</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a:buNone/>
                      </a:pPr>
                      <a:r>
                        <a:rPr lang="en-IN" sz="1400" dirty="0">
                          <a:latin typeface="Times New Roman" panose="02020603050405020304" pitchFamily="18" charset="0"/>
                          <a:cs typeface="Times New Roman" panose="02020603050405020304" pitchFamily="18" charset="0"/>
                        </a:rPr>
                        <a:t>Reinforcement Learning-Based Energy Management</a:t>
                      </a:r>
                    </a:p>
                  </a:txBody>
                  <a:tcPr anchor="ctr"/>
                </a:tc>
                <a:tc>
                  <a:txBody>
                    <a:bodyPr/>
                    <a:lstStyle/>
                    <a:p>
                      <a:pPr>
                        <a:buNone/>
                      </a:pPr>
                      <a:r>
                        <a:rPr lang="en-IN" sz="1400">
                          <a:latin typeface="Times New Roman" panose="02020603050405020304" pitchFamily="18" charset="0"/>
                          <a:cs typeface="Times New Roman" panose="02020603050405020304" pitchFamily="18" charset="0"/>
                        </a:rPr>
                        <a:t>Q-Learning, Artificial Neural Network (ANN), Solar PV, Energy Storage System</a:t>
                      </a:r>
                    </a:p>
                  </a:txBody>
                  <a:tcPr anchor="ctr"/>
                </a:tc>
                <a:tc>
                  <a:txBody>
                    <a:bodyPr/>
                    <a:lstStyle/>
                    <a:p>
                      <a:pPr>
                        <a:buNone/>
                      </a:pPr>
                      <a:r>
                        <a:rPr lang="en-IN" sz="1400">
                          <a:latin typeface="Times New Roman" panose="02020603050405020304" pitchFamily="18" charset="0"/>
                          <a:cs typeface="Times New Roman" panose="02020603050405020304" pitchFamily="18" charset="0"/>
                        </a:rPr>
                        <a:t>Simulated data for a home with solar PV, an air conditioner, a washing machine, and energy storage.</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To schedule appliances and battery operation to reduce electricity bills while maintaining comfort.</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Tested through simulation for a single home; performance depends on comfort settings and operating conditions.</a:t>
                      </a:r>
                    </a:p>
                  </a:txBody>
                  <a:tcPr anchor="ctr"/>
                </a:tc>
                <a:extLst>
                  <a:ext uri="{0D108BD9-81ED-4DB2-BD59-A6C34878D82A}">
                    <a16:rowId xmlns:a16="http://schemas.microsoft.com/office/drawing/2014/main" val="2290539708"/>
                  </a:ext>
                </a:extLst>
              </a:tr>
            </a:tbl>
          </a:graphicData>
        </a:graphic>
      </p:graphicFrame>
    </p:spTree>
    <p:extLst>
      <p:ext uri="{BB962C8B-B14F-4D97-AF65-F5344CB8AC3E}">
        <p14:creationId xmlns:p14="http://schemas.microsoft.com/office/powerpoint/2010/main" val="2959878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6D4444E-40A1-3D3D-EB8D-55BB4B08FF36}"/>
              </a:ext>
            </a:extLst>
          </p:cNvPr>
          <p:cNvSpPr>
            <a:spLocks noGrp="1"/>
          </p:cNvSpPr>
          <p:nvPr>
            <p:ph type="body" idx="1"/>
          </p:nvPr>
        </p:nvSpPr>
        <p:spPr>
          <a:xfrm>
            <a:off x="457200" y="360218"/>
            <a:ext cx="8229600" cy="6192982"/>
          </a:xfrm>
        </p:spPr>
        <p:txBody>
          <a:bodyPr/>
          <a:lstStyle/>
          <a:p>
            <a:pPr marL="114300" indent="0">
              <a:buNone/>
            </a:pPr>
            <a:r>
              <a:rPr lang="en-GB" dirty="0"/>
              <a:t>     </a:t>
            </a:r>
            <a:endParaRPr lang="en-IN" dirty="0"/>
          </a:p>
        </p:txBody>
      </p:sp>
      <p:sp>
        <p:nvSpPr>
          <p:cNvPr id="4" name="Slide Number Placeholder 3">
            <a:extLst>
              <a:ext uri="{FF2B5EF4-FFF2-40B4-BE49-F238E27FC236}">
                <a16:creationId xmlns:a16="http://schemas.microsoft.com/office/drawing/2014/main" id="{2F24B866-080A-1F9C-0A49-0D10F6EE19BC}"/>
              </a:ext>
            </a:extLst>
          </p:cNvPr>
          <p:cNvSpPr>
            <a:spLocks noGrp="1"/>
          </p:cNvSpPr>
          <p:nvPr>
            <p:ph type="sldNum" idx="12"/>
          </p:nvPr>
        </p:nvSpPr>
        <p:spPr/>
        <p: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smtClean="0">
                <a:ln>
                  <a:noFill/>
                </a:ln>
                <a:solidFill>
                  <a:srgbClr val="888888"/>
                </a:solidFill>
                <a:effectLst/>
                <a:uLnTx/>
                <a:uFillTx/>
                <a:latin typeface="Times New Roman"/>
                <a:cs typeface="Times New Roman"/>
                <a:sym typeface="Times New Roman"/>
              </a:rPr>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t>7</a:t>
            </a:fld>
            <a:endParaRPr kumimoji="0" lang="en-US" sz="1200" b="0" i="0" u="none" strike="noStrike" kern="0" cap="none" spc="0" normalizeH="0" baseline="0" noProof="0">
              <a:ln>
                <a:noFill/>
              </a:ln>
              <a:solidFill>
                <a:srgbClr val="888888"/>
              </a:solidFill>
              <a:effectLst/>
              <a:uLnTx/>
              <a:uFillTx/>
              <a:latin typeface="Times New Roman"/>
              <a:cs typeface="Times New Roman"/>
              <a:sym typeface="Times New Roman"/>
            </a:endParaRPr>
          </a:p>
        </p:txBody>
      </p:sp>
      <p:graphicFrame>
        <p:nvGraphicFramePr>
          <p:cNvPr id="5" name="Table 4">
            <a:extLst>
              <a:ext uri="{FF2B5EF4-FFF2-40B4-BE49-F238E27FC236}">
                <a16:creationId xmlns:a16="http://schemas.microsoft.com/office/drawing/2014/main" id="{DFACAE3B-8C3E-AE68-D226-1A669FFA2F4B}"/>
              </a:ext>
            </a:extLst>
          </p:cNvPr>
          <p:cNvGraphicFramePr>
            <a:graphicFrameLocks noGrp="1"/>
          </p:cNvGraphicFramePr>
          <p:nvPr>
            <p:extLst>
              <p:ext uri="{D42A27DB-BD31-4B8C-83A1-F6EECF244321}">
                <p14:modId xmlns:p14="http://schemas.microsoft.com/office/powerpoint/2010/main" val="30605389"/>
              </p:ext>
            </p:extLst>
          </p:nvPr>
        </p:nvGraphicFramePr>
        <p:xfrm>
          <a:off x="457199" y="360217"/>
          <a:ext cx="8229602" cy="6137565"/>
        </p:xfrm>
        <a:graphic>
          <a:graphicData uri="http://schemas.openxmlformats.org/drawingml/2006/table">
            <a:tbl>
              <a:tblPr firstRow="1" firstCol="1" bandRow="1">
                <a:tableStyleId>{BC89EF96-8CEA-46FF-86C4-4CE0E7609802}</a:tableStyleId>
              </a:tblPr>
              <a:tblGrid>
                <a:gridCol w="415673">
                  <a:extLst>
                    <a:ext uri="{9D8B030D-6E8A-4147-A177-3AD203B41FA5}">
                      <a16:colId xmlns:a16="http://schemas.microsoft.com/office/drawing/2014/main" val="503446673"/>
                    </a:ext>
                  </a:extLst>
                </a:gridCol>
                <a:gridCol w="1409518">
                  <a:extLst>
                    <a:ext uri="{9D8B030D-6E8A-4147-A177-3AD203B41FA5}">
                      <a16:colId xmlns:a16="http://schemas.microsoft.com/office/drawing/2014/main" val="4191217371"/>
                    </a:ext>
                  </a:extLst>
                </a:gridCol>
                <a:gridCol w="1680146">
                  <a:extLst>
                    <a:ext uri="{9D8B030D-6E8A-4147-A177-3AD203B41FA5}">
                      <a16:colId xmlns:a16="http://schemas.microsoft.com/office/drawing/2014/main" val="2710468633"/>
                    </a:ext>
                  </a:extLst>
                </a:gridCol>
                <a:gridCol w="1218929">
                  <a:extLst>
                    <a:ext uri="{9D8B030D-6E8A-4147-A177-3AD203B41FA5}">
                      <a16:colId xmlns:a16="http://schemas.microsoft.com/office/drawing/2014/main" val="3751161214"/>
                    </a:ext>
                  </a:extLst>
                </a:gridCol>
                <a:gridCol w="1594582">
                  <a:extLst>
                    <a:ext uri="{9D8B030D-6E8A-4147-A177-3AD203B41FA5}">
                      <a16:colId xmlns:a16="http://schemas.microsoft.com/office/drawing/2014/main" val="3693101631"/>
                    </a:ext>
                  </a:extLst>
                </a:gridCol>
                <a:gridCol w="1910754">
                  <a:extLst>
                    <a:ext uri="{9D8B030D-6E8A-4147-A177-3AD203B41FA5}">
                      <a16:colId xmlns:a16="http://schemas.microsoft.com/office/drawing/2014/main" val="2374033641"/>
                    </a:ext>
                  </a:extLst>
                </a:gridCol>
              </a:tblGrid>
              <a:tr h="628043">
                <a:tc>
                  <a:txBody>
                    <a:bodyPr/>
                    <a:lstStyle/>
                    <a:p>
                      <a:pPr algn="ctr">
                        <a:buNone/>
                      </a:pPr>
                      <a:r>
                        <a:rPr lang="en-US" sz="1800" dirty="0">
                          <a:effectLst/>
                          <a:latin typeface="Times New Roman" panose="02020603050405020304" pitchFamily="18" charset="0"/>
                          <a:cs typeface="Times New Roman" panose="02020603050405020304" pitchFamily="18" charset="0"/>
                        </a:rPr>
                        <a:t>Sr. No.</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Approach Type</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Technologies Used</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Dataset</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Key Objective</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Limitations</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extLst>
                  <a:ext uri="{0D108BD9-81ED-4DB2-BD59-A6C34878D82A}">
                    <a16:rowId xmlns:a16="http://schemas.microsoft.com/office/drawing/2014/main" val="1070513301"/>
                  </a:ext>
                </a:extLst>
              </a:tr>
              <a:tr h="1926752">
                <a:tc>
                  <a:txBody>
                    <a:bodyPr/>
                    <a:lstStyle/>
                    <a:p>
                      <a:pPr algn="ctr">
                        <a:buNone/>
                      </a:pPr>
                      <a:r>
                        <a:rPr lang="en-US" sz="1800" b="0" dirty="0">
                          <a:effectLst/>
                          <a:latin typeface="Times New Roman" panose="02020603050405020304" pitchFamily="18" charset="0"/>
                          <a:cs typeface="Times New Roman" panose="02020603050405020304" pitchFamily="18" charset="0"/>
                        </a:rPr>
                        <a:t>7</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a:buNone/>
                      </a:pPr>
                      <a:r>
                        <a:rPr lang="en-IN" dirty="0">
                          <a:latin typeface="Times New Roman" panose="02020603050405020304" pitchFamily="18" charset="0"/>
                          <a:cs typeface="Times New Roman" panose="02020603050405020304" pitchFamily="18" charset="0"/>
                        </a:rPr>
                        <a:t>AI-Based Sustainable Energy Management</a:t>
                      </a:r>
                    </a:p>
                  </a:txBody>
                  <a:tcPr anchor="ctr"/>
                </a:tc>
                <a:tc>
                  <a:txBody>
                    <a:bodyPr/>
                    <a:lstStyle/>
                    <a:p>
                      <a:pPr>
                        <a:buNone/>
                      </a:pPr>
                      <a:r>
                        <a:rPr lang="en-IN" dirty="0">
                          <a:latin typeface="Times New Roman" panose="02020603050405020304" pitchFamily="18" charset="0"/>
                          <a:cs typeface="Times New Roman" panose="02020603050405020304" pitchFamily="18" charset="0"/>
                        </a:rPr>
                        <a:t>Machine Learning, Deep Learning, Energy Forecasting</a:t>
                      </a:r>
                    </a:p>
                  </a:txBody>
                  <a:tcPr anchor="ctr"/>
                </a:tc>
                <a:tc>
                  <a:txBody>
                    <a:bodyPr/>
                    <a:lstStyle/>
                    <a:p>
                      <a:pPr>
                        <a:buNone/>
                      </a:pPr>
                      <a:r>
                        <a:rPr lang="en-IN" dirty="0">
                          <a:latin typeface="Times New Roman" panose="02020603050405020304" pitchFamily="18" charset="0"/>
                          <a:cs typeface="Times New Roman" panose="02020603050405020304" pitchFamily="18" charset="0"/>
                        </a:rPr>
                        <a:t>Data from over 200 reviewed research studies</a:t>
                      </a:r>
                    </a:p>
                  </a:txBody>
                  <a:tcPr anchor="ctr"/>
                </a:tc>
                <a:tc>
                  <a:txBody>
                    <a:bodyPr/>
                    <a:lstStyle/>
                    <a:p>
                      <a:pPr>
                        <a:buNone/>
                      </a:pPr>
                      <a:r>
                        <a:rPr lang="en-IN">
                          <a:latin typeface="Times New Roman" panose="02020603050405020304" pitchFamily="18" charset="0"/>
                          <a:cs typeface="Times New Roman" panose="02020603050405020304" pitchFamily="18" charset="0"/>
                        </a:rPr>
                        <a:t>To predict electricity demand and improve energy efficiency.</a:t>
                      </a:r>
                    </a:p>
                  </a:txBody>
                  <a:tcPr anchor="ctr"/>
                </a:tc>
                <a:tc>
                  <a:txBody>
                    <a:bodyPr/>
                    <a:lstStyle/>
                    <a:p>
                      <a:pPr>
                        <a:buNone/>
                      </a:pPr>
                      <a:r>
                        <a:rPr lang="en-IN" dirty="0">
                          <a:latin typeface="Times New Roman" panose="02020603050405020304" pitchFamily="18" charset="0"/>
                          <a:cs typeface="Times New Roman" panose="02020603050405020304" pitchFamily="18" charset="0"/>
                        </a:rPr>
                        <a:t>Data quality issues and limited real-world implementation.</a:t>
                      </a:r>
                    </a:p>
                  </a:txBody>
                  <a:tcPr anchor="ctr"/>
                </a:tc>
                <a:extLst>
                  <a:ext uri="{0D108BD9-81ED-4DB2-BD59-A6C34878D82A}">
                    <a16:rowId xmlns:a16="http://schemas.microsoft.com/office/drawing/2014/main" val="1828343925"/>
                  </a:ext>
                </a:extLst>
              </a:tr>
              <a:tr h="1656018">
                <a:tc>
                  <a:txBody>
                    <a:bodyPr/>
                    <a:lstStyle/>
                    <a:p>
                      <a:pPr algn="ctr">
                        <a:buNone/>
                      </a:pPr>
                      <a:r>
                        <a:rPr lang="en-US" sz="1800" b="0" dirty="0">
                          <a:effectLst/>
                          <a:latin typeface="Times New Roman" panose="02020603050405020304" pitchFamily="18" charset="0"/>
                          <a:cs typeface="Times New Roman" panose="02020603050405020304" pitchFamily="18" charset="0"/>
                        </a:rPr>
                        <a:t>8</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a:buNone/>
                      </a:pPr>
                      <a:r>
                        <a:rPr lang="en-IN" dirty="0">
                          <a:latin typeface="Times New Roman" panose="02020603050405020304" pitchFamily="18" charset="0"/>
                          <a:cs typeface="Times New Roman" panose="02020603050405020304" pitchFamily="18" charset="0"/>
                        </a:rPr>
                        <a:t>AI and IoT Home Energy Management</a:t>
                      </a:r>
                    </a:p>
                  </a:txBody>
                  <a:tcPr anchor="ctr"/>
                </a:tc>
                <a:tc>
                  <a:txBody>
                    <a:bodyPr/>
                    <a:lstStyle/>
                    <a:p>
                      <a:pPr>
                        <a:buNone/>
                      </a:pPr>
                      <a:r>
                        <a:rPr lang="en-IN">
                          <a:latin typeface="Times New Roman" panose="02020603050405020304" pitchFamily="18" charset="0"/>
                          <a:cs typeface="Times New Roman" panose="02020603050405020304" pitchFamily="18" charset="0"/>
                        </a:rPr>
                        <a:t>AI, IoT, Solar PV, Energy Storage</a:t>
                      </a:r>
                    </a:p>
                  </a:txBody>
                  <a:tcPr anchor="ctr"/>
                </a:tc>
                <a:tc>
                  <a:txBody>
                    <a:bodyPr/>
                    <a:lstStyle/>
                    <a:p>
                      <a:pPr>
                        <a:buNone/>
                      </a:pPr>
                      <a:r>
                        <a:rPr lang="en-IN">
                          <a:latin typeface="Times New Roman" panose="02020603050405020304" pitchFamily="18" charset="0"/>
                          <a:cs typeface="Times New Roman" panose="02020603050405020304" pitchFamily="18" charset="0"/>
                        </a:rPr>
                        <a:t>Household energy consumption data</a:t>
                      </a:r>
                    </a:p>
                  </a:txBody>
                  <a:tcPr anchor="ctr"/>
                </a:tc>
                <a:tc>
                  <a:txBody>
                    <a:bodyPr/>
                    <a:lstStyle/>
                    <a:p>
                      <a:pPr>
                        <a:buNone/>
                      </a:pPr>
                      <a:r>
                        <a:rPr lang="en-IN" dirty="0">
                          <a:latin typeface="Times New Roman" panose="02020603050405020304" pitchFamily="18" charset="0"/>
                          <a:cs typeface="Times New Roman" panose="02020603050405020304" pitchFamily="18" charset="0"/>
                        </a:rPr>
                        <a:t>To optimize appliance scheduling and reduce electricity costs.</a:t>
                      </a:r>
                    </a:p>
                  </a:txBody>
                  <a:tcPr anchor="ctr"/>
                </a:tc>
                <a:tc>
                  <a:txBody>
                    <a:bodyPr/>
                    <a:lstStyle/>
                    <a:p>
                      <a:pPr>
                        <a:buNone/>
                      </a:pPr>
                      <a:r>
                        <a:rPr lang="en-IN" dirty="0">
                          <a:latin typeface="Times New Roman" panose="02020603050405020304" pitchFamily="18" charset="0"/>
                          <a:cs typeface="Times New Roman" panose="02020603050405020304" pitchFamily="18" charset="0"/>
                        </a:rPr>
                        <a:t>Cybersecurity risks and device compatibility issues.</a:t>
                      </a:r>
                    </a:p>
                  </a:txBody>
                  <a:tcPr anchor="ctr"/>
                </a:tc>
                <a:extLst>
                  <a:ext uri="{0D108BD9-81ED-4DB2-BD59-A6C34878D82A}">
                    <a16:rowId xmlns:a16="http://schemas.microsoft.com/office/drawing/2014/main" val="2006006099"/>
                  </a:ext>
                </a:extLst>
              </a:tr>
              <a:tr h="1926752">
                <a:tc>
                  <a:txBody>
                    <a:bodyPr/>
                    <a:lstStyle/>
                    <a:p>
                      <a:pPr algn="ctr">
                        <a:buNone/>
                      </a:pPr>
                      <a:r>
                        <a:rPr lang="en-US" sz="1800" b="0" dirty="0">
                          <a:effectLst/>
                          <a:latin typeface="Times New Roman" panose="02020603050405020304" pitchFamily="18" charset="0"/>
                          <a:cs typeface="Times New Roman" panose="02020603050405020304" pitchFamily="18" charset="0"/>
                        </a:rPr>
                        <a:t>9</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a:buNone/>
                      </a:pPr>
                      <a:r>
                        <a:rPr lang="en-IN" dirty="0">
                          <a:latin typeface="Times New Roman" panose="02020603050405020304" pitchFamily="18" charset="0"/>
                          <a:cs typeface="Times New Roman" panose="02020603050405020304" pitchFamily="18" charset="0"/>
                        </a:rPr>
                        <a:t>Machine Learning-Based Energy Management</a:t>
                      </a:r>
                    </a:p>
                  </a:txBody>
                  <a:tcPr anchor="ctr"/>
                </a:tc>
                <a:tc>
                  <a:txBody>
                    <a:bodyPr/>
                    <a:lstStyle/>
                    <a:p>
                      <a:pPr>
                        <a:buNone/>
                      </a:pPr>
                      <a:r>
                        <a:rPr lang="en-IN">
                          <a:latin typeface="Times New Roman" panose="02020603050405020304" pitchFamily="18" charset="0"/>
                          <a:cs typeface="Times New Roman" panose="02020603050405020304" pitchFamily="18" charset="0"/>
                        </a:rPr>
                        <a:t>IoE, SVM, Cloud Storage, Data Preprocessing</a:t>
                      </a:r>
                    </a:p>
                  </a:txBody>
                  <a:tcPr anchor="ctr"/>
                </a:tc>
                <a:tc>
                  <a:txBody>
                    <a:bodyPr/>
                    <a:lstStyle/>
                    <a:p>
                      <a:pPr>
                        <a:buNone/>
                      </a:pPr>
                      <a:r>
                        <a:rPr lang="en-IN">
                          <a:latin typeface="Times New Roman" panose="02020603050405020304" pitchFamily="18" charset="0"/>
                          <a:cs typeface="Times New Roman" panose="02020603050405020304" pitchFamily="18" charset="0"/>
                        </a:rPr>
                        <a:t>757 energy-management records</a:t>
                      </a:r>
                    </a:p>
                  </a:txBody>
                  <a:tcPr anchor="ctr"/>
                </a:tc>
                <a:tc>
                  <a:txBody>
                    <a:bodyPr/>
                    <a:lstStyle/>
                    <a:p>
                      <a:pPr>
                        <a:buNone/>
                      </a:pPr>
                      <a:r>
                        <a:rPr lang="en-IN">
                          <a:latin typeface="Times New Roman" panose="02020603050405020304" pitchFamily="18" charset="0"/>
                          <a:cs typeface="Times New Roman" panose="02020603050405020304" pitchFamily="18" charset="0"/>
                        </a:rPr>
                        <a:t>To predict energy-management requirements and reduce energy wastage.</a:t>
                      </a:r>
                    </a:p>
                  </a:txBody>
                  <a:tcPr anchor="ctr"/>
                </a:tc>
                <a:tc>
                  <a:txBody>
                    <a:bodyPr/>
                    <a:lstStyle/>
                    <a:p>
                      <a:pPr>
                        <a:buNone/>
                      </a:pPr>
                      <a:r>
                        <a:rPr lang="en-IN" dirty="0">
                          <a:latin typeface="Times New Roman" panose="02020603050405020304" pitchFamily="18" charset="0"/>
                          <a:cs typeface="Times New Roman" panose="02020603050405020304" pitchFamily="18" charset="0"/>
                        </a:rPr>
                        <a:t>Requires computing resources and further real-world testing.</a:t>
                      </a:r>
                    </a:p>
                  </a:txBody>
                  <a:tcPr anchor="ctr"/>
                </a:tc>
                <a:extLst>
                  <a:ext uri="{0D108BD9-81ED-4DB2-BD59-A6C34878D82A}">
                    <a16:rowId xmlns:a16="http://schemas.microsoft.com/office/drawing/2014/main" val="1109910642"/>
                  </a:ext>
                </a:extLst>
              </a:tr>
            </a:tbl>
          </a:graphicData>
        </a:graphic>
      </p:graphicFrame>
    </p:spTree>
    <p:extLst>
      <p:ext uri="{BB962C8B-B14F-4D97-AF65-F5344CB8AC3E}">
        <p14:creationId xmlns:p14="http://schemas.microsoft.com/office/powerpoint/2010/main" val="3939053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B7A4394-3B9F-951C-C864-F2E9D1290C51}"/>
              </a:ext>
            </a:extLst>
          </p:cNvPr>
          <p:cNvSpPr>
            <a:spLocks noGrp="1"/>
          </p:cNvSpPr>
          <p:nvPr>
            <p:ph type="body" idx="1"/>
          </p:nvPr>
        </p:nvSpPr>
        <p:spPr>
          <a:xfrm>
            <a:off x="457200" y="387927"/>
            <a:ext cx="8229600" cy="6165273"/>
          </a:xfrm>
        </p:spPr>
        <p:txBody>
          <a:bodyPr/>
          <a:lstStyle/>
          <a:p>
            <a:pPr marL="114300" indent="0">
              <a:buNone/>
            </a:pPr>
            <a:r>
              <a:rPr lang="en-GB" dirty="0"/>
              <a:t>               </a:t>
            </a:r>
            <a:endParaRPr lang="en-IN" dirty="0"/>
          </a:p>
        </p:txBody>
      </p:sp>
      <p:sp>
        <p:nvSpPr>
          <p:cNvPr id="4" name="Slide Number Placeholder 3">
            <a:extLst>
              <a:ext uri="{FF2B5EF4-FFF2-40B4-BE49-F238E27FC236}">
                <a16:creationId xmlns:a16="http://schemas.microsoft.com/office/drawing/2014/main" id="{8305BFBB-B42E-0A36-F1C5-1A33CFEB293A}"/>
              </a:ext>
            </a:extLst>
          </p:cNvPr>
          <p:cNvSpPr>
            <a:spLocks noGrp="1"/>
          </p:cNvSpPr>
          <p:nvPr>
            <p:ph type="sldNum" idx="12"/>
          </p:nvPr>
        </p:nvSpPr>
        <p:spPr/>
        <p: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smtClean="0">
                <a:ln>
                  <a:noFill/>
                </a:ln>
                <a:solidFill>
                  <a:srgbClr val="888888"/>
                </a:solidFill>
                <a:effectLst/>
                <a:uLnTx/>
                <a:uFillTx/>
                <a:latin typeface="Times New Roman"/>
                <a:cs typeface="Times New Roman"/>
                <a:sym typeface="Times New Roman"/>
              </a:rPr>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t>8</a:t>
            </a:fld>
            <a:endParaRPr kumimoji="0" lang="en-US" sz="1200" b="0" i="0" u="none" strike="noStrike" kern="0" cap="none" spc="0" normalizeH="0" baseline="0" noProof="0">
              <a:ln>
                <a:noFill/>
              </a:ln>
              <a:solidFill>
                <a:srgbClr val="888888"/>
              </a:solidFill>
              <a:effectLst/>
              <a:uLnTx/>
              <a:uFillTx/>
              <a:latin typeface="Times New Roman"/>
              <a:cs typeface="Times New Roman"/>
              <a:sym typeface="Times New Roman"/>
            </a:endParaRPr>
          </a:p>
        </p:txBody>
      </p:sp>
      <p:graphicFrame>
        <p:nvGraphicFramePr>
          <p:cNvPr id="5" name="Table 4">
            <a:extLst>
              <a:ext uri="{FF2B5EF4-FFF2-40B4-BE49-F238E27FC236}">
                <a16:creationId xmlns:a16="http://schemas.microsoft.com/office/drawing/2014/main" id="{91D3346C-B134-68BD-1C8D-125021426C8A}"/>
              </a:ext>
            </a:extLst>
          </p:cNvPr>
          <p:cNvGraphicFramePr>
            <a:graphicFrameLocks noGrp="1"/>
          </p:cNvGraphicFramePr>
          <p:nvPr>
            <p:extLst>
              <p:ext uri="{D42A27DB-BD31-4B8C-83A1-F6EECF244321}">
                <p14:modId xmlns:p14="http://schemas.microsoft.com/office/powerpoint/2010/main" val="2213934271"/>
              </p:ext>
            </p:extLst>
          </p:nvPr>
        </p:nvGraphicFramePr>
        <p:xfrm>
          <a:off x="457200" y="387926"/>
          <a:ext cx="8229599" cy="6165273"/>
        </p:xfrm>
        <a:graphic>
          <a:graphicData uri="http://schemas.openxmlformats.org/drawingml/2006/table">
            <a:tbl>
              <a:tblPr firstRow="1" firstCol="1" bandRow="1">
                <a:tableStyleId>{BC89EF96-8CEA-46FF-86C4-4CE0E7609802}</a:tableStyleId>
              </a:tblPr>
              <a:tblGrid>
                <a:gridCol w="441158">
                  <a:extLst>
                    <a:ext uri="{9D8B030D-6E8A-4147-A177-3AD203B41FA5}">
                      <a16:colId xmlns:a16="http://schemas.microsoft.com/office/drawing/2014/main" val="3254615216"/>
                    </a:ext>
                  </a:extLst>
                </a:gridCol>
                <a:gridCol w="1384032">
                  <a:extLst>
                    <a:ext uri="{9D8B030D-6E8A-4147-A177-3AD203B41FA5}">
                      <a16:colId xmlns:a16="http://schemas.microsoft.com/office/drawing/2014/main" val="556449852"/>
                    </a:ext>
                  </a:extLst>
                </a:gridCol>
                <a:gridCol w="1680145">
                  <a:extLst>
                    <a:ext uri="{9D8B030D-6E8A-4147-A177-3AD203B41FA5}">
                      <a16:colId xmlns:a16="http://schemas.microsoft.com/office/drawing/2014/main" val="2774652637"/>
                    </a:ext>
                  </a:extLst>
                </a:gridCol>
                <a:gridCol w="1218929">
                  <a:extLst>
                    <a:ext uri="{9D8B030D-6E8A-4147-A177-3AD203B41FA5}">
                      <a16:colId xmlns:a16="http://schemas.microsoft.com/office/drawing/2014/main" val="470954700"/>
                    </a:ext>
                  </a:extLst>
                </a:gridCol>
                <a:gridCol w="1594582">
                  <a:extLst>
                    <a:ext uri="{9D8B030D-6E8A-4147-A177-3AD203B41FA5}">
                      <a16:colId xmlns:a16="http://schemas.microsoft.com/office/drawing/2014/main" val="3531857325"/>
                    </a:ext>
                  </a:extLst>
                </a:gridCol>
                <a:gridCol w="1910753">
                  <a:extLst>
                    <a:ext uri="{9D8B030D-6E8A-4147-A177-3AD203B41FA5}">
                      <a16:colId xmlns:a16="http://schemas.microsoft.com/office/drawing/2014/main" val="1242363683"/>
                    </a:ext>
                  </a:extLst>
                </a:gridCol>
              </a:tblGrid>
              <a:tr h="646625">
                <a:tc>
                  <a:txBody>
                    <a:bodyPr/>
                    <a:lstStyle/>
                    <a:p>
                      <a:pPr algn="ctr">
                        <a:buNone/>
                      </a:pPr>
                      <a:r>
                        <a:rPr lang="en-US" sz="1800" dirty="0">
                          <a:effectLst/>
                          <a:latin typeface="Times New Roman" panose="02020603050405020304" pitchFamily="18" charset="0"/>
                          <a:cs typeface="Times New Roman" panose="02020603050405020304" pitchFamily="18" charset="0"/>
                        </a:rPr>
                        <a:t>Sr. No.</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Approach Type</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Technologies Used</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Dataset</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Key Objective</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Limitations</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extLst>
                  <a:ext uri="{0D108BD9-81ED-4DB2-BD59-A6C34878D82A}">
                    <a16:rowId xmlns:a16="http://schemas.microsoft.com/office/drawing/2014/main" val="2642983439"/>
                  </a:ext>
                </a:extLst>
              </a:tr>
              <a:tr h="2140289">
                <a:tc>
                  <a:txBody>
                    <a:bodyPr/>
                    <a:lstStyle/>
                    <a:p>
                      <a:pPr algn="ctr">
                        <a:buNone/>
                      </a:pPr>
                      <a:r>
                        <a:rPr lang="en-US" sz="1800" b="0" dirty="0">
                          <a:effectLst/>
                          <a:latin typeface="Times New Roman" panose="02020603050405020304" pitchFamily="18" charset="0"/>
                          <a:cs typeface="Times New Roman" panose="02020603050405020304" pitchFamily="18" charset="0"/>
                        </a:rPr>
                        <a:t>10</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a:buNone/>
                      </a:pPr>
                      <a:r>
                        <a:rPr lang="en-IN" dirty="0">
                          <a:latin typeface="Times New Roman" panose="02020603050405020304" pitchFamily="18" charset="0"/>
                          <a:cs typeface="Times New Roman" panose="02020603050405020304" pitchFamily="18" charset="0"/>
                        </a:rPr>
                        <a:t>Occupancy-Based Power Management</a:t>
                      </a:r>
                    </a:p>
                  </a:txBody>
                  <a:tcPr anchor="ctr"/>
                </a:tc>
                <a:tc>
                  <a:txBody>
                    <a:bodyPr/>
                    <a:lstStyle/>
                    <a:p>
                      <a:pPr>
                        <a:buNone/>
                      </a:pPr>
                      <a:r>
                        <a:rPr lang="en-IN" dirty="0">
                          <a:latin typeface="Times New Roman" panose="02020603050405020304" pitchFamily="18" charset="0"/>
                          <a:cs typeface="Times New Roman" panose="02020603050405020304" pitchFamily="18" charset="0"/>
                        </a:rPr>
                        <a:t>Raspberry Pi, Python, CNN, Sensors, Relays</a:t>
                      </a:r>
                    </a:p>
                  </a:txBody>
                  <a:tcPr anchor="ctr"/>
                </a:tc>
                <a:tc>
                  <a:txBody>
                    <a:bodyPr/>
                    <a:lstStyle/>
                    <a:p>
                      <a:pPr>
                        <a:buNone/>
                      </a:pPr>
                      <a:r>
                        <a:rPr lang="en-IN">
                          <a:latin typeface="Times New Roman" panose="02020603050405020304" pitchFamily="18" charset="0"/>
                          <a:cs typeface="Times New Roman" panose="02020603050405020304" pitchFamily="18" charset="0"/>
                        </a:rPr>
                        <a:t>Room occupancy and sensor readings</a:t>
                      </a:r>
                    </a:p>
                  </a:txBody>
                  <a:tcPr anchor="ctr"/>
                </a:tc>
                <a:tc>
                  <a:txBody>
                    <a:bodyPr/>
                    <a:lstStyle/>
                    <a:p>
                      <a:pPr>
                        <a:buNone/>
                      </a:pPr>
                      <a:r>
                        <a:rPr lang="en-IN">
                          <a:latin typeface="Times New Roman" panose="02020603050405020304" pitchFamily="18" charset="0"/>
                          <a:cs typeface="Times New Roman" panose="02020603050405020304" pitchFamily="18" charset="0"/>
                        </a:rPr>
                        <a:t>To automatically control appliances and reduce electricity wastage.</a:t>
                      </a:r>
                    </a:p>
                  </a:txBody>
                  <a:tcPr anchor="ctr"/>
                </a:tc>
                <a:tc>
                  <a:txBody>
                    <a:bodyPr/>
                    <a:lstStyle/>
                    <a:p>
                      <a:pPr>
                        <a:buNone/>
                      </a:pPr>
                      <a:r>
                        <a:rPr lang="en-IN" dirty="0">
                          <a:latin typeface="Times New Roman" panose="02020603050405020304" pitchFamily="18" charset="0"/>
                          <a:cs typeface="Times New Roman" panose="02020603050405020304" pitchFamily="18" charset="0"/>
                        </a:rPr>
                        <a:t>Sensor errors and privacy concerns.</a:t>
                      </a:r>
                    </a:p>
                  </a:txBody>
                  <a:tcPr anchor="ctr"/>
                </a:tc>
                <a:extLst>
                  <a:ext uri="{0D108BD9-81ED-4DB2-BD59-A6C34878D82A}">
                    <a16:rowId xmlns:a16="http://schemas.microsoft.com/office/drawing/2014/main" val="1441612514"/>
                  </a:ext>
                </a:extLst>
              </a:tr>
              <a:tr h="1839549">
                <a:tc>
                  <a:txBody>
                    <a:bodyPr/>
                    <a:lstStyle/>
                    <a:p>
                      <a:pPr algn="ctr">
                        <a:buNone/>
                      </a:pPr>
                      <a:r>
                        <a:rPr lang="en-US" sz="1800" b="0" dirty="0">
                          <a:effectLst/>
                          <a:latin typeface="Times New Roman" panose="02020603050405020304" pitchFamily="18" charset="0"/>
                          <a:cs typeface="Times New Roman" panose="02020603050405020304" pitchFamily="18" charset="0"/>
                        </a:rPr>
                        <a:t>11</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a:buNone/>
                      </a:pPr>
                      <a:r>
                        <a:rPr lang="en-IN" dirty="0">
                          <a:latin typeface="Times New Roman" panose="02020603050405020304" pitchFamily="18" charset="0"/>
                          <a:cs typeface="Times New Roman" panose="02020603050405020304" pitchFamily="18" charset="0"/>
                        </a:rPr>
                        <a:t>IoT-Based Solar Energy Management</a:t>
                      </a:r>
                    </a:p>
                  </a:txBody>
                  <a:tcPr anchor="ctr"/>
                </a:tc>
                <a:tc>
                  <a:txBody>
                    <a:bodyPr/>
                    <a:lstStyle/>
                    <a:p>
                      <a:pPr>
                        <a:buNone/>
                      </a:pPr>
                      <a:r>
                        <a:rPr lang="en-IN">
                          <a:latin typeface="Times New Roman" panose="02020603050405020304" pitchFamily="18" charset="0"/>
                          <a:cs typeface="Times New Roman" panose="02020603050405020304" pitchFamily="18" charset="0"/>
                        </a:rPr>
                        <a:t>IoT, Solar PV, Sensors, Cloud Computing</a:t>
                      </a:r>
                    </a:p>
                  </a:txBody>
                  <a:tcPr anchor="ctr"/>
                </a:tc>
                <a:tc>
                  <a:txBody>
                    <a:bodyPr/>
                    <a:lstStyle/>
                    <a:p>
                      <a:pPr>
                        <a:buNone/>
                      </a:pPr>
                      <a:r>
                        <a:rPr lang="en-IN" dirty="0">
                          <a:latin typeface="Times New Roman" panose="02020603050405020304" pitchFamily="18" charset="0"/>
                          <a:cs typeface="Times New Roman" panose="02020603050405020304" pitchFamily="18" charset="0"/>
                        </a:rPr>
                        <a:t>Solar voltage, current, and energy-output data</a:t>
                      </a:r>
                    </a:p>
                  </a:txBody>
                  <a:tcPr anchor="ctr"/>
                </a:tc>
                <a:tc>
                  <a:txBody>
                    <a:bodyPr/>
                    <a:lstStyle/>
                    <a:p>
                      <a:pPr>
                        <a:buNone/>
                      </a:pPr>
                      <a:r>
                        <a:rPr lang="en-IN" dirty="0">
                          <a:latin typeface="Times New Roman" panose="02020603050405020304" pitchFamily="18" charset="0"/>
                          <a:cs typeface="Times New Roman" panose="02020603050405020304" pitchFamily="18" charset="0"/>
                        </a:rPr>
                        <a:t>To monitor solar power and improve energy management.</a:t>
                      </a:r>
                    </a:p>
                  </a:txBody>
                  <a:tcPr anchor="ctr"/>
                </a:tc>
                <a:tc>
                  <a:txBody>
                    <a:bodyPr/>
                    <a:lstStyle/>
                    <a:p>
                      <a:pPr>
                        <a:buNone/>
                      </a:pPr>
                      <a:r>
                        <a:rPr lang="en-IN" dirty="0">
                          <a:latin typeface="Times New Roman" panose="02020603050405020304" pitchFamily="18" charset="0"/>
                          <a:cs typeface="Times New Roman" panose="02020603050405020304" pitchFamily="18" charset="0"/>
                        </a:rPr>
                        <a:t>High initial cost, connectivity issues, and security risks.</a:t>
                      </a:r>
                    </a:p>
                  </a:txBody>
                  <a:tcPr anchor="ctr"/>
                </a:tc>
                <a:extLst>
                  <a:ext uri="{0D108BD9-81ED-4DB2-BD59-A6C34878D82A}">
                    <a16:rowId xmlns:a16="http://schemas.microsoft.com/office/drawing/2014/main" val="2857610317"/>
                  </a:ext>
                </a:extLst>
              </a:tr>
              <a:tr h="1538810">
                <a:tc>
                  <a:txBody>
                    <a:bodyPr/>
                    <a:lstStyle/>
                    <a:p>
                      <a:pPr algn="ctr">
                        <a:buNone/>
                      </a:pPr>
                      <a:r>
                        <a:rPr lang="en-US" sz="1800" b="0" dirty="0">
                          <a:effectLst/>
                          <a:latin typeface="Times New Roman" panose="02020603050405020304" pitchFamily="18" charset="0"/>
                          <a:cs typeface="Times New Roman" panose="02020603050405020304" pitchFamily="18" charset="0"/>
                        </a:rPr>
                        <a:t>12</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a:buNone/>
                      </a:pPr>
                      <a:r>
                        <a:rPr lang="en-IN" dirty="0">
                          <a:latin typeface="Times New Roman" panose="02020603050405020304" pitchFamily="18" charset="0"/>
                          <a:cs typeface="Times New Roman" panose="02020603050405020304" pitchFamily="18" charset="0"/>
                        </a:rPr>
                        <a:t>IoT-Based Energy Monitoring</a:t>
                      </a:r>
                    </a:p>
                  </a:txBody>
                  <a:tcPr anchor="ctr"/>
                </a:tc>
                <a:tc>
                  <a:txBody>
                    <a:bodyPr/>
                    <a:lstStyle/>
                    <a:p>
                      <a:pPr>
                        <a:buNone/>
                      </a:pPr>
                      <a:r>
                        <a:rPr lang="en-IN">
                          <a:latin typeface="Times New Roman" panose="02020603050405020304" pitchFamily="18" charset="0"/>
                          <a:cs typeface="Times New Roman" panose="02020603050405020304" pitchFamily="18" charset="0"/>
                        </a:rPr>
                        <a:t>Smart Meters, NodeMCU, Wi-Fi, Cloud Software</a:t>
                      </a:r>
                    </a:p>
                  </a:txBody>
                  <a:tcPr anchor="ctr"/>
                </a:tc>
                <a:tc>
                  <a:txBody>
                    <a:bodyPr/>
                    <a:lstStyle/>
                    <a:p>
                      <a:pPr>
                        <a:buNone/>
                      </a:pPr>
                      <a:r>
                        <a:rPr lang="en-IN">
                          <a:latin typeface="Times New Roman" panose="02020603050405020304" pitchFamily="18" charset="0"/>
                          <a:cs typeface="Times New Roman" panose="02020603050405020304" pitchFamily="18" charset="0"/>
                        </a:rPr>
                        <a:t>Real-time and historical electricity consumption data</a:t>
                      </a:r>
                    </a:p>
                  </a:txBody>
                  <a:tcPr anchor="ctr"/>
                </a:tc>
                <a:tc>
                  <a:txBody>
                    <a:bodyPr/>
                    <a:lstStyle/>
                    <a:p>
                      <a:pPr>
                        <a:buNone/>
                      </a:pPr>
                      <a:r>
                        <a:rPr lang="en-IN">
                          <a:latin typeface="Times New Roman" panose="02020603050405020304" pitchFamily="18" charset="0"/>
                          <a:cs typeface="Times New Roman" panose="02020603050405020304" pitchFamily="18" charset="0"/>
                        </a:rPr>
                        <a:t>To monitor electricity usage and identify energy wastage.</a:t>
                      </a:r>
                    </a:p>
                  </a:txBody>
                  <a:tcPr anchor="ctr"/>
                </a:tc>
                <a:tc>
                  <a:txBody>
                    <a:bodyPr/>
                    <a:lstStyle/>
                    <a:p>
                      <a:pPr>
                        <a:buNone/>
                      </a:pPr>
                      <a:r>
                        <a:rPr lang="en-IN" dirty="0">
                          <a:latin typeface="Times New Roman" panose="02020603050405020304" pitchFamily="18" charset="0"/>
                          <a:cs typeface="Times New Roman" panose="02020603050405020304" pitchFamily="18" charset="0"/>
                        </a:rPr>
                        <a:t>Depends on connectivity and suitable hardware.</a:t>
                      </a:r>
                    </a:p>
                  </a:txBody>
                  <a:tcPr anchor="ctr"/>
                </a:tc>
                <a:extLst>
                  <a:ext uri="{0D108BD9-81ED-4DB2-BD59-A6C34878D82A}">
                    <a16:rowId xmlns:a16="http://schemas.microsoft.com/office/drawing/2014/main" val="2200289591"/>
                  </a:ext>
                </a:extLst>
              </a:tr>
            </a:tbl>
          </a:graphicData>
        </a:graphic>
      </p:graphicFrame>
    </p:spTree>
    <p:extLst>
      <p:ext uri="{BB962C8B-B14F-4D97-AF65-F5344CB8AC3E}">
        <p14:creationId xmlns:p14="http://schemas.microsoft.com/office/powerpoint/2010/main" val="1959362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18"/>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sz="4000" dirty="0">
                <a:solidFill>
                  <a:srgbClr val="002060"/>
                </a:solidFill>
                <a:latin typeface="Times New Roman" panose="02020603050405020304" pitchFamily="18" charset="0"/>
                <a:cs typeface="Times New Roman" panose="02020603050405020304" pitchFamily="18" charset="0"/>
              </a:rPr>
              <a:t>3. Information to Seminar Topic</a:t>
            </a:r>
            <a:endParaRPr sz="4000" dirty="0">
              <a:solidFill>
                <a:srgbClr val="002060"/>
              </a:solidFill>
              <a:latin typeface="Times New Roman" panose="02020603050405020304" pitchFamily="18" charset="0"/>
              <a:cs typeface="Times New Roman" panose="02020603050405020304" pitchFamily="18" charset="0"/>
            </a:endParaRPr>
          </a:p>
        </p:txBody>
      </p:sp>
      <p:sp>
        <p:nvSpPr>
          <p:cNvPr id="539" name="Google Shape;539;p18"/>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lgn="just">
              <a:spcBef>
                <a:spcPts val="0"/>
              </a:spcBef>
              <a:buSzPts val="3200"/>
              <a:buNone/>
            </a:pPr>
            <a:endParaRPr lang="en-US" sz="1800" dirty="0">
              <a:latin typeface="Times New Roman" panose="02020603050405020304" pitchFamily="18" charset="0"/>
              <a:cs typeface="Times New Roman" panose="02020603050405020304" pitchFamily="18" charset="0"/>
            </a:endParaRPr>
          </a:p>
          <a:p>
            <a:pPr marL="342900" lvl="0" indent="-139700" algn="just">
              <a:spcBef>
                <a:spcPts val="0"/>
              </a:spcBef>
              <a:buSzPts val="3200"/>
              <a:buNone/>
            </a:pPr>
            <a:endParaRPr lang="en-US" sz="1800" dirty="0">
              <a:latin typeface="Times New Roman" panose="02020603050405020304" pitchFamily="18" charset="0"/>
              <a:cs typeface="Times New Roman" panose="02020603050405020304" pitchFamily="18" charset="0"/>
            </a:endParaRPr>
          </a:p>
          <a:p>
            <a:pPr marL="546100" algn="just">
              <a:spcBef>
                <a:spcPts val="0"/>
              </a:spcBef>
              <a:buSzPct val="100000"/>
            </a:pPr>
            <a:r>
              <a:rPr lang="en-US" sz="1800" b="1" dirty="0">
                <a:latin typeface="Times New Roman" panose="02020603050405020304" pitchFamily="18" charset="0"/>
                <a:cs typeface="Times New Roman" panose="02020603050405020304" pitchFamily="18" charset="0"/>
              </a:rPr>
              <a:t>Technology: </a:t>
            </a:r>
            <a:r>
              <a:rPr lang="en-US" sz="1800" dirty="0">
                <a:latin typeface="Times New Roman" panose="02020603050405020304" pitchFamily="18" charset="0"/>
                <a:cs typeface="Times New Roman" panose="02020603050405020304" pitchFamily="18" charset="0"/>
              </a:rPr>
              <a:t>Internet of Things (IoT), Sensors, Microcontrollers and Smart Energy Monitoring.</a:t>
            </a:r>
          </a:p>
          <a:p>
            <a:pPr marL="317500" indent="0" algn="just">
              <a:spcBef>
                <a:spcPts val="0"/>
              </a:spcBef>
              <a:buSzPct val="100000"/>
              <a:buNone/>
            </a:pPr>
            <a:endParaRPr lang="en-US" sz="1800" dirty="0">
              <a:latin typeface="Times New Roman" panose="02020603050405020304" pitchFamily="18" charset="0"/>
              <a:cs typeface="Times New Roman" panose="02020603050405020304" pitchFamily="18" charset="0"/>
            </a:endParaRPr>
          </a:p>
          <a:p>
            <a:pPr marL="546100" algn="just">
              <a:spcBef>
                <a:spcPts val="0"/>
              </a:spcBef>
              <a:buSzPct val="100000"/>
            </a:pPr>
            <a:r>
              <a:rPr lang="en-US" sz="1800" b="1" dirty="0">
                <a:latin typeface="Times New Roman" panose="02020603050405020304" pitchFamily="18" charset="0"/>
                <a:cs typeface="Times New Roman" panose="02020603050405020304" pitchFamily="18" charset="0"/>
              </a:rPr>
              <a:t>Main purpose: </a:t>
            </a:r>
            <a:r>
              <a:rPr lang="en-US" sz="1800" dirty="0">
                <a:latin typeface="Times New Roman" panose="02020603050405020304" pitchFamily="18" charset="0"/>
                <a:cs typeface="Times New Roman" panose="02020603050405020304" pitchFamily="18" charset="0"/>
              </a:rPr>
              <a:t>To monitor and manage electricity consumption efficiently and reduce unnecessary energy wastage.</a:t>
            </a:r>
          </a:p>
          <a:p>
            <a:pPr marL="546100" algn="just">
              <a:spcBef>
                <a:spcPts val="0"/>
              </a:spcBef>
              <a:buSzPct val="100000"/>
            </a:pPr>
            <a:endParaRPr lang="en-US" sz="1800" b="1" dirty="0">
              <a:latin typeface="Times New Roman" panose="02020603050405020304" pitchFamily="18" charset="0"/>
              <a:cs typeface="Times New Roman" panose="02020603050405020304" pitchFamily="18" charset="0"/>
            </a:endParaRPr>
          </a:p>
          <a:p>
            <a:pPr marL="546100" algn="just">
              <a:spcBef>
                <a:spcPts val="0"/>
              </a:spcBef>
              <a:buSzPct val="100000"/>
            </a:pPr>
            <a:r>
              <a:rPr lang="en-US" sz="1800" b="1" dirty="0">
                <a:latin typeface="Times New Roman" panose="02020603050405020304" pitchFamily="18" charset="0"/>
                <a:cs typeface="Times New Roman" panose="02020603050405020304" pitchFamily="18" charset="0"/>
              </a:rPr>
              <a:t>Key concept: </a:t>
            </a:r>
            <a:r>
              <a:rPr lang="en-US" sz="1800" dirty="0">
                <a:latin typeface="Times New Roman" panose="02020603050405020304" pitchFamily="18" charset="0"/>
                <a:cs typeface="Times New Roman" panose="02020603050405020304" pitchFamily="18" charset="0"/>
              </a:rPr>
              <a:t>Real-time monitoring of power usage and efficient control of electrical appliances.</a:t>
            </a:r>
          </a:p>
          <a:p>
            <a:pPr marL="203200" indent="0" algn="just">
              <a:spcBef>
                <a:spcPts val="0"/>
              </a:spcBef>
              <a:buSzPct val="100000"/>
              <a:buNone/>
            </a:pPr>
            <a:endParaRPr lang="en-US" sz="1800" dirty="0">
              <a:latin typeface="Times New Roman" panose="02020603050405020304" pitchFamily="18" charset="0"/>
              <a:cs typeface="Times New Roman" panose="02020603050405020304" pitchFamily="18" charset="0"/>
            </a:endParaRPr>
          </a:p>
          <a:p>
            <a:pPr marL="546100" algn="just">
              <a:spcBef>
                <a:spcPts val="0"/>
              </a:spcBef>
              <a:buSzPct val="100000"/>
            </a:pPr>
            <a:r>
              <a:rPr lang="en-US" sz="1800" b="1" dirty="0">
                <a:latin typeface="Times New Roman" panose="02020603050405020304" pitchFamily="18" charset="0"/>
                <a:cs typeface="Times New Roman" panose="02020603050405020304" pitchFamily="18" charset="0"/>
              </a:rPr>
              <a:t>Approach: </a:t>
            </a:r>
            <a:r>
              <a:rPr lang="en-US" sz="1800" dirty="0">
                <a:latin typeface="Times New Roman" panose="02020603050405020304" pitchFamily="18" charset="0"/>
                <a:cs typeface="Times New Roman" panose="02020603050405020304" pitchFamily="18" charset="0"/>
              </a:rPr>
              <a:t>Uses sensors, smart meters and microcontrollers to monitor electricity consumption and support better energy management.</a:t>
            </a:r>
          </a:p>
          <a:p>
            <a:pPr marL="317500" indent="0" algn="just">
              <a:spcBef>
                <a:spcPts val="0"/>
              </a:spcBef>
              <a:buSzPct val="100000"/>
              <a:buNone/>
            </a:pPr>
            <a:endParaRPr lang="en-US" sz="1800" dirty="0">
              <a:latin typeface="Times New Roman" panose="02020603050405020304" pitchFamily="18" charset="0"/>
              <a:cs typeface="Times New Roman" panose="02020603050405020304" pitchFamily="18" charset="0"/>
            </a:endParaRPr>
          </a:p>
          <a:p>
            <a:pPr marL="546100" algn="just">
              <a:spcBef>
                <a:spcPts val="0"/>
              </a:spcBef>
              <a:buSzPct val="100000"/>
            </a:pPr>
            <a:r>
              <a:rPr lang="en-US" sz="1800" b="1" dirty="0">
                <a:latin typeface="Times New Roman" panose="02020603050405020304" pitchFamily="18" charset="0"/>
                <a:cs typeface="Times New Roman" panose="02020603050405020304" pitchFamily="18" charset="0"/>
              </a:rPr>
              <a:t>Main benefit: </a:t>
            </a:r>
            <a:r>
              <a:rPr lang="en-US" sz="1800" dirty="0">
                <a:latin typeface="Times New Roman" panose="02020603050405020304" pitchFamily="18" charset="0"/>
                <a:cs typeface="Times New Roman" panose="02020603050405020304" pitchFamily="18" charset="0"/>
              </a:rPr>
              <a:t>Reduces energy wastage, lowers electricity costs and improves energy efficiency.</a:t>
            </a:r>
          </a:p>
          <a:p>
            <a:pPr marL="317500" indent="0" algn="just">
              <a:spcBef>
                <a:spcPts val="0"/>
              </a:spcBef>
              <a:buSzPct val="100000"/>
              <a:buNone/>
            </a:pPr>
            <a:endParaRPr lang="en-US" sz="1800" b="1" dirty="0">
              <a:latin typeface="Times New Roman" panose="02020603050405020304" pitchFamily="18" charset="0"/>
              <a:cs typeface="Times New Roman" panose="02020603050405020304" pitchFamily="18" charset="0"/>
            </a:endParaRPr>
          </a:p>
          <a:p>
            <a:pPr marL="546100" algn="just">
              <a:spcBef>
                <a:spcPts val="0"/>
              </a:spcBef>
              <a:buSzPct val="100000"/>
            </a:pPr>
            <a:r>
              <a:rPr lang="en-US" sz="1800" b="1" dirty="0">
                <a:latin typeface="Times New Roman" panose="02020603050405020304" pitchFamily="18" charset="0"/>
                <a:cs typeface="Times New Roman" panose="02020603050405020304" pitchFamily="18" charset="0"/>
              </a:rPr>
              <a:t>Applications: </a:t>
            </a:r>
            <a:r>
              <a:rPr lang="en-US" sz="1800" dirty="0">
                <a:latin typeface="Times New Roman" panose="02020603050405020304" pitchFamily="18" charset="0"/>
                <a:cs typeface="Times New Roman" panose="02020603050405020304" pitchFamily="18" charset="0"/>
              </a:rPr>
              <a:t>Smart homes, offices, colleges, industries, hospitals and commercial buildings.</a:t>
            </a:r>
            <a:endParaRPr sz="1800" b="1" dirty="0">
              <a:latin typeface="Times New Roman" panose="02020603050405020304" pitchFamily="18" charset="0"/>
              <a:cs typeface="Times New Roman" panose="02020603050405020304" pitchFamily="18" charset="0"/>
            </a:endParaRPr>
          </a:p>
        </p:txBody>
      </p:sp>
      <p:sp>
        <p:nvSpPr>
          <p:cNvPr id="540" name="Google Shape;540;p18"/>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531206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19"/>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sz="4000" dirty="0">
                <a:solidFill>
                  <a:srgbClr val="002060"/>
                </a:solidFill>
                <a:latin typeface="Times New Roman" panose="02020603050405020304" pitchFamily="18" charset="0"/>
                <a:cs typeface="Times New Roman" panose="02020603050405020304" pitchFamily="18" charset="0"/>
              </a:rPr>
              <a:t>4. Advantages / Disadvantages</a:t>
            </a:r>
            <a:endParaRPr sz="4000" dirty="0">
              <a:solidFill>
                <a:srgbClr val="002060"/>
              </a:solidFill>
              <a:latin typeface="Times New Roman" panose="02020603050405020304" pitchFamily="18" charset="0"/>
              <a:cs typeface="Times New Roman" panose="02020603050405020304" pitchFamily="18" charset="0"/>
            </a:endParaRPr>
          </a:p>
        </p:txBody>
      </p:sp>
      <p:sp>
        <p:nvSpPr>
          <p:cNvPr id="546" name="Google Shape;546;p19"/>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lgn="just" rtl="0">
              <a:spcBef>
                <a:spcPts val="0"/>
              </a:spcBef>
              <a:spcAft>
                <a:spcPts val="0"/>
              </a:spcAft>
              <a:buClr>
                <a:schemeClr val="dk1"/>
              </a:buClr>
              <a:buSzPts val="3200"/>
              <a:buNone/>
            </a:pPr>
            <a:endParaRPr lang="en-IN" sz="2000" b="1" dirty="0">
              <a:latin typeface="Times New Roman" panose="02020603050405020304" pitchFamily="18" charset="0"/>
              <a:cs typeface="Times New Roman" panose="02020603050405020304" pitchFamily="18" charset="0"/>
            </a:endParaRPr>
          </a:p>
          <a:p>
            <a:pPr marL="342900" lvl="0" indent="-139700" algn="just" rtl="0">
              <a:spcBef>
                <a:spcPts val="0"/>
              </a:spcBef>
              <a:spcAft>
                <a:spcPts val="0"/>
              </a:spcAft>
              <a:buClr>
                <a:schemeClr val="dk1"/>
              </a:buClr>
              <a:buSzPts val="3200"/>
              <a:buNone/>
            </a:pPr>
            <a:r>
              <a:rPr lang="en-IN" sz="2000" b="1" dirty="0">
                <a:latin typeface="Times New Roman" panose="02020603050405020304" pitchFamily="18" charset="0"/>
                <a:cs typeface="Times New Roman" panose="02020603050405020304" pitchFamily="18" charset="0"/>
              </a:rPr>
              <a:t>Advantages:</a:t>
            </a:r>
          </a:p>
          <a:p>
            <a:pPr algn="just"/>
            <a:r>
              <a:rPr lang="en-IN" sz="1800" dirty="0">
                <a:latin typeface="Times New Roman" panose="02020603050405020304" pitchFamily="18" charset="0"/>
                <a:cs typeface="Times New Roman" panose="02020603050405020304" pitchFamily="18" charset="0"/>
              </a:rPr>
              <a:t>Reduces unnecessary electricity consumption</a:t>
            </a:r>
            <a:r>
              <a:rPr lang="en-US" sz="1800" dirty="0">
                <a:latin typeface="Times New Roman" panose="02020603050405020304" pitchFamily="18" charset="0"/>
                <a:cs typeface="Times New Roman" panose="02020603050405020304" pitchFamily="18" charset="0"/>
              </a:rPr>
              <a:t>.</a:t>
            </a:r>
          </a:p>
          <a:p>
            <a:pPr algn="just"/>
            <a:r>
              <a:rPr lang="en-IN" sz="1800" dirty="0">
                <a:latin typeface="Times New Roman" panose="02020603050405020304" pitchFamily="18" charset="0"/>
                <a:cs typeface="Times New Roman" panose="02020603050405020304" pitchFamily="18" charset="0"/>
              </a:rPr>
              <a:t>Helps lower electricity bills.</a:t>
            </a:r>
          </a:p>
          <a:p>
            <a:pPr algn="just"/>
            <a:r>
              <a:rPr lang="en-US" sz="1800" dirty="0">
                <a:latin typeface="Times New Roman" panose="02020603050405020304" pitchFamily="18" charset="0"/>
                <a:cs typeface="Times New Roman" panose="02020603050405020304" pitchFamily="18" charset="0"/>
              </a:rPr>
              <a:t>Monitors power usage in real time.</a:t>
            </a:r>
          </a:p>
          <a:p>
            <a:pPr algn="just"/>
            <a:r>
              <a:rPr lang="en-US" sz="1800" dirty="0">
                <a:latin typeface="Times New Roman" panose="02020603050405020304" pitchFamily="18" charset="0"/>
                <a:cs typeface="Times New Roman" panose="02020603050405020304" pitchFamily="18" charset="0"/>
              </a:rPr>
              <a:t>Supports automatic control of electrical appliances.</a:t>
            </a:r>
          </a:p>
          <a:p>
            <a:pPr algn="just"/>
            <a:r>
              <a:rPr lang="en-US" sz="1800" dirty="0">
                <a:latin typeface="Times New Roman" panose="02020603050405020304" pitchFamily="18" charset="0"/>
                <a:cs typeface="Times New Roman" panose="02020603050405020304" pitchFamily="18" charset="0"/>
              </a:rPr>
              <a:t>Promotes energy conservation and sustainability.</a:t>
            </a:r>
          </a:p>
          <a:p>
            <a:pPr marL="342900" lvl="0" indent="-139700" algn="just" rtl="0">
              <a:spcBef>
                <a:spcPts val="0"/>
              </a:spcBef>
              <a:spcAft>
                <a:spcPts val="0"/>
              </a:spcAft>
              <a:buClr>
                <a:schemeClr val="dk1"/>
              </a:buClr>
              <a:buSzPts val="3200"/>
              <a:buNone/>
            </a:pPr>
            <a:endParaRPr lang="en-IN" sz="1800" b="1" dirty="0">
              <a:latin typeface="Times New Roman" panose="02020603050405020304" pitchFamily="18" charset="0"/>
              <a:cs typeface="Times New Roman" panose="02020603050405020304" pitchFamily="18" charset="0"/>
            </a:endParaRPr>
          </a:p>
          <a:p>
            <a:pPr marL="342900" indent="-139700" algn="just">
              <a:spcBef>
                <a:spcPts val="0"/>
              </a:spcBef>
              <a:buClr>
                <a:schemeClr val="dk1"/>
              </a:buClr>
              <a:buSzPts val="3200"/>
              <a:buNone/>
            </a:pPr>
            <a:r>
              <a:rPr lang="en-IN" sz="2000" b="1" dirty="0">
                <a:latin typeface="Times New Roman" panose="02020603050405020304" pitchFamily="18" charset="0"/>
                <a:cs typeface="Times New Roman" panose="02020603050405020304" pitchFamily="18" charset="0"/>
              </a:rPr>
              <a:t>Disadvantages:</a:t>
            </a:r>
          </a:p>
          <a:p>
            <a:pPr algn="just"/>
            <a:r>
              <a:rPr lang="en-US" sz="1800" dirty="0">
                <a:latin typeface="Times New Roman" panose="02020603050405020304" pitchFamily="18" charset="0"/>
                <a:cs typeface="Times New Roman" panose="02020603050405020304" pitchFamily="18" charset="0"/>
              </a:rPr>
              <a:t>Requires high initial installation costs.</a:t>
            </a:r>
          </a:p>
          <a:p>
            <a:pPr algn="just"/>
            <a:r>
              <a:rPr lang="en-US" sz="1800" dirty="0">
                <a:latin typeface="Times New Roman" panose="02020603050405020304" pitchFamily="18" charset="0"/>
                <a:cs typeface="Times New Roman" panose="02020603050405020304" pitchFamily="18" charset="0"/>
              </a:rPr>
              <a:t>Depends on internet connectivity for IoT features.</a:t>
            </a:r>
          </a:p>
          <a:p>
            <a:pPr algn="just"/>
            <a:r>
              <a:rPr lang="en-IN" sz="1800" dirty="0">
                <a:latin typeface="Times New Roman" panose="02020603050405020304" pitchFamily="18" charset="0"/>
                <a:cs typeface="Times New Roman" panose="02020603050405020304" pitchFamily="18" charset="0"/>
              </a:rPr>
              <a:t>Requires regular maintenance.</a:t>
            </a:r>
          </a:p>
          <a:p>
            <a:pPr algn="just"/>
            <a:r>
              <a:rPr lang="en-US" sz="1800" dirty="0">
                <a:latin typeface="Times New Roman" panose="02020603050405020304" pitchFamily="18" charset="0"/>
                <a:cs typeface="Times New Roman" panose="02020603050405020304" pitchFamily="18" charset="0"/>
              </a:rPr>
              <a:t>May face cybersecurity and data privacy risks.</a:t>
            </a:r>
          </a:p>
          <a:p>
            <a:pPr algn="just"/>
            <a:r>
              <a:rPr lang="en-US" sz="1800" dirty="0">
                <a:latin typeface="Times New Roman" panose="02020603050405020304" pitchFamily="18" charset="0"/>
                <a:cs typeface="Times New Roman" panose="02020603050405020304" pitchFamily="18" charset="0"/>
              </a:rPr>
              <a:t>Requires technical knowledge for installation and troubleshooting.</a:t>
            </a:r>
            <a:endParaRPr lang="en-IN" sz="2000" b="1" dirty="0">
              <a:latin typeface="Times New Roman" panose="02020603050405020304" pitchFamily="18" charset="0"/>
              <a:cs typeface="Times New Roman" panose="02020603050405020304" pitchFamily="18" charset="0"/>
            </a:endParaRPr>
          </a:p>
        </p:txBody>
      </p:sp>
      <p:sp>
        <p:nvSpPr>
          <p:cNvPr id="547" name="Google Shape;547;p19"/>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34681396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20"/>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sz="4000" dirty="0">
                <a:solidFill>
                  <a:srgbClr val="002060"/>
                </a:solidFill>
                <a:latin typeface="Times New Roman" panose="02020603050405020304" pitchFamily="18" charset="0"/>
                <a:cs typeface="Times New Roman" panose="02020603050405020304" pitchFamily="18" charset="0"/>
              </a:rPr>
              <a:t>5. Conclusion</a:t>
            </a:r>
            <a:endParaRPr sz="4000" dirty="0">
              <a:solidFill>
                <a:srgbClr val="002060"/>
              </a:solidFill>
              <a:latin typeface="Times New Roman" panose="02020603050405020304" pitchFamily="18" charset="0"/>
              <a:cs typeface="Times New Roman" panose="02020603050405020304" pitchFamily="18" charset="0"/>
            </a:endParaRPr>
          </a:p>
        </p:txBody>
      </p:sp>
      <p:sp>
        <p:nvSpPr>
          <p:cNvPr id="553" name="Google Shape;553;p20"/>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lgn="just">
              <a:spcBef>
                <a:spcPts val="0"/>
              </a:spcBef>
              <a:buClr>
                <a:schemeClr val="dk1"/>
              </a:buClr>
              <a:buSzPts val="3200"/>
              <a:buNone/>
            </a:pPr>
            <a:endParaRPr lang="en-US" sz="1800" dirty="0">
              <a:latin typeface="Times New Roman" panose="02020603050405020304" pitchFamily="18" charset="0"/>
              <a:cs typeface="Times New Roman" panose="02020603050405020304" pitchFamily="18" charset="0"/>
            </a:endParaRPr>
          </a:p>
          <a:p>
            <a:pPr marL="342900" lvl="0" indent="-139700" algn="just">
              <a:spcBef>
                <a:spcPts val="0"/>
              </a:spcBef>
              <a:buClr>
                <a:schemeClr val="dk1"/>
              </a:buClr>
              <a:buSzPts val="3200"/>
              <a:buNone/>
            </a:pPr>
            <a:r>
              <a:rPr lang="en-US" sz="1800" dirty="0">
                <a:latin typeface="Times New Roman" panose="02020603050405020304" pitchFamily="18" charset="0"/>
                <a:cs typeface="Times New Roman" panose="02020603050405020304" pitchFamily="18" charset="0"/>
              </a:rPr>
              <a:t>		</a:t>
            </a:r>
          </a:p>
          <a:p>
            <a:pPr marL="342900" lvl="0" indent="-139700" algn="just">
              <a:spcBef>
                <a:spcPts val="0"/>
              </a:spcBef>
              <a:buClr>
                <a:schemeClr val="dk1"/>
              </a:buClr>
              <a:buSzPts val="3200"/>
              <a:buNone/>
            </a:pPr>
            <a:r>
              <a:rPr lang="en-US" sz="1800" dirty="0">
                <a:latin typeface="Times New Roman" panose="02020603050405020304" pitchFamily="18" charset="0"/>
                <a:cs typeface="Times New Roman" panose="02020603050405020304" pitchFamily="18" charset="0"/>
              </a:rPr>
              <a:t>		Smart Power Management is an effective approach to monitoring and managing electricity consumption. It uses smart technologies to identify energy usage, reduce unnecessary wastage, and improve the efficiency of electrical appliances. It also helps lower electricity bills and supports better power utilization. Overall, Smart Power Management promotes energy conservation, reduces environmental impact, and contributes to a smarter and more sustainable future.</a:t>
            </a:r>
            <a:endParaRPr sz="1800" dirty="0">
              <a:latin typeface="Times New Roman" panose="02020603050405020304" pitchFamily="18" charset="0"/>
              <a:cs typeface="Times New Roman" panose="02020603050405020304" pitchFamily="18" charset="0"/>
            </a:endParaRPr>
          </a:p>
        </p:txBody>
      </p:sp>
      <p:sp>
        <p:nvSpPr>
          <p:cNvPr id="554" name="Google Shape;554;p20"/>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11</a:t>
            </a:fld>
            <a:endParaRPr/>
          </a:p>
        </p:txBody>
      </p:sp>
      <p:pic>
        <p:nvPicPr>
          <p:cNvPr id="3" name="Picture 2">
            <a:extLst>
              <a:ext uri="{FF2B5EF4-FFF2-40B4-BE49-F238E27FC236}">
                <a16:creationId xmlns:a16="http://schemas.microsoft.com/office/drawing/2014/main" id="{FE6F8DBF-B3B5-22B7-A206-D4D957E25C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0671" y="3197525"/>
            <a:ext cx="4270076" cy="2846718"/>
          </a:xfrm>
          <a:prstGeom prst="rect">
            <a:avLst/>
          </a:prstGeom>
        </p:spPr>
      </p:pic>
    </p:spTree>
    <p:extLst>
      <p:ext uri="{BB962C8B-B14F-4D97-AF65-F5344CB8AC3E}">
        <p14:creationId xmlns:p14="http://schemas.microsoft.com/office/powerpoint/2010/main" val="2738317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21"/>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sz="4000" dirty="0">
                <a:solidFill>
                  <a:srgbClr val="002060"/>
                </a:solidFill>
                <a:latin typeface="Times New Roman" panose="02020603050405020304" pitchFamily="18" charset="0"/>
                <a:cs typeface="Times New Roman" panose="02020603050405020304" pitchFamily="18" charset="0"/>
              </a:rPr>
              <a:t>6. Project Initiation</a:t>
            </a:r>
            <a:endParaRPr sz="4000" dirty="0">
              <a:solidFill>
                <a:srgbClr val="002060"/>
              </a:solidFill>
              <a:latin typeface="Times New Roman" panose="02020603050405020304" pitchFamily="18" charset="0"/>
              <a:cs typeface="Times New Roman" panose="02020603050405020304" pitchFamily="18" charset="0"/>
            </a:endParaRPr>
          </a:p>
        </p:txBody>
      </p:sp>
      <p:sp>
        <p:nvSpPr>
          <p:cNvPr id="560" name="Google Shape;560;p21"/>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lgn="just">
              <a:spcBef>
                <a:spcPts val="0"/>
              </a:spcBef>
              <a:buClr>
                <a:schemeClr val="dk1"/>
              </a:buClr>
              <a:buSzPts val="3200"/>
              <a:buNone/>
            </a:pPr>
            <a:endParaRPr lang="en-US" sz="1800" dirty="0"/>
          </a:p>
          <a:p>
            <a:pPr marL="342900" lvl="0" indent="-139700" algn="just">
              <a:spcBef>
                <a:spcPts val="0"/>
              </a:spcBef>
              <a:buClr>
                <a:schemeClr val="dk1"/>
              </a:buClr>
              <a:buSzPts val="3200"/>
              <a:buNone/>
            </a:pPr>
            <a:endParaRPr lang="en-US" sz="1800" dirty="0"/>
          </a:p>
          <a:p>
            <a:pPr marL="342900" lvl="0" indent="-139700" algn="just">
              <a:spcBef>
                <a:spcPts val="0"/>
              </a:spcBef>
              <a:buClr>
                <a:schemeClr val="dk1"/>
              </a:buClr>
              <a:buSzPts val="3200"/>
              <a:buNone/>
            </a:pPr>
            <a:endParaRPr lang="en-US" sz="1800" dirty="0"/>
          </a:p>
          <a:p>
            <a:pPr marL="342900" lvl="0" indent="-139700" algn="just">
              <a:lnSpc>
                <a:spcPct val="100000"/>
              </a:lnSpc>
              <a:spcBef>
                <a:spcPts val="0"/>
              </a:spcBef>
              <a:buClr>
                <a:schemeClr val="dk1"/>
              </a:buClr>
              <a:buSzPts val="3200"/>
              <a:buNone/>
            </a:pPr>
            <a:r>
              <a:rPr lang="en-US" sz="1800" dirty="0"/>
              <a:t>		</a:t>
            </a:r>
            <a:r>
              <a:rPr lang="en-US" sz="1800" dirty="0">
                <a:latin typeface="Times New Roman" panose="02020603050405020304" pitchFamily="18" charset="0"/>
                <a:cs typeface="Times New Roman" panose="02020603050405020304" pitchFamily="18" charset="0"/>
              </a:rPr>
              <a:t>The Smart Power Management project was developed to address the problem of unnecessary electricity consumption and energy wastage in homes, offices, and other buildings. Traditional power management methods may not provide efficient real-time monitoring and control of electricity usage.</a:t>
            </a:r>
          </a:p>
          <a:p>
            <a:pPr marL="342900" lvl="0" indent="-139700" algn="just">
              <a:lnSpc>
                <a:spcPct val="100000"/>
              </a:lnSpc>
              <a:spcBef>
                <a:spcPts val="0"/>
              </a:spcBef>
              <a:buClr>
                <a:schemeClr val="dk1"/>
              </a:buClr>
              <a:buSzPts val="3200"/>
              <a:buNone/>
            </a:pPr>
            <a:endParaRPr lang="en-US" sz="1800" dirty="0">
              <a:latin typeface="Times New Roman" panose="02020603050405020304" pitchFamily="18" charset="0"/>
              <a:cs typeface="Times New Roman" panose="02020603050405020304" pitchFamily="18" charset="0"/>
            </a:endParaRPr>
          </a:p>
          <a:p>
            <a:pPr marL="342900" lvl="0" indent="-139700" algn="just">
              <a:lnSpc>
                <a:spcPct val="100000"/>
              </a:lnSpc>
              <a:spcBef>
                <a:spcPts val="0"/>
              </a:spcBef>
              <a:buClr>
                <a:schemeClr val="dk1"/>
              </a:buClr>
              <a:buSzPts val="3200"/>
              <a:buNone/>
            </a:pPr>
            <a:endParaRPr lang="en-US" sz="1800" dirty="0">
              <a:latin typeface="Times New Roman" panose="02020603050405020304" pitchFamily="18" charset="0"/>
              <a:cs typeface="Times New Roman" panose="02020603050405020304" pitchFamily="18" charset="0"/>
            </a:endParaRPr>
          </a:p>
          <a:p>
            <a:pPr marL="342900" lvl="0" indent="-139700" algn="just">
              <a:lnSpc>
                <a:spcPct val="100000"/>
              </a:lnSpc>
              <a:spcBef>
                <a:spcPts val="0"/>
              </a:spcBef>
              <a:buClr>
                <a:schemeClr val="dk1"/>
              </a:buClr>
              <a:buSzPts val="3200"/>
              <a:buNone/>
            </a:pPr>
            <a:r>
              <a:rPr lang="en-US" sz="1800" dirty="0">
                <a:latin typeface="Times New Roman" panose="02020603050405020304" pitchFamily="18" charset="0"/>
                <a:cs typeface="Times New Roman" panose="02020603050405020304" pitchFamily="18" charset="0"/>
              </a:rPr>
              <a:t>		The project aims to monitor power consumption using smart meters, sensors, microcontrollers, and IoT technology. It helps identify unnecessary energy usage and supports efficient management of electrical appliances. As a result, the system aims to reduce electricity bills, improve energy efficiency, and promote energy conservation for a smarter and more sustainable future.</a:t>
            </a:r>
            <a:endParaRPr sz="1800" dirty="0">
              <a:latin typeface="Times New Roman" panose="02020603050405020304" pitchFamily="18" charset="0"/>
              <a:cs typeface="Times New Roman" panose="02020603050405020304" pitchFamily="18" charset="0"/>
            </a:endParaRPr>
          </a:p>
        </p:txBody>
      </p:sp>
      <p:sp>
        <p:nvSpPr>
          <p:cNvPr id="561" name="Google Shape;561;p21"/>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22734957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22"/>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lvl="0" algn="ctr">
              <a:spcBef>
                <a:spcPts val="0"/>
              </a:spcBef>
              <a:buClr>
                <a:srgbClr val="002060"/>
              </a:buClr>
              <a:buSzPct val="100000"/>
            </a:pPr>
            <a:r>
              <a:rPr lang="en-US" sz="2800" dirty="0">
                <a:solidFill>
                  <a:srgbClr val="002060"/>
                </a:solidFill>
                <a:latin typeface="Times New Roman" panose="02020603050405020304" pitchFamily="18" charset="0"/>
                <a:cs typeface="Times New Roman" panose="02020603050405020304" pitchFamily="18" charset="0"/>
              </a:rPr>
              <a:t>6. 1 Description of Problem Statement.</a:t>
            </a:r>
            <a:br>
              <a:rPr lang="en-US" sz="2800" dirty="0">
                <a:solidFill>
                  <a:srgbClr val="002060"/>
                </a:solidFill>
                <a:latin typeface="Times New Roman" panose="02020603050405020304" pitchFamily="18" charset="0"/>
                <a:cs typeface="Times New Roman" panose="02020603050405020304" pitchFamily="18" charset="0"/>
              </a:rPr>
            </a:br>
            <a:r>
              <a:rPr lang="en-US" sz="2800" dirty="0">
                <a:solidFill>
                  <a:srgbClr val="002060"/>
                </a:solidFill>
                <a:latin typeface="Times New Roman" panose="02020603050405020304" pitchFamily="18" charset="0"/>
                <a:cs typeface="Times New Roman" panose="02020603050405020304" pitchFamily="18" charset="0"/>
              </a:rPr>
              <a:t>Identification.</a:t>
            </a:r>
            <a:endParaRPr sz="2800" dirty="0">
              <a:solidFill>
                <a:srgbClr val="002060"/>
              </a:solidFill>
              <a:latin typeface="Times New Roman" panose="02020603050405020304" pitchFamily="18" charset="0"/>
              <a:cs typeface="Times New Roman" panose="02020603050405020304" pitchFamily="18" charset="0"/>
            </a:endParaRPr>
          </a:p>
        </p:txBody>
      </p:sp>
      <p:sp>
        <p:nvSpPr>
          <p:cNvPr id="567" name="Google Shape;567;p22"/>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lgn="just">
              <a:lnSpc>
                <a:spcPct val="100000"/>
              </a:lnSpc>
              <a:spcBef>
                <a:spcPts val="0"/>
              </a:spcBef>
              <a:buClr>
                <a:schemeClr val="dk1"/>
              </a:buClr>
              <a:buSzPts val="3200"/>
              <a:buNone/>
            </a:pPr>
            <a:r>
              <a:rPr lang="en-US" sz="1800" dirty="0">
                <a:latin typeface="Times New Roman" panose="02020603050405020304" pitchFamily="18" charset="0"/>
                <a:cs typeface="Times New Roman" panose="02020603050405020304" pitchFamily="18" charset="0"/>
              </a:rPr>
              <a:t>		</a:t>
            </a:r>
          </a:p>
          <a:p>
            <a:pPr marL="342900" lvl="0" indent="-139700" algn="just">
              <a:lnSpc>
                <a:spcPct val="100000"/>
              </a:lnSpc>
              <a:spcBef>
                <a:spcPts val="0"/>
              </a:spcBef>
              <a:buClr>
                <a:schemeClr val="dk1"/>
              </a:buClr>
              <a:buSzPts val="3200"/>
              <a:buNone/>
            </a:pPr>
            <a:r>
              <a:rPr lang="en-US" sz="1800" dirty="0">
                <a:latin typeface="Times New Roman" panose="02020603050405020304" pitchFamily="18" charset="0"/>
                <a:cs typeface="Times New Roman" panose="02020603050405020304" pitchFamily="18" charset="0"/>
              </a:rPr>
              <a:t>		Smart Power Management aims to address electricity wastage caused by the lack of real-time monitoring and efficient control of power consumption. Traditional methods make it difficult to identify unnecessary energy usage and manage appliances effectively. The proposed system focuses on monitoring electricity consumption, identifying wastage, and improving energy efficiency.</a:t>
            </a:r>
            <a:endParaRPr sz="1800" dirty="0">
              <a:latin typeface="Times New Roman" panose="02020603050405020304" pitchFamily="18" charset="0"/>
              <a:cs typeface="Times New Roman" panose="02020603050405020304" pitchFamily="18" charset="0"/>
            </a:endParaRPr>
          </a:p>
        </p:txBody>
      </p:sp>
      <p:sp>
        <p:nvSpPr>
          <p:cNvPr id="568" name="Google Shape;568;p22"/>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13</a:t>
            </a:fld>
            <a:endParaRPr/>
          </a:p>
        </p:txBody>
      </p:sp>
      <p:pic>
        <p:nvPicPr>
          <p:cNvPr id="3" name="Picture 2">
            <a:extLst>
              <a:ext uri="{FF2B5EF4-FFF2-40B4-BE49-F238E27FC236}">
                <a16:creationId xmlns:a16="http://schemas.microsoft.com/office/drawing/2014/main" id="{C6B156E3-7070-9AFC-C5BB-2AFDB8550A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9570" y="3123142"/>
            <a:ext cx="5244859" cy="2953512"/>
          </a:xfrm>
          <a:prstGeom prst="rect">
            <a:avLst/>
          </a:prstGeom>
        </p:spPr>
      </p:pic>
    </p:spTree>
    <p:extLst>
      <p:ext uri="{BB962C8B-B14F-4D97-AF65-F5344CB8AC3E}">
        <p14:creationId xmlns:p14="http://schemas.microsoft.com/office/powerpoint/2010/main" val="13396175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23"/>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fontScale="90000"/>
          </a:bodyPr>
          <a:lstStyle/>
          <a:p>
            <a:pPr marL="0" lvl="0" indent="0" algn="l" rtl="0">
              <a:spcBef>
                <a:spcPts val="0"/>
              </a:spcBef>
              <a:spcAft>
                <a:spcPts val="0"/>
              </a:spcAft>
              <a:buClr>
                <a:srgbClr val="002060"/>
              </a:buClr>
              <a:buSzPct val="100000"/>
              <a:buFont typeface="Arial"/>
              <a:buNone/>
            </a:pPr>
            <a:endParaRPr sz="3600" dirty="0"/>
          </a:p>
          <a:p>
            <a:pPr marL="0" lvl="0" indent="0" algn="ctr" rtl="0">
              <a:spcBef>
                <a:spcPts val="0"/>
              </a:spcBef>
              <a:spcAft>
                <a:spcPts val="0"/>
              </a:spcAft>
              <a:buClr>
                <a:srgbClr val="002060"/>
              </a:buClr>
              <a:buSzPct val="100000"/>
              <a:buFont typeface="Arial"/>
              <a:buNone/>
            </a:pPr>
            <a:r>
              <a:rPr lang="en-US" sz="3600" dirty="0">
                <a:solidFill>
                  <a:srgbClr val="002060"/>
                </a:solidFill>
                <a:latin typeface="Times New Roman" panose="02020603050405020304" pitchFamily="18" charset="0"/>
                <a:cs typeface="Times New Roman" panose="02020603050405020304" pitchFamily="18" charset="0"/>
              </a:rPr>
              <a:t>6. 2 Scope and Objectives</a:t>
            </a:r>
            <a:endParaRPr sz="3600" dirty="0">
              <a:solidFill>
                <a:srgbClr val="002060"/>
              </a:solidFill>
              <a:latin typeface="Times New Roman" panose="02020603050405020304" pitchFamily="18" charset="0"/>
              <a:cs typeface="Times New Roman" panose="02020603050405020304" pitchFamily="18" charset="0"/>
            </a:endParaRPr>
          </a:p>
          <a:p>
            <a:pPr marL="0" lvl="0" indent="0" algn="l" rtl="0">
              <a:spcBef>
                <a:spcPts val="0"/>
              </a:spcBef>
              <a:spcAft>
                <a:spcPts val="0"/>
              </a:spcAft>
              <a:buClr>
                <a:srgbClr val="002060"/>
              </a:buClr>
              <a:buSzPct val="100000"/>
              <a:buFont typeface="Arial"/>
              <a:buNone/>
            </a:pPr>
            <a:endParaRPr sz="3600" dirty="0"/>
          </a:p>
        </p:txBody>
      </p:sp>
      <p:sp>
        <p:nvSpPr>
          <p:cNvPr id="574" name="Google Shape;574;p23"/>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lgn="just">
              <a:spcBef>
                <a:spcPts val="0"/>
              </a:spcBef>
              <a:buClr>
                <a:schemeClr val="dk1"/>
              </a:buClr>
              <a:buSzPts val="3200"/>
              <a:buNone/>
            </a:pPr>
            <a:endParaRPr lang="en-IN" sz="1800" b="1" dirty="0">
              <a:latin typeface="Times New Roman" panose="02020603050405020304" pitchFamily="18" charset="0"/>
              <a:cs typeface="Times New Roman" panose="02020603050405020304" pitchFamily="18" charset="0"/>
            </a:endParaRPr>
          </a:p>
          <a:p>
            <a:pPr marL="342900" lvl="0" indent="-139700" algn="just">
              <a:spcBef>
                <a:spcPts val="0"/>
              </a:spcBef>
              <a:buClr>
                <a:schemeClr val="dk1"/>
              </a:buClr>
              <a:buSzPts val="3200"/>
              <a:buNone/>
            </a:pPr>
            <a:r>
              <a:rPr lang="en-IN" sz="2000" b="1" dirty="0">
                <a:latin typeface="Times New Roman" panose="02020603050405020304" pitchFamily="18" charset="0"/>
                <a:cs typeface="Times New Roman" panose="02020603050405020304" pitchFamily="18" charset="0"/>
              </a:rPr>
              <a:t>Objectives:</a:t>
            </a:r>
          </a:p>
          <a:p>
            <a:pPr algn="just"/>
            <a:r>
              <a:rPr lang="en-US" sz="1800" dirty="0">
                <a:latin typeface="Times New Roman" panose="02020603050405020304" pitchFamily="18" charset="0"/>
                <a:cs typeface="Times New Roman" panose="02020603050405020304" pitchFamily="18" charset="0"/>
              </a:rPr>
              <a:t>Monitors electricity consumption in real time.</a:t>
            </a:r>
          </a:p>
          <a:p>
            <a:pPr algn="just"/>
            <a:r>
              <a:rPr lang="en-US" sz="1800" dirty="0">
                <a:latin typeface="Times New Roman" panose="02020603050405020304" pitchFamily="18" charset="0"/>
                <a:cs typeface="Times New Roman" panose="02020603050405020304" pitchFamily="18" charset="0"/>
              </a:rPr>
              <a:t>Identifies unnecessary power usage and reduces energy wastage.</a:t>
            </a:r>
          </a:p>
          <a:p>
            <a:pPr algn="just"/>
            <a:r>
              <a:rPr lang="en-US" sz="1800" dirty="0">
                <a:latin typeface="Times New Roman" panose="02020603050405020304" pitchFamily="18" charset="0"/>
                <a:cs typeface="Times New Roman" panose="02020603050405020304" pitchFamily="18" charset="0"/>
              </a:rPr>
              <a:t>Improves the efficiency of electrical appliances.</a:t>
            </a:r>
          </a:p>
          <a:p>
            <a:pPr algn="just"/>
            <a:r>
              <a:rPr lang="en-US" sz="1800" dirty="0">
                <a:latin typeface="Times New Roman" panose="02020603050405020304" pitchFamily="18" charset="0"/>
                <a:cs typeface="Times New Roman" panose="02020603050405020304" pitchFamily="18" charset="0"/>
              </a:rPr>
              <a:t>Reduces electricity bills through effective power management.</a:t>
            </a:r>
          </a:p>
          <a:p>
            <a:pPr algn="just"/>
            <a:r>
              <a:rPr lang="en-US" sz="1800" dirty="0">
                <a:latin typeface="Times New Roman" panose="02020603050405020304" pitchFamily="18" charset="0"/>
                <a:cs typeface="Times New Roman" panose="02020603050405020304" pitchFamily="18" charset="0"/>
              </a:rPr>
              <a:t>Promotes energy conservation and sustainable electricity usage.</a:t>
            </a:r>
          </a:p>
          <a:p>
            <a:pPr marL="0" indent="0" algn="just">
              <a:buNone/>
            </a:pPr>
            <a:endParaRPr lang="en-US" sz="1800" dirty="0"/>
          </a:p>
          <a:p>
            <a:pPr marL="342900" lvl="0" indent="-139700" algn="just">
              <a:spcBef>
                <a:spcPts val="0"/>
              </a:spcBef>
              <a:buClr>
                <a:schemeClr val="dk1"/>
              </a:buClr>
              <a:buSzPts val="3200"/>
              <a:buNone/>
            </a:pPr>
            <a:r>
              <a:rPr lang="en-IN" sz="2000" b="1" dirty="0">
                <a:latin typeface="Times New Roman" panose="02020603050405020304" pitchFamily="18" charset="0"/>
                <a:cs typeface="Times New Roman" panose="02020603050405020304" pitchFamily="18" charset="0"/>
              </a:rPr>
              <a:t>Scope:</a:t>
            </a:r>
          </a:p>
          <a:p>
            <a:pPr algn="just"/>
            <a:r>
              <a:rPr lang="en-US" sz="1800" dirty="0">
                <a:latin typeface="Times New Roman" panose="02020603050405020304" pitchFamily="18" charset="0"/>
                <a:cs typeface="Times New Roman" panose="02020603050405020304" pitchFamily="18" charset="0"/>
              </a:rPr>
              <a:t>Applicable in homes, offices, colleges, and industries.</a:t>
            </a:r>
          </a:p>
          <a:p>
            <a:pPr algn="just"/>
            <a:r>
              <a:rPr lang="en-US" sz="1800" dirty="0">
                <a:latin typeface="Times New Roman" panose="02020603050405020304" pitchFamily="18" charset="0"/>
                <a:cs typeface="Times New Roman" panose="02020603050405020304" pitchFamily="18" charset="0"/>
              </a:rPr>
              <a:t>Real-time monitoring of power consumption using smart meters and sensors.</a:t>
            </a:r>
          </a:p>
          <a:p>
            <a:pPr algn="just"/>
            <a:r>
              <a:rPr lang="en-US" sz="1800" dirty="0">
                <a:latin typeface="Times New Roman" panose="02020603050405020304" pitchFamily="18" charset="0"/>
                <a:cs typeface="Times New Roman" panose="02020603050405020304" pitchFamily="18" charset="0"/>
              </a:rPr>
              <a:t>Integration of microcontrollers and IoT technology for efficient power management.</a:t>
            </a:r>
          </a:p>
          <a:p>
            <a:pPr algn="just"/>
            <a:r>
              <a:rPr lang="en-US" sz="1800" dirty="0">
                <a:latin typeface="Times New Roman" panose="02020603050405020304" pitchFamily="18" charset="0"/>
                <a:cs typeface="Times New Roman" panose="02020603050405020304" pitchFamily="18" charset="0"/>
              </a:rPr>
              <a:t>Remote monitoring and automatic appliance control, where implemented.</a:t>
            </a:r>
          </a:p>
          <a:p>
            <a:pPr algn="just"/>
            <a:r>
              <a:rPr lang="en-US" sz="1800" dirty="0">
                <a:latin typeface="Times New Roman" panose="02020603050405020304" pitchFamily="18" charset="0"/>
                <a:cs typeface="Times New Roman" panose="02020603050405020304" pitchFamily="18" charset="0"/>
              </a:rPr>
              <a:t>Future integration with renewable energy sources and smart grid technologies.</a:t>
            </a:r>
          </a:p>
          <a:p>
            <a:pPr algn="just"/>
            <a:endParaRPr lang="en-US" sz="1800" dirty="0">
              <a:latin typeface="Times New Roman" panose="02020603050405020304" pitchFamily="18" charset="0"/>
              <a:cs typeface="Times New Roman" panose="02020603050405020304" pitchFamily="18" charset="0"/>
            </a:endParaRPr>
          </a:p>
          <a:p>
            <a:pPr marL="0" indent="0" algn="just">
              <a:buNone/>
            </a:pPr>
            <a:endParaRPr dirty="0"/>
          </a:p>
        </p:txBody>
      </p:sp>
      <p:sp>
        <p:nvSpPr>
          <p:cNvPr id="575" name="Google Shape;575;p23"/>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8838926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24"/>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3600"/>
              <a:buFont typeface="Arial"/>
              <a:buNone/>
            </a:pPr>
            <a:r>
              <a:rPr lang="en-US" sz="3200" dirty="0">
                <a:solidFill>
                  <a:srgbClr val="002060"/>
                </a:solidFill>
                <a:latin typeface="Times New Roman" panose="02020603050405020304" pitchFamily="18" charset="0"/>
                <a:cs typeface="Times New Roman" panose="02020603050405020304" pitchFamily="18" charset="0"/>
              </a:rPr>
              <a:t>6. 3 Stakeholder</a:t>
            </a:r>
            <a:endParaRPr sz="3200" dirty="0">
              <a:solidFill>
                <a:srgbClr val="002060"/>
              </a:solidFill>
              <a:latin typeface="Times New Roman" panose="02020603050405020304" pitchFamily="18" charset="0"/>
              <a:cs typeface="Times New Roman" panose="02020603050405020304" pitchFamily="18" charset="0"/>
            </a:endParaRPr>
          </a:p>
        </p:txBody>
      </p:sp>
      <p:sp>
        <p:nvSpPr>
          <p:cNvPr id="581" name="Google Shape;581;p24"/>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488950" indent="-285750" algn="just">
              <a:spcBef>
                <a:spcPts val="0"/>
              </a:spcBef>
              <a:buSzPct val="100000"/>
            </a:pPr>
            <a:endParaRPr lang="en-US" sz="1800" b="1" dirty="0">
              <a:latin typeface="Times New Roman" panose="02020603050405020304" pitchFamily="18" charset="0"/>
              <a:cs typeface="Times New Roman" panose="02020603050405020304" pitchFamily="18" charset="0"/>
            </a:endParaRPr>
          </a:p>
          <a:p>
            <a:pPr marL="488950" indent="-285750" algn="just">
              <a:spcBef>
                <a:spcPts val="0"/>
              </a:spcBef>
              <a:buSzPct val="100000"/>
            </a:pPr>
            <a:r>
              <a:rPr lang="en-IN" sz="1800" b="1" dirty="0">
                <a:latin typeface="Times New Roman" panose="02020603050405020304" pitchFamily="18" charset="0"/>
                <a:cs typeface="Times New Roman" panose="02020603050405020304" pitchFamily="18" charset="0"/>
              </a:rPr>
              <a:t>Homeowners</a:t>
            </a:r>
            <a:r>
              <a:rPr lang="en-US" sz="1800" b="1" dirty="0">
                <a:latin typeface="Times New Roman" panose="02020603050405020304" pitchFamily="18" charset="0"/>
                <a:cs typeface="Times New Roman" panose="02020603050405020304" pitchFamily="18" charset="0"/>
              </a:rPr>
              <a:t>:</a:t>
            </a:r>
          </a:p>
          <a:p>
            <a:pPr marL="203200" indent="0" algn="just">
              <a:spcBef>
                <a:spcPts val="0"/>
              </a:spcBef>
              <a:buSzPct val="100000"/>
              <a:buNone/>
            </a:pP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Monitor electricity usage and reduce electricity bills.</a:t>
            </a:r>
          </a:p>
          <a:p>
            <a:pPr marL="203200" indent="0" algn="just">
              <a:spcBef>
                <a:spcPts val="0"/>
              </a:spcBef>
              <a:buSzPct val="100000"/>
              <a:buNone/>
            </a:pPr>
            <a:endParaRPr lang="en-US" sz="1800" dirty="0">
              <a:latin typeface="Times New Roman" panose="02020603050405020304" pitchFamily="18" charset="0"/>
              <a:cs typeface="Times New Roman" panose="02020603050405020304" pitchFamily="18" charset="0"/>
            </a:endParaRPr>
          </a:p>
          <a:p>
            <a:pPr marL="488950" indent="-285750" algn="just">
              <a:spcBef>
                <a:spcPts val="0"/>
              </a:spcBef>
              <a:buSzPct val="100000"/>
            </a:pPr>
            <a:r>
              <a:rPr lang="en-IN" sz="1800" b="1" dirty="0">
                <a:latin typeface="Times New Roman" panose="02020603050405020304" pitchFamily="18" charset="0"/>
                <a:cs typeface="Times New Roman" panose="02020603050405020304" pitchFamily="18" charset="0"/>
              </a:rPr>
              <a:t>Building Managers: </a:t>
            </a:r>
          </a:p>
          <a:p>
            <a:pPr marL="203200" indent="0" algn="just">
              <a:spcBef>
                <a:spcPts val="0"/>
              </a:spcBef>
              <a:buSzPct val="100000"/>
              <a:buNone/>
            </a:pPr>
            <a:r>
              <a:rPr lang="en-IN"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Manage power consumption in offices, colleges, and commercial buildings.</a:t>
            </a:r>
          </a:p>
          <a:p>
            <a:pPr marL="203200" indent="0" algn="just">
              <a:spcBef>
                <a:spcPts val="0"/>
              </a:spcBef>
              <a:buSzPct val="100000"/>
              <a:buNone/>
            </a:pPr>
            <a:endParaRPr lang="en-US" sz="1800" dirty="0">
              <a:latin typeface="Times New Roman" panose="02020603050405020304" pitchFamily="18" charset="0"/>
              <a:cs typeface="Times New Roman" panose="02020603050405020304" pitchFamily="18" charset="0"/>
            </a:endParaRPr>
          </a:p>
          <a:p>
            <a:pPr marL="488950" indent="-285750" algn="just">
              <a:spcBef>
                <a:spcPts val="0"/>
              </a:spcBef>
              <a:buSzPct val="100000"/>
            </a:pPr>
            <a:r>
              <a:rPr lang="en-IN" sz="1800" b="1" dirty="0">
                <a:latin typeface="Times New Roman" panose="02020603050405020304" pitchFamily="18" charset="0"/>
                <a:cs typeface="Times New Roman" panose="02020603050405020304" pitchFamily="18" charset="0"/>
              </a:rPr>
              <a:t>Electricity Providers:</a:t>
            </a:r>
            <a:r>
              <a:rPr lang="en-US" sz="1800" b="1" dirty="0">
                <a:latin typeface="Times New Roman" panose="02020603050405020304" pitchFamily="18" charset="0"/>
                <a:cs typeface="Times New Roman" panose="02020603050405020304" pitchFamily="18" charset="0"/>
              </a:rPr>
              <a:t> </a:t>
            </a:r>
          </a:p>
          <a:p>
            <a:pPr marL="203200" indent="0" algn="just">
              <a:spcBef>
                <a:spcPts val="0"/>
              </a:spcBef>
              <a:buSzPct val="100000"/>
              <a:buNone/>
            </a:pP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Analyze energy consumption and support efficient power distribution.</a:t>
            </a:r>
          </a:p>
          <a:p>
            <a:pPr marL="488950" indent="-285750" algn="just">
              <a:spcBef>
                <a:spcPts val="0"/>
              </a:spcBef>
              <a:buSzPct val="100000"/>
            </a:pPr>
            <a:endParaRPr lang="en-US" sz="1800" dirty="0">
              <a:latin typeface="Times New Roman" panose="02020603050405020304" pitchFamily="18" charset="0"/>
              <a:cs typeface="Times New Roman" panose="02020603050405020304" pitchFamily="18" charset="0"/>
            </a:endParaRPr>
          </a:p>
          <a:p>
            <a:pPr marL="488950" indent="-285750" algn="just">
              <a:spcBef>
                <a:spcPts val="0"/>
              </a:spcBef>
              <a:buSzPct val="100000"/>
            </a:pPr>
            <a:r>
              <a:rPr lang="en-IN" sz="1800" b="1" dirty="0">
                <a:latin typeface="Times New Roman" panose="02020603050405020304" pitchFamily="18" charset="0"/>
                <a:cs typeface="Times New Roman" panose="02020603050405020304" pitchFamily="18" charset="0"/>
              </a:rPr>
              <a:t>Industries</a:t>
            </a:r>
            <a:r>
              <a:rPr lang="en-US" sz="1800" b="1" dirty="0">
                <a:latin typeface="Times New Roman" panose="02020603050405020304" pitchFamily="18" charset="0"/>
                <a:cs typeface="Times New Roman" panose="02020603050405020304" pitchFamily="18" charset="0"/>
              </a:rPr>
              <a:t>: </a:t>
            </a:r>
          </a:p>
          <a:p>
            <a:pPr marL="203200" indent="0" algn="just">
              <a:spcBef>
                <a:spcPts val="0"/>
              </a:spcBef>
              <a:buSzPct val="100000"/>
              <a:buNone/>
            </a:pP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Reduce energy wastage and improve operational efficiency.</a:t>
            </a:r>
          </a:p>
          <a:p>
            <a:pPr marL="203200" indent="0" algn="just">
              <a:spcBef>
                <a:spcPts val="0"/>
              </a:spcBef>
              <a:buSzPct val="100000"/>
              <a:buNone/>
            </a:pPr>
            <a:endParaRPr lang="en-US" sz="1800" dirty="0">
              <a:latin typeface="Times New Roman" panose="02020603050405020304" pitchFamily="18" charset="0"/>
              <a:cs typeface="Times New Roman" panose="02020603050405020304" pitchFamily="18" charset="0"/>
            </a:endParaRPr>
          </a:p>
          <a:p>
            <a:pPr marL="488950" indent="-285750" algn="just">
              <a:spcBef>
                <a:spcPts val="0"/>
              </a:spcBef>
              <a:buSzPct val="100000"/>
            </a:pPr>
            <a:r>
              <a:rPr lang="en-IN" sz="1800" b="1" dirty="0">
                <a:latin typeface="Times New Roman" panose="02020603050405020304" pitchFamily="18" charset="0"/>
                <a:cs typeface="Times New Roman" panose="02020603050405020304" pitchFamily="18" charset="0"/>
              </a:rPr>
              <a:t>System Administrators: </a:t>
            </a:r>
            <a:r>
              <a:rPr lang="en-US" sz="1800" b="1" dirty="0">
                <a:latin typeface="Times New Roman" panose="02020603050405020304" pitchFamily="18" charset="0"/>
                <a:cs typeface="Times New Roman" panose="02020603050405020304" pitchFamily="18" charset="0"/>
              </a:rPr>
              <a:t> </a:t>
            </a:r>
          </a:p>
          <a:p>
            <a:pPr marL="203200" indent="0" algn="just">
              <a:spcBef>
                <a:spcPts val="0"/>
              </a:spcBef>
              <a:buSzPct val="100000"/>
              <a:buNone/>
            </a:pP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Maintain the system, monitor performance, and manage connected devices.</a:t>
            </a:r>
          </a:p>
          <a:p>
            <a:pPr marL="203200" indent="0" algn="just">
              <a:spcBef>
                <a:spcPts val="0"/>
              </a:spcBef>
              <a:buSzPct val="100000"/>
              <a:buNone/>
            </a:pPr>
            <a:endParaRPr sz="2000" dirty="0">
              <a:latin typeface="Times New Roman" panose="02020603050405020304" pitchFamily="18" charset="0"/>
              <a:cs typeface="Times New Roman" panose="02020603050405020304" pitchFamily="18" charset="0"/>
            </a:endParaRPr>
          </a:p>
        </p:txBody>
      </p:sp>
      <p:sp>
        <p:nvSpPr>
          <p:cNvPr id="582" name="Google Shape;582;p24"/>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2059821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25"/>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lvl="0" algn="ctr">
              <a:spcBef>
                <a:spcPts val="0"/>
              </a:spcBef>
              <a:buClr>
                <a:srgbClr val="002060"/>
              </a:buClr>
              <a:buSzPts val="3200"/>
            </a:pPr>
            <a:r>
              <a:rPr lang="en-US" sz="3200" dirty="0">
                <a:solidFill>
                  <a:srgbClr val="002060"/>
                </a:solidFill>
                <a:latin typeface="Times New Roman" panose="02020603050405020304" pitchFamily="18" charset="0"/>
                <a:cs typeface="Times New Roman" panose="02020603050405020304" pitchFamily="18" charset="0"/>
              </a:rPr>
              <a:t>6. 4 Seminar Discussion Plan</a:t>
            </a:r>
            <a:endParaRPr sz="3200" dirty="0">
              <a:solidFill>
                <a:srgbClr val="002060"/>
              </a:solidFill>
              <a:latin typeface="Times New Roman" panose="02020603050405020304" pitchFamily="18" charset="0"/>
              <a:cs typeface="Times New Roman" panose="02020603050405020304" pitchFamily="18" charset="0"/>
            </a:endParaRPr>
          </a:p>
        </p:txBody>
      </p:sp>
      <p:sp>
        <p:nvSpPr>
          <p:cNvPr id="588" name="Google Shape;588;p25"/>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203200" lvl="0" indent="0" algn="just" rtl="0">
              <a:spcBef>
                <a:spcPts val="0"/>
              </a:spcBef>
              <a:spcAft>
                <a:spcPts val="0"/>
              </a:spcAft>
              <a:buClr>
                <a:schemeClr val="dk1"/>
              </a:buClr>
              <a:buSzPts val="3200"/>
              <a:buNone/>
            </a:pPr>
            <a:endParaRPr lang="en-IN" sz="1800" dirty="0">
              <a:latin typeface="Times New Roman" panose="02020603050405020304" pitchFamily="18" charset="0"/>
              <a:cs typeface="Times New Roman" panose="02020603050405020304" pitchFamily="18" charset="0"/>
            </a:endParaRPr>
          </a:p>
          <a:p>
            <a:pPr marL="203200" indent="0" algn="just">
              <a:spcBef>
                <a:spcPts val="0"/>
              </a:spcBef>
              <a:buClr>
                <a:schemeClr val="dk1"/>
              </a:buClr>
              <a:buSzPts val="3200"/>
              <a:buNone/>
            </a:pPr>
            <a:r>
              <a:rPr lang="en-US" sz="1800" b="1" dirty="0">
                <a:latin typeface="Times New Roman" panose="02020603050405020304" pitchFamily="18" charset="0"/>
                <a:cs typeface="Times New Roman" panose="02020603050405020304" pitchFamily="18" charset="0"/>
              </a:rPr>
              <a:t>1. </a:t>
            </a:r>
            <a:r>
              <a:rPr lang="en-IN" sz="1800" b="1" dirty="0">
                <a:latin typeface="Times New Roman" panose="02020603050405020304" pitchFamily="18" charset="0"/>
                <a:cs typeface="Times New Roman" panose="02020603050405020304" pitchFamily="18" charset="0"/>
              </a:rPr>
              <a:t>Current Scenario:</a:t>
            </a:r>
            <a:r>
              <a:rPr lang="en-IN"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Increasing electricity consumption creates a need for smart power management systems.</a:t>
            </a:r>
          </a:p>
          <a:p>
            <a:pPr marL="203200" indent="0" algn="just">
              <a:spcBef>
                <a:spcPts val="0"/>
              </a:spcBef>
              <a:buClr>
                <a:schemeClr val="dk1"/>
              </a:buClr>
              <a:buSzPts val="3200"/>
              <a:buNone/>
            </a:pPr>
            <a:endParaRPr lang="en-US" sz="1800" dirty="0">
              <a:latin typeface="Times New Roman" panose="02020603050405020304" pitchFamily="18" charset="0"/>
              <a:cs typeface="Times New Roman" panose="02020603050405020304" pitchFamily="18" charset="0"/>
            </a:endParaRPr>
          </a:p>
          <a:p>
            <a:pPr marL="203200" indent="0" algn="just">
              <a:spcBef>
                <a:spcPts val="0"/>
              </a:spcBef>
              <a:buClr>
                <a:schemeClr val="dk1"/>
              </a:buClr>
              <a:buSzPts val="3200"/>
              <a:buNone/>
            </a:pPr>
            <a:r>
              <a:rPr lang="en-US" sz="1800" b="1" dirty="0">
                <a:latin typeface="Times New Roman" panose="02020603050405020304" pitchFamily="18" charset="0"/>
                <a:cs typeface="Times New Roman" panose="02020603050405020304" pitchFamily="18" charset="0"/>
              </a:rPr>
              <a:t>2.</a:t>
            </a:r>
            <a:r>
              <a:rPr lang="en-US"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Energy Challenges:</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Uncontrolled power usage causes energy wastage and higher electricity bills.</a:t>
            </a:r>
          </a:p>
          <a:p>
            <a:pPr marL="203200" indent="0" algn="just">
              <a:spcBef>
                <a:spcPts val="0"/>
              </a:spcBef>
              <a:buClr>
                <a:schemeClr val="dk1"/>
              </a:buClr>
              <a:buSzPts val="3200"/>
              <a:buNone/>
            </a:pPr>
            <a:endParaRPr lang="en-US" sz="1800" dirty="0">
              <a:latin typeface="Times New Roman" panose="02020603050405020304" pitchFamily="18" charset="0"/>
              <a:cs typeface="Times New Roman" panose="02020603050405020304" pitchFamily="18" charset="0"/>
            </a:endParaRPr>
          </a:p>
          <a:p>
            <a:pPr marL="203200" indent="0" algn="just">
              <a:spcBef>
                <a:spcPts val="0"/>
              </a:spcBef>
              <a:buClr>
                <a:schemeClr val="dk1"/>
              </a:buClr>
              <a:buSzPts val="3200"/>
              <a:buNone/>
            </a:pPr>
            <a:r>
              <a:rPr lang="en-US" sz="1800" b="1" dirty="0">
                <a:latin typeface="Times New Roman" panose="02020603050405020304" pitchFamily="18" charset="0"/>
                <a:cs typeface="Times New Roman" panose="02020603050405020304" pitchFamily="18" charset="0"/>
              </a:rPr>
              <a:t>3. </a:t>
            </a:r>
            <a:r>
              <a:rPr lang="en-IN" sz="1800" b="1" dirty="0">
                <a:latin typeface="Times New Roman" panose="02020603050405020304" pitchFamily="18" charset="0"/>
                <a:cs typeface="Times New Roman" panose="02020603050405020304" pitchFamily="18" charset="0"/>
              </a:rPr>
              <a:t>Existing Approaches:</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Smart meters and IoT-based systems help monitor and control electricity consumption.</a:t>
            </a:r>
          </a:p>
          <a:p>
            <a:pPr marL="203200" indent="0" algn="just">
              <a:spcBef>
                <a:spcPts val="0"/>
              </a:spcBef>
              <a:buClr>
                <a:schemeClr val="dk1"/>
              </a:buClr>
              <a:buSzPts val="3200"/>
              <a:buNone/>
            </a:pPr>
            <a:endParaRPr lang="en-US" sz="1800" b="1" dirty="0">
              <a:latin typeface="Times New Roman" panose="02020603050405020304" pitchFamily="18" charset="0"/>
              <a:cs typeface="Times New Roman" panose="02020603050405020304" pitchFamily="18" charset="0"/>
            </a:endParaRPr>
          </a:p>
          <a:p>
            <a:pPr marL="203200" indent="0" algn="just">
              <a:spcBef>
                <a:spcPts val="0"/>
              </a:spcBef>
              <a:buClr>
                <a:schemeClr val="dk1"/>
              </a:buClr>
              <a:buSzPts val="3200"/>
              <a:buNone/>
            </a:pPr>
            <a:r>
              <a:rPr lang="en-US" sz="1800" b="1" dirty="0">
                <a:latin typeface="Times New Roman" panose="02020603050405020304" pitchFamily="18" charset="0"/>
                <a:cs typeface="Times New Roman" panose="02020603050405020304" pitchFamily="18" charset="0"/>
              </a:rPr>
              <a:t>4. </a:t>
            </a:r>
            <a:r>
              <a:rPr lang="en-IN" sz="1800" b="1" dirty="0">
                <a:latin typeface="Times New Roman" panose="02020603050405020304" pitchFamily="18" charset="0"/>
                <a:cs typeface="Times New Roman" panose="02020603050405020304" pitchFamily="18" charset="0"/>
              </a:rPr>
              <a:t>Research Gap: </a:t>
            </a:r>
            <a:r>
              <a:rPr lang="en-US" sz="1800" dirty="0">
                <a:latin typeface="Times New Roman" panose="02020603050405020304" pitchFamily="18" charset="0"/>
                <a:cs typeface="Times New Roman" panose="02020603050405020304" pitchFamily="18" charset="0"/>
              </a:rPr>
              <a:t>Efficiently identifying and reducing unnecessary power consumption remains a challenge.</a:t>
            </a:r>
          </a:p>
          <a:p>
            <a:pPr marL="203200" indent="0" algn="just">
              <a:spcBef>
                <a:spcPts val="0"/>
              </a:spcBef>
              <a:buClr>
                <a:schemeClr val="dk1"/>
              </a:buClr>
              <a:buSzPts val="3200"/>
              <a:buNone/>
            </a:pPr>
            <a:endParaRPr lang="en-US" sz="1800" b="1" dirty="0">
              <a:latin typeface="Times New Roman" panose="02020603050405020304" pitchFamily="18" charset="0"/>
              <a:cs typeface="Times New Roman" panose="02020603050405020304" pitchFamily="18" charset="0"/>
            </a:endParaRPr>
          </a:p>
          <a:p>
            <a:pPr marL="203200" indent="0" algn="just">
              <a:spcBef>
                <a:spcPts val="0"/>
              </a:spcBef>
              <a:buClr>
                <a:schemeClr val="dk1"/>
              </a:buClr>
              <a:buSzPts val="3200"/>
              <a:buNone/>
            </a:pPr>
            <a:r>
              <a:rPr lang="en-US" sz="1800" b="1" dirty="0">
                <a:latin typeface="Times New Roman" panose="02020603050405020304" pitchFamily="18" charset="0"/>
                <a:cs typeface="Times New Roman" panose="02020603050405020304" pitchFamily="18" charset="0"/>
              </a:rPr>
              <a:t>5. </a:t>
            </a:r>
            <a:r>
              <a:rPr lang="en-IN" sz="1800" b="1" dirty="0">
                <a:latin typeface="Times New Roman" panose="02020603050405020304" pitchFamily="18" charset="0"/>
                <a:cs typeface="Times New Roman" panose="02020603050405020304" pitchFamily="18" charset="0"/>
              </a:rPr>
              <a:t>Proposed Solution: </a:t>
            </a:r>
            <a:r>
              <a:rPr lang="en-US" sz="1800" dirty="0">
                <a:latin typeface="Times New Roman" panose="02020603050405020304" pitchFamily="18" charset="0"/>
                <a:cs typeface="Times New Roman" panose="02020603050405020304" pitchFamily="18" charset="0"/>
              </a:rPr>
              <a:t>The proposed system monitors electricity usage and helps minimize power wastage.</a:t>
            </a:r>
          </a:p>
          <a:p>
            <a:pPr marL="203200" indent="0" algn="just">
              <a:spcBef>
                <a:spcPts val="0"/>
              </a:spcBef>
              <a:buClr>
                <a:schemeClr val="dk1"/>
              </a:buClr>
              <a:buSzPts val="3200"/>
              <a:buNone/>
            </a:pPr>
            <a:endParaRPr lang="en-US" sz="1800" b="1" dirty="0">
              <a:latin typeface="Times New Roman" panose="02020603050405020304" pitchFamily="18" charset="0"/>
              <a:cs typeface="Times New Roman" panose="02020603050405020304" pitchFamily="18" charset="0"/>
            </a:endParaRPr>
          </a:p>
          <a:p>
            <a:pPr marL="203200" indent="0" algn="just">
              <a:spcBef>
                <a:spcPts val="0"/>
              </a:spcBef>
              <a:buClr>
                <a:schemeClr val="dk1"/>
              </a:buClr>
              <a:buSzPts val="3200"/>
              <a:buNone/>
            </a:pPr>
            <a:r>
              <a:rPr lang="en-US" sz="1800" b="1" dirty="0">
                <a:latin typeface="Times New Roman" panose="02020603050405020304" pitchFamily="18" charset="0"/>
                <a:cs typeface="Times New Roman" panose="02020603050405020304" pitchFamily="18" charset="0"/>
              </a:rPr>
              <a:t>6. </a:t>
            </a:r>
            <a:r>
              <a:rPr lang="en-IN" sz="1800" b="1" dirty="0">
                <a:latin typeface="Times New Roman" panose="02020603050405020304" pitchFamily="18" charset="0"/>
                <a:cs typeface="Times New Roman" panose="02020603050405020304" pitchFamily="18" charset="0"/>
              </a:rPr>
              <a:t>Expected Impact</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Better power management can reduce costs and improve energy efficiency.</a:t>
            </a:r>
          </a:p>
          <a:p>
            <a:pPr marL="203200" indent="0" algn="just">
              <a:spcBef>
                <a:spcPts val="0"/>
              </a:spcBef>
              <a:buClr>
                <a:schemeClr val="dk1"/>
              </a:buClr>
              <a:buSzPts val="3200"/>
              <a:buNone/>
            </a:pPr>
            <a:endParaRPr lang="en-US" sz="1800" b="1" dirty="0">
              <a:latin typeface="Times New Roman" panose="02020603050405020304" pitchFamily="18" charset="0"/>
              <a:cs typeface="Times New Roman" panose="02020603050405020304" pitchFamily="18" charset="0"/>
            </a:endParaRPr>
          </a:p>
          <a:p>
            <a:pPr marL="203200" indent="0" algn="just">
              <a:spcBef>
                <a:spcPts val="0"/>
              </a:spcBef>
              <a:buClr>
                <a:schemeClr val="dk1"/>
              </a:buClr>
              <a:buSzPts val="3200"/>
              <a:buNone/>
            </a:pPr>
            <a:r>
              <a:rPr lang="en-US" sz="1800" b="1" dirty="0">
                <a:latin typeface="Times New Roman" panose="02020603050405020304" pitchFamily="18" charset="0"/>
                <a:cs typeface="Times New Roman" panose="02020603050405020304" pitchFamily="18" charset="0"/>
              </a:rPr>
              <a:t>7. </a:t>
            </a:r>
            <a:r>
              <a:rPr lang="en-IN" sz="1800" b="1" dirty="0">
                <a:latin typeface="Times New Roman" panose="02020603050405020304" pitchFamily="18" charset="0"/>
                <a:cs typeface="Times New Roman" panose="02020603050405020304" pitchFamily="18" charset="0"/>
              </a:rPr>
              <a:t>Future Work: </a:t>
            </a:r>
            <a:r>
              <a:rPr lang="en-US" sz="1800" dirty="0">
                <a:latin typeface="Times New Roman" panose="02020603050405020304" pitchFamily="18" charset="0"/>
                <a:cs typeface="Times New Roman" panose="02020603050405020304" pitchFamily="18" charset="0"/>
              </a:rPr>
              <a:t>AI prediction and renewable energy integration can make the system more efficient.</a:t>
            </a:r>
            <a:endParaRPr sz="1800" dirty="0">
              <a:latin typeface="Times New Roman" panose="02020603050405020304" pitchFamily="18" charset="0"/>
              <a:cs typeface="Times New Roman" panose="02020603050405020304" pitchFamily="18" charset="0"/>
            </a:endParaRPr>
          </a:p>
        </p:txBody>
      </p:sp>
      <p:sp>
        <p:nvSpPr>
          <p:cNvPr id="589" name="Google Shape;589;p25"/>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17620810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26"/>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Clr>
                <a:srgbClr val="002060"/>
              </a:buClr>
              <a:buSzPts val="3200"/>
              <a:buFont typeface="Arial"/>
              <a:buNone/>
            </a:pPr>
            <a:br>
              <a:rPr lang="en-US" sz="3200" dirty="0"/>
            </a:br>
            <a:r>
              <a:rPr lang="en-US" sz="3200" dirty="0">
                <a:solidFill>
                  <a:srgbClr val="002060"/>
                </a:solidFill>
                <a:latin typeface="Times New Roman" panose="02020603050405020304" pitchFamily="18" charset="0"/>
                <a:cs typeface="Times New Roman" panose="02020603050405020304" pitchFamily="18" charset="0"/>
              </a:rPr>
              <a:t>6.5 Platform/ Equipment/ Resources</a:t>
            </a:r>
            <a:endParaRPr sz="3200" dirty="0">
              <a:solidFill>
                <a:srgbClr val="002060"/>
              </a:solidFill>
              <a:latin typeface="Times New Roman" panose="02020603050405020304" pitchFamily="18" charset="0"/>
              <a:cs typeface="Times New Roman" panose="02020603050405020304" pitchFamily="18" charset="0"/>
            </a:endParaRPr>
          </a:p>
          <a:p>
            <a:pPr marL="0" lvl="0" indent="0" algn="ctr" rtl="0">
              <a:spcBef>
                <a:spcPts val="0"/>
              </a:spcBef>
              <a:spcAft>
                <a:spcPts val="0"/>
              </a:spcAft>
              <a:buClr>
                <a:srgbClr val="002060"/>
              </a:buClr>
              <a:buSzPts val="3200"/>
              <a:buFont typeface="Arial"/>
              <a:buNone/>
            </a:pPr>
            <a:endParaRPr sz="3200" dirty="0">
              <a:solidFill>
                <a:srgbClr val="002060"/>
              </a:solidFill>
              <a:latin typeface="Times New Roman" panose="02020603050405020304" pitchFamily="18" charset="0"/>
              <a:cs typeface="Times New Roman" panose="02020603050405020304" pitchFamily="18" charset="0"/>
            </a:endParaRPr>
          </a:p>
        </p:txBody>
      </p:sp>
      <p:sp>
        <p:nvSpPr>
          <p:cNvPr id="595" name="Google Shape;595;p26"/>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lgn="just" rtl="0">
              <a:spcBef>
                <a:spcPts val="0"/>
              </a:spcBef>
              <a:spcAft>
                <a:spcPts val="0"/>
              </a:spcAft>
              <a:buClr>
                <a:schemeClr val="dk1"/>
              </a:buClr>
              <a:buSzPts val="3200"/>
              <a:buNone/>
            </a:pPr>
            <a:endParaRPr lang="en-IN" sz="1800" b="1" dirty="0">
              <a:latin typeface="Times New Roman" panose="02020603050405020304" pitchFamily="18" charset="0"/>
              <a:cs typeface="Times New Roman" panose="02020603050405020304" pitchFamily="18" charset="0"/>
            </a:endParaRPr>
          </a:p>
          <a:p>
            <a:pPr marL="342900" lvl="0" indent="-139700" algn="just" rtl="0">
              <a:spcBef>
                <a:spcPts val="0"/>
              </a:spcBef>
              <a:spcAft>
                <a:spcPts val="0"/>
              </a:spcAft>
              <a:buClr>
                <a:schemeClr val="dk1"/>
              </a:buClr>
              <a:buSzPts val="3200"/>
              <a:buNone/>
            </a:pPr>
            <a:r>
              <a:rPr lang="en-IN" sz="1800" b="1" dirty="0">
                <a:latin typeface="Times New Roman" panose="02020603050405020304" pitchFamily="18" charset="0"/>
                <a:cs typeface="Times New Roman" panose="02020603050405020304" pitchFamily="18" charset="0"/>
              </a:rPr>
              <a:t>1. Development Platform</a:t>
            </a:r>
          </a:p>
          <a:p>
            <a:pPr algn="just"/>
            <a:r>
              <a:rPr lang="en-US" sz="1800" dirty="0">
                <a:latin typeface="Times New Roman" panose="02020603050405020304" pitchFamily="18" charset="0"/>
                <a:cs typeface="Times New Roman" panose="02020603050405020304" pitchFamily="18" charset="0"/>
              </a:rPr>
              <a:t>Windows-based computer for system development.</a:t>
            </a:r>
          </a:p>
          <a:p>
            <a:pPr algn="just"/>
            <a:r>
              <a:rPr lang="en-US" sz="1800" dirty="0">
                <a:latin typeface="Times New Roman" panose="02020603050405020304" pitchFamily="18" charset="0"/>
                <a:cs typeface="Times New Roman" panose="02020603050405020304" pitchFamily="18" charset="0"/>
              </a:rPr>
              <a:t>Programming environment for processing and analyzing energy data.</a:t>
            </a:r>
          </a:p>
          <a:p>
            <a:pPr algn="just"/>
            <a:r>
              <a:rPr lang="en-US" sz="1800" dirty="0">
                <a:latin typeface="Times New Roman" panose="02020603050405020304" pitchFamily="18" charset="0"/>
                <a:cs typeface="Times New Roman" panose="02020603050405020304" pitchFamily="18" charset="0"/>
              </a:rPr>
              <a:t>IoT platform for monitoring electricity consumption.</a:t>
            </a:r>
          </a:p>
          <a:p>
            <a:pPr marL="0" indent="0" algn="just">
              <a:buNone/>
            </a:pPr>
            <a:endParaRPr lang="en-US" sz="1800" dirty="0">
              <a:latin typeface="Times New Roman" panose="02020603050405020304" pitchFamily="18" charset="0"/>
              <a:cs typeface="Times New Roman" panose="02020603050405020304" pitchFamily="18" charset="0"/>
            </a:endParaRPr>
          </a:p>
          <a:p>
            <a:pPr marL="342900" lvl="0" indent="-139700" algn="just">
              <a:spcBef>
                <a:spcPts val="0"/>
              </a:spcBef>
              <a:buClr>
                <a:schemeClr val="dk1"/>
              </a:buClr>
              <a:buSzPts val="3200"/>
              <a:buNone/>
            </a:pPr>
            <a:r>
              <a:rPr lang="en-IN" sz="1800" b="1" dirty="0">
                <a:latin typeface="Times New Roman" panose="02020603050405020304" pitchFamily="18" charset="0"/>
                <a:cs typeface="Times New Roman" panose="02020603050405020304" pitchFamily="18" charset="0"/>
              </a:rPr>
              <a:t>2. System Equipment </a:t>
            </a:r>
          </a:p>
          <a:p>
            <a:pPr algn="just"/>
            <a:r>
              <a:rPr lang="en-US" sz="1800" dirty="0">
                <a:latin typeface="Times New Roman" panose="02020603050405020304" pitchFamily="18" charset="0"/>
                <a:cs typeface="Times New Roman" panose="02020603050405020304" pitchFamily="18" charset="0"/>
              </a:rPr>
              <a:t>Sensors and smart meters to collect power usage data.</a:t>
            </a:r>
          </a:p>
          <a:p>
            <a:pPr algn="just"/>
            <a:r>
              <a:rPr lang="en-US" sz="1800" dirty="0">
                <a:latin typeface="Times New Roman" panose="02020603050405020304" pitchFamily="18" charset="0"/>
                <a:cs typeface="Times New Roman" panose="02020603050405020304" pitchFamily="18" charset="0"/>
              </a:rPr>
              <a:t>Arduino or ESP32 microcontroller to process sensor readings.</a:t>
            </a:r>
          </a:p>
          <a:p>
            <a:pPr algn="just"/>
            <a:r>
              <a:rPr lang="en-US" sz="1800" dirty="0">
                <a:latin typeface="Times New Roman" panose="02020603050405020304" pitchFamily="18" charset="0"/>
                <a:cs typeface="Times New Roman" panose="02020603050405020304" pitchFamily="18" charset="0"/>
              </a:rPr>
              <a:t>Wi-Fi module or connectivity for transferring data.</a:t>
            </a:r>
          </a:p>
          <a:p>
            <a:pPr marL="0" indent="0" algn="just">
              <a:buNone/>
            </a:pPr>
            <a:endParaRPr lang="en-US" sz="1800" dirty="0">
              <a:latin typeface="Times New Roman" panose="02020603050405020304" pitchFamily="18" charset="0"/>
              <a:cs typeface="Times New Roman" panose="02020603050405020304" pitchFamily="18" charset="0"/>
            </a:endParaRPr>
          </a:p>
          <a:p>
            <a:pPr marL="342900" lvl="0" indent="-139700" algn="just">
              <a:spcBef>
                <a:spcPts val="0"/>
              </a:spcBef>
              <a:buClr>
                <a:schemeClr val="dk1"/>
              </a:buClr>
              <a:buSzPts val="3200"/>
              <a:buNone/>
            </a:pPr>
            <a:r>
              <a:rPr lang="en-IN" sz="1800" b="1" dirty="0">
                <a:latin typeface="Times New Roman" panose="02020603050405020304" pitchFamily="18" charset="0"/>
                <a:cs typeface="Times New Roman" panose="02020603050405020304" pitchFamily="18" charset="0"/>
              </a:rPr>
              <a:t>3. Supporting Resources</a:t>
            </a:r>
          </a:p>
          <a:p>
            <a:pPr algn="just"/>
            <a:r>
              <a:rPr lang="en-US" sz="1800" dirty="0">
                <a:latin typeface="Times New Roman" panose="02020603050405020304" pitchFamily="18" charset="0"/>
                <a:cs typeface="Times New Roman" panose="02020603050405020304" pitchFamily="18" charset="0"/>
              </a:rPr>
              <a:t>Electrical appliances for system testing.</a:t>
            </a:r>
          </a:p>
          <a:p>
            <a:pPr algn="just"/>
            <a:r>
              <a:rPr lang="en-US" sz="1800" dirty="0">
                <a:latin typeface="Times New Roman" panose="02020603050405020304" pitchFamily="18" charset="0"/>
                <a:cs typeface="Times New Roman" panose="02020603050405020304" pitchFamily="18" charset="0"/>
              </a:rPr>
              <a:t>Sample energy consumption data for analysis.</a:t>
            </a:r>
          </a:p>
          <a:p>
            <a:pPr algn="just"/>
            <a:r>
              <a:rPr lang="en-US" sz="1800" dirty="0">
                <a:latin typeface="Times New Roman" panose="02020603050405020304" pitchFamily="18" charset="0"/>
                <a:cs typeface="Times New Roman" panose="02020603050405020304" pitchFamily="18" charset="0"/>
              </a:rPr>
              <a:t>Testing tools to evaluate monitoring accuracy and system performance.</a:t>
            </a:r>
          </a:p>
          <a:p>
            <a:pPr marL="0" indent="0" algn="just">
              <a:buNone/>
            </a:pPr>
            <a:endParaRPr sz="1800" dirty="0">
              <a:latin typeface="Times New Roman" panose="02020603050405020304" pitchFamily="18" charset="0"/>
              <a:cs typeface="Times New Roman" panose="02020603050405020304" pitchFamily="18" charset="0"/>
            </a:endParaRPr>
          </a:p>
        </p:txBody>
      </p:sp>
      <p:sp>
        <p:nvSpPr>
          <p:cNvPr id="596" name="Google Shape;596;p26"/>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24067129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27"/>
          <p:cNvSpPr txBox="1">
            <a:spLocks noGrp="1"/>
          </p:cNvSpPr>
          <p:nvPr>
            <p:ph type="title"/>
          </p:nvPr>
        </p:nvSpPr>
        <p:spPr>
          <a:xfrm>
            <a:off x="457200" y="274638"/>
            <a:ext cx="8229600" cy="8685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sz="4000" dirty="0">
                <a:solidFill>
                  <a:srgbClr val="002060"/>
                </a:solidFill>
                <a:latin typeface="Times New Roman" panose="02020603050405020304" pitchFamily="18" charset="0"/>
                <a:cs typeface="Times New Roman" panose="02020603050405020304" pitchFamily="18" charset="0"/>
              </a:rPr>
              <a:t>Bibliography</a:t>
            </a:r>
            <a:endParaRPr sz="4000" dirty="0">
              <a:solidFill>
                <a:srgbClr val="002060"/>
              </a:solidFill>
              <a:latin typeface="Times New Roman" panose="02020603050405020304" pitchFamily="18" charset="0"/>
              <a:cs typeface="Times New Roman" panose="02020603050405020304" pitchFamily="18" charset="0"/>
            </a:endParaRPr>
          </a:p>
        </p:txBody>
      </p:sp>
      <p:sp>
        <p:nvSpPr>
          <p:cNvPr id="602" name="Google Shape;602;p27"/>
          <p:cNvSpPr txBox="1">
            <a:spLocks noGrp="1"/>
          </p:cNvSpPr>
          <p:nvPr>
            <p:ph type="body" idx="1"/>
          </p:nvPr>
        </p:nvSpPr>
        <p:spPr>
          <a:xfrm>
            <a:off x="457200" y="1219200"/>
            <a:ext cx="8229600" cy="53340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546100" indent="-342900" algn="just">
              <a:spcBef>
                <a:spcPts val="640"/>
              </a:spcBef>
              <a:buClr>
                <a:schemeClr val="dk1"/>
              </a:buClr>
              <a:buSzPts val="3200"/>
              <a:buFontTx/>
              <a:buChar char="-"/>
            </a:pPr>
            <a:r>
              <a:rPr lang="en-IN" sz="2000" b="1" dirty="0">
                <a:latin typeface="Times New Roman" panose="02020603050405020304" pitchFamily="18" charset="0"/>
                <a:cs typeface="Times New Roman" panose="02020603050405020304" pitchFamily="18" charset="0"/>
              </a:rPr>
              <a:t>Books</a:t>
            </a:r>
          </a:p>
          <a:p>
            <a:pPr marL="203200" indent="0" algn="just">
              <a:spcBef>
                <a:spcPts val="640"/>
              </a:spcBef>
              <a:buClr>
                <a:schemeClr val="dk1"/>
              </a:buClr>
              <a:buSzPts val="3200"/>
              <a:buNone/>
            </a:pPr>
            <a:r>
              <a:rPr lang="en-IN" sz="1800" dirty="0">
                <a:latin typeface="Times New Roman" panose="02020603050405020304" pitchFamily="18" charset="0"/>
                <a:cs typeface="Times New Roman" panose="02020603050405020304" pitchFamily="18" charset="0"/>
              </a:rPr>
              <a:t>1) </a:t>
            </a:r>
            <a:r>
              <a:rPr lang="en-US" sz="1800" dirty="0">
                <a:latin typeface="Times New Roman" panose="02020603050405020304" pitchFamily="18" charset="0"/>
                <a:cs typeface="Times New Roman" panose="02020603050405020304" pitchFamily="18" charset="0"/>
              </a:rPr>
              <a:t>Internet of Things: A Hands-On Approach — </a:t>
            </a:r>
            <a:r>
              <a:rPr lang="en-US" sz="1800" dirty="0" err="1">
                <a:latin typeface="Times New Roman" panose="02020603050405020304" pitchFamily="18" charset="0"/>
                <a:cs typeface="Times New Roman" panose="02020603050405020304" pitchFamily="18" charset="0"/>
              </a:rPr>
              <a:t>Arshdeep</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Bahga</a:t>
            </a:r>
            <a:r>
              <a:rPr lang="en-US" sz="1800" dirty="0">
                <a:latin typeface="Times New Roman" panose="02020603050405020304" pitchFamily="18" charset="0"/>
                <a:cs typeface="Times New Roman" panose="02020603050405020304" pitchFamily="18" charset="0"/>
              </a:rPr>
              <a:t> and Vijay </a:t>
            </a:r>
            <a:r>
              <a:rPr lang="en-US" sz="1800" dirty="0" err="1">
                <a:latin typeface="Times New Roman" panose="02020603050405020304" pitchFamily="18" charset="0"/>
                <a:cs typeface="Times New Roman" panose="02020603050405020304" pitchFamily="18" charset="0"/>
              </a:rPr>
              <a:t>Madisetti</a:t>
            </a:r>
            <a:r>
              <a:rPr lang="en-US" sz="1800" dirty="0">
                <a:latin typeface="Times New Roman" panose="02020603050405020304" pitchFamily="18" charset="0"/>
                <a:cs typeface="Times New Roman" panose="02020603050405020304" pitchFamily="18" charset="0"/>
              </a:rPr>
              <a:t>.</a:t>
            </a:r>
          </a:p>
          <a:p>
            <a:pPr marL="203200" indent="0" algn="just">
              <a:spcBef>
                <a:spcPts val="640"/>
              </a:spcBef>
              <a:buClr>
                <a:schemeClr val="dk1"/>
              </a:buClr>
              <a:buSzPts val="3200"/>
              <a:buNone/>
            </a:pPr>
            <a:r>
              <a:rPr lang="en-IN" sz="1800" dirty="0">
                <a:latin typeface="Times New Roman" panose="02020603050405020304" pitchFamily="18" charset="0"/>
                <a:cs typeface="Times New Roman" panose="02020603050405020304" pitchFamily="18" charset="0"/>
              </a:rPr>
              <a:t>2) </a:t>
            </a:r>
            <a:r>
              <a:rPr lang="en-US" sz="1800" dirty="0">
                <a:latin typeface="Times New Roman" panose="02020603050405020304" pitchFamily="18" charset="0"/>
                <a:cs typeface="Times New Roman" panose="02020603050405020304" pitchFamily="18" charset="0"/>
              </a:rPr>
              <a:t>Building Automation: Control Devices and Applications — Phil </a:t>
            </a:r>
            <a:r>
              <a:rPr lang="en-US" sz="1800" dirty="0" err="1">
                <a:latin typeface="Times New Roman" panose="02020603050405020304" pitchFamily="18" charset="0"/>
                <a:cs typeface="Times New Roman" panose="02020603050405020304" pitchFamily="18" charset="0"/>
              </a:rPr>
              <a:t>Zito</a:t>
            </a:r>
            <a:r>
              <a:rPr lang="en-US" sz="1800" dirty="0">
                <a:latin typeface="Times New Roman" panose="02020603050405020304" pitchFamily="18" charset="0"/>
                <a:cs typeface="Times New Roman" panose="02020603050405020304" pitchFamily="18" charset="0"/>
              </a:rPr>
              <a:t>.</a:t>
            </a:r>
          </a:p>
          <a:p>
            <a:pPr marL="203200" indent="0" algn="just">
              <a:spcBef>
                <a:spcPts val="640"/>
              </a:spcBef>
              <a:buClr>
                <a:schemeClr val="dk1"/>
              </a:buClr>
              <a:buSzPts val="3200"/>
              <a:buNone/>
            </a:pPr>
            <a:r>
              <a:rPr lang="en-US" sz="1800" dirty="0">
                <a:latin typeface="Times New Roman" panose="02020603050405020304" pitchFamily="18" charset="0"/>
                <a:cs typeface="Times New Roman" panose="02020603050405020304" pitchFamily="18" charset="0"/>
              </a:rPr>
              <a:t>3) Internet of Things: Architecture and Design — Raj Kamal.</a:t>
            </a:r>
          </a:p>
          <a:p>
            <a:pPr marL="203200" indent="0" algn="just">
              <a:spcBef>
                <a:spcPts val="640"/>
              </a:spcBef>
              <a:buClr>
                <a:schemeClr val="dk1"/>
              </a:buClr>
              <a:buSzPts val="3200"/>
              <a:buNone/>
            </a:pPr>
            <a:r>
              <a:rPr lang="en-US" sz="1800" dirty="0">
                <a:latin typeface="Times New Roman" panose="02020603050405020304" pitchFamily="18" charset="0"/>
                <a:cs typeface="Times New Roman" panose="02020603050405020304" pitchFamily="18" charset="0"/>
              </a:rPr>
              <a:t>4) Energy Management Handbook — Wayne C. Turner and Steve Doty.</a:t>
            </a:r>
          </a:p>
          <a:p>
            <a:pPr marL="203200" indent="0" algn="just">
              <a:spcBef>
                <a:spcPts val="640"/>
              </a:spcBef>
              <a:buClr>
                <a:schemeClr val="dk1"/>
              </a:buClr>
              <a:buSzPts val="3200"/>
              <a:buNone/>
            </a:pPr>
            <a:endParaRPr lang="en-US" sz="1800" dirty="0">
              <a:latin typeface="Times New Roman" panose="02020603050405020304" pitchFamily="18" charset="0"/>
              <a:cs typeface="Times New Roman" panose="02020603050405020304" pitchFamily="18" charset="0"/>
            </a:endParaRPr>
          </a:p>
          <a:p>
            <a:pPr marL="546100" indent="-342900" algn="just">
              <a:spcBef>
                <a:spcPts val="640"/>
              </a:spcBef>
              <a:buClr>
                <a:schemeClr val="dk1"/>
              </a:buClr>
              <a:buSzPts val="3200"/>
              <a:buFontTx/>
              <a:buChar char="-"/>
            </a:pPr>
            <a:r>
              <a:rPr lang="en-IN" sz="2000" b="1" dirty="0">
                <a:latin typeface="Times New Roman" panose="02020603050405020304" pitchFamily="18" charset="0"/>
                <a:cs typeface="Times New Roman" panose="02020603050405020304" pitchFamily="18" charset="0"/>
              </a:rPr>
              <a:t>Websites </a:t>
            </a:r>
          </a:p>
          <a:p>
            <a:pPr marL="203200" indent="0" algn="just">
              <a:spcBef>
                <a:spcPts val="640"/>
              </a:spcBef>
              <a:buClr>
                <a:schemeClr val="dk1"/>
              </a:buClr>
              <a:buSzPts val="3200"/>
              <a:buNone/>
            </a:pPr>
            <a:r>
              <a:rPr lang="en-IN" sz="1800" dirty="0">
                <a:latin typeface="Times New Roman" panose="02020603050405020304" pitchFamily="18" charset="0"/>
                <a:cs typeface="Times New Roman" panose="02020603050405020304" pitchFamily="18" charset="0"/>
              </a:rPr>
              <a:t>1) Arduino Official Website — </a:t>
            </a:r>
            <a:r>
              <a:rPr lang="en-IN" sz="1800" dirty="0">
                <a:latin typeface="Times New Roman" panose="02020603050405020304" pitchFamily="18" charset="0"/>
                <a:cs typeface="Times New Roman" panose="02020603050405020304" pitchFamily="18" charset="0"/>
                <a:hlinkClick r:id="rId3"/>
              </a:rPr>
              <a:t>www.arduino.cc</a:t>
            </a:r>
            <a:endParaRPr lang="en-IN" sz="1800" dirty="0">
              <a:latin typeface="Times New Roman" panose="02020603050405020304" pitchFamily="18" charset="0"/>
              <a:cs typeface="Times New Roman" panose="02020603050405020304" pitchFamily="18" charset="0"/>
            </a:endParaRPr>
          </a:p>
          <a:p>
            <a:pPr marL="203200" indent="0" algn="just">
              <a:spcBef>
                <a:spcPts val="640"/>
              </a:spcBef>
              <a:buClr>
                <a:schemeClr val="dk1"/>
              </a:buClr>
              <a:buSzPts val="3200"/>
              <a:buNone/>
            </a:pPr>
            <a:r>
              <a:rPr lang="en-US" sz="1800" dirty="0">
                <a:latin typeface="Times New Roman" panose="02020603050405020304" pitchFamily="18" charset="0"/>
                <a:cs typeface="Times New Roman" panose="02020603050405020304" pitchFamily="18" charset="0"/>
              </a:rPr>
              <a:t>2) </a:t>
            </a:r>
            <a:r>
              <a:rPr lang="en-IN" sz="1800" dirty="0" err="1">
                <a:latin typeface="Times New Roman" panose="02020603050405020304" pitchFamily="18" charset="0"/>
                <a:cs typeface="Times New Roman" panose="02020603050405020304" pitchFamily="18" charset="0"/>
              </a:rPr>
              <a:t>Espressif</a:t>
            </a:r>
            <a:r>
              <a:rPr lang="en-IN" sz="1800" dirty="0">
                <a:latin typeface="Times New Roman" panose="02020603050405020304" pitchFamily="18" charset="0"/>
                <a:cs typeface="Times New Roman" panose="02020603050405020304" pitchFamily="18" charset="0"/>
              </a:rPr>
              <a:t> ESP32 Documentation — </a:t>
            </a:r>
            <a:r>
              <a:rPr lang="en-IN" sz="1800" dirty="0">
                <a:latin typeface="Times New Roman" panose="02020603050405020304" pitchFamily="18" charset="0"/>
                <a:cs typeface="Times New Roman" panose="02020603050405020304" pitchFamily="18" charset="0"/>
                <a:hlinkClick r:id="rId4"/>
              </a:rPr>
              <a:t>docs.espressif.com</a:t>
            </a:r>
            <a:endParaRPr lang="en-IN" sz="1800" dirty="0">
              <a:latin typeface="Times New Roman" panose="02020603050405020304" pitchFamily="18" charset="0"/>
              <a:cs typeface="Times New Roman" panose="02020603050405020304" pitchFamily="18" charset="0"/>
            </a:endParaRPr>
          </a:p>
          <a:p>
            <a:pPr marL="203200" indent="0" algn="just">
              <a:spcBef>
                <a:spcPts val="640"/>
              </a:spcBef>
              <a:buClr>
                <a:schemeClr val="dk1"/>
              </a:buClr>
              <a:buSzPts val="3200"/>
              <a:buNone/>
            </a:pPr>
            <a:r>
              <a:rPr lang="en-IN" sz="1800" dirty="0">
                <a:latin typeface="Times New Roman" panose="02020603050405020304" pitchFamily="18" charset="0"/>
                <a:cs typeface="Times New Roman" panose="02020603050405020304" pitchFamily="18" charset="0"/>
              </a:rPr>
              <a:t>3) MDPI Research Publications — </a:t>
            </a:r>
            <a:r>
              <a:rPr lang="en-IN" sz="1800" dirty="0">
                <a:latin typeface="Times New Roman" panose="02020603050405020304" pitchFamily="18" charset="0"/>
                <a:cs typeface="Times New Roman" panose="02020603050405020304" pitchFamily="18" charset="0"/>
                <a:hlinkClick r:id="rId5"/>
              </a:rPr>
              <a:t>www.mdpi.com</a:t>
            </a:r>
            <a:endParaRPr lang="en-IN" sz="1800" dirty="0">
              <a:latin typeface="Times New Roman" panose="02020603050405020304" pitchFamily="18" charset="0"/>
              <a:cs typeface="Times New Roman" panose="02020603050405020304" pitchFamily="18" charset="0"/>
            </a:endParaRPr>
          </a:p>
          <a:p>
            <a:pPr marL="203200" indent="0" algn="just">
              <a:spcBef>
                <a:spcPts val="640"/>
              </a:spcBef>
              <a:buClr>
                <a:schemeClr val="dk1"/>
              </a:buClr>
              <a:buSzPts val="3200"/>
              <a:buNone/>
            </a:pPr>
            <a:r>
              <a:rPr lang="en-IN" sz="1800" dirty="0">
                <a:latin typeface="Times New Roman" panose="02020603050405020304" pitchFamily="18" charset="0"/>
                <a:cs typeface="Times New Roman" panose="02020603050405020304" pitchFamily="18" charset="0"/>
              </a:rPr>
              <a:t>4) </a:t>
            </a:r>
            <a:r>
              <a:rPr lang="en-US" sz="1800" dirty="0">
                <a:latin typeface="Times New Roman" panose="02020603050405020304" pitchFamily="18" charset="0"/>
                <a:cs typeface="Times New Roman" panose="02020603050405020304" pitchFamily="18" charset="0"/>
              </a:rPr>
              <a:t>U.S. Department of Energy — </a:t>
            </a:r>
            <a:r>
              <a:rPr lang="en-US" sz="1800" dirty="0">
                <a:latin typeface="Times New Roman" panose="02020603050405020304" pitchFamily="18" charset="0"/>
                <a:cs typeface="Times New Roman" panose="02020603050405020304" pitchFamily="18" charset="0"/>
                <a:hlinkClick r:id="rId6"/>
              </a:rPr>
              <a:t>www.energy.gov</a:t>
            </a:r>
            <a:endParaRPr lang="en-US" sz="1800" dirty="0">
              <a:latin typeface="Times New Roman" panose="02020603050405020304" pitchFamily="18" charset="0"/>
              <a:cs typeface="Times New Roman" panose="02020603050405020304" pitchFamily="18" charset="0"/>
            </a:endParaRPr>
          </a:p>
          <a:p>
            <a:pPr marL="203200" indent="0" algn="just">
              <a:spcBef>
                <a:spcPts val="640"/>
              </a:spcBef>
              <a:buClr>
                <a:schemeClr val="dk1"/>
              </a:buClr>
              <a:buSzPts val="3200"/>
              <a:buNone/>
            </a:pPr>
            <a:endParaRPr lang="en-US" sz="1800" dirty="0">
              <a:latin typeface="Times New Roman" panose="02020603050405020304" pitchFamily="18" charset="0"/>
              <a:cs typeface="Times New Roman" panose="02020603050405020304" pitchFamily="18" charset="0"/>
            </a:endParaRPr>
          </a:p>
          <a:p>
            <a:pPr marL="0" lvl="0" indent="0" algn="just" rtl="0">
              <a:spcBef>
                <a:spcPts val="640"/>
              </a:spcBef>
              <a:spcAft>
                <a:spcPts val="0"/>
              </a:spcAft>
              <a:buClr>
                <a:schemeClr val="dk1"/>
              </a:buClr>
              <a:buSzPts val="3200"/>
              <a:buNone/>
            </a:pPr>
            <a:endParaRPr dirty="0"/>
          </a:p>
          <a:p>
            <a:pPr marL="0" lvl="0" indent="0" algn="just" rtl="0">
              <a:spcBef>
                <a:spcPts val="640"/>
              </a:spcBef>
              <a:spcAft>
                <a:spcPts val="0"/>
              </a:spcAft>
              <a:buClr>
                <a:schemeClr val="dk1"/>
              </a:buClr>
              <a:buSzPts val="3200"/>
              <a:buNone/>
            </a:pPr>
            <a:endParaRPr dirty="0"/>
          </a:p>
          <a:p>
            <a:pPr marL="0" lvl="0" indent="0" algn="just" rtl="0">
              <a:spcBef>
                <a:spcPts val="640"/>
              </a:spcBef>
              <a:spcAft>
                <a:spcPts val="0"/>
              </a:spcAft>
              <a:buClr>
                <a:schemeClr val="dk1"/>
              </a:buClr>
              <a:buSzPts val="3200"/>
              <a:buNone/>
            </a:pPr>
            <a:endParaRPr dirty="0"/>
          </a:p>
        </p:txBody>
      </p:sp>
      <p:sp>
        <p:nvSpPr>
          <p:cNvPr id="603" name="Google Shape;603;p27"/>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19673355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28"/>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sz="4000" dirty="0">
                <a:solidFill>
                  <a:srgbClr val="002060"/>
                </a:solidFill>
                <a:latin typeface="Times New Roman" panose="02020603050405020304" pitchFamily="18" charset="0"/>
                <a:cs typeface="Times New Roman" panose="02020603050405020304" pitchFamily="18" charset="0"/>
              </a:rPr>
              <a:t>References</a:t>
            </a:r>
            <a:endParaRPr dirty="0">
              <a:solidFill>
                <a:srgbClr val="002060"/>
              </a:solidFill>
              <a:latin typeface="Times New Roman" panose="02020603050405020304" pitchFamily="18" charset="0"/>
              <a:cs typeface="Times New Roman" panose="02020603050405020304" pitchFamily="18" charset="0"/>
            </a:endParaRPr>
          </a:p>
        </p:txBody>
      </p:sp>
      <p:sp>
        <p:nvSpPr>
          <p:cNvPr id="609" name="Google Shape;609;p28"/>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203200" lvl="0" indent="0" algn="just">
              <a:spcBef>
                <a:spcPts val="0"/>
              </a:spcBef>
              <a:buClr>
                <a:schemeClr val="dk1"/>
              </a:buClr>
              <a:buSzPts val="3200"/>
              <a:buNone/>
            </a:pPr>
            <a:endParaRPr lang="en-US" sz="1400" dirty="0">
              <a:latin typeface="Times New Roman" panose="02020603050405020304" pitchFamily="18" charset="0"/>
              <a:cs typeface="Times New Roman" panose="02020603050405020304" pitchFamily="18" charset="0"/>
            </a:endParaRPr>
          </a:p>
          <a:p>
            <a:pPr marL="203200" lvl="0" indent="0" algn="just">
              <a:spcBef>
                <a:spcPts val="0"/>
              </a:spcBef>
              <a:buClr>
                <a:schemeClr val="dk1"/>
              </a:buClr>
              <a:buSzPts val="3200"/>
              <a:buNone/>
            </a:pPr>
            <a:endParaRPr lang="en-US" sz="1400" dirty="0">
              <a:latin typeface="Times New Roman" panose="02020603050405020304" pitchFamily="18" charset="0"/>
              <a:cs typeface="Times New Roman" panose="02020603050405020304" pitchFamily="18" charset="0"/>
            </a:endParaRPr>
          </a:p>
          <a:p>
            <a:pPr marL="203200" lvl="0" indent="0" algn="just">
              <a:spcBef>
                <a:spcPts val="0"/>
              </a:spcBef>
              <a:buClr>
                <a:schemeClr val="dk1"/>
              </a:buClr>
              <a:buSzPts val="3200"/>
              <a:buNone/>
            </a:pPr>
            <a:r>
              <a:rPr lang="en-US" sz="1400" dirty="0">
                <a:latin typeface="Times New Roman" panose="02020603050405020304" pitchFamily="18" charset="0"/>
                <a:cs typeface="Times New Roman" panose="02020603050405020304" pitchFamily="18" charset="0"/>
              </a:rPr>
              <a:t>1.</a:t>
            </a:r>
            <a:r>
              <a:rPr lang="en-IN" sz="1400" dirty="0">
                <a:latin typeface="Times New Roman" panose="02020603050405020304" pitchFamily="18" charset="0"/>
                <a:cs typeface="Times New Roman" panose="02020603050405020304" pitchFamily="18" charset="0"/>
              </a:rPr>
              <a:t> Filho, G.P.R.; Villas, L.A.; Gonçalves, V.P.; Pessin, G.; Loureiro, A.A.F.; Ueyama, J. Internet of Things Energy-efficient smart home systems: Infrastructure and decision-making process. Internet Things 2019, 5, 153–167. [</a:t>
            </a:r>
            <a:r>
              <a:rPr lang="en-IN" sz="1400" dirty="0" err="1">
                <a:latin typeface="Times New Roman" panose="02020603050405020304" pitchFamily="18" charset="0"/>
                <a:cs typeface="Times New Roman" panose="02020603050405020304" pitchFamily="18" charset="0"/>
              </a:rPr>
              <a:t>CrossRef</a:t>
            </a:r>
            <a:r>
              <a:rPr lang="en-IN" sz="1400" dirty="0">
                <a:latin typeface="Times New Roman" panose="02020603050405020304" pitchFamily="18" charset="0"/>
                <a:cs typeface="Times New Roman" panose="02020603050405020304" pitchFamily="18" charset="0"/>
              </a:rPr>
              <a:t>]</a:t>
            </a:r>
          </a:p>
          <a:p>
            <a:pPr marL="203200" lvl="0" indent="0" algn="just">
              <a:spcBef>
                <a:spcPts val="0"/>
              </a:spcBef>
              <a:buClr>
                <a:schemeClr val="dk1"/>
              </a:buClr>
              <a:buSzPts val="3200"/>
              <a:buNone/>
            </a:pPr>
            <a:endParaRPr lang="en-IN" sz="1400" dirty="0">
              <a:latin typeface="Times New Roman" panose="02020603050405020304" pitchFamily="18" charset="0"/>
              <a:cs typeface="Times New Roman" panose="02020603050405020304" pitchFamily="18" charset="0"/>
            </a:endParaRPr>
          </a:p>
          <a:p>
            <a:pPr marL="203200" lvl="0" indent="0" algn="just">
              <a:spcBef>
                <a:spcPts val="0"/>
              </a:spcBef>
              <a:buClr>
                <a:schemeClr val="dk1"/>
              </a:buClr>
              <a:buSzPts val="3200"/>
              <a:buNone/>
            </a:pPr>
            <a:r>
              <a:rPr lang="en-IN" sz="1400" dirty="0">
                <a:latin typeface="Times New Roman" panose="02020603050405020304" pitchFamily="18" charset="0"/>
                <a:cs typeface="Times New Roman" panose="02020603050405020304" pitchFamily="18" charset="0"/>
              </a:rPr>
              <a:t>2. Thema, J.; </a:t>
            </a:r>
            <a:r>
              <a:rPr lang="en-IN" sz="1400" dirty="0" err="1">
                <a:latin typeface="Times New Roman" panose="02020603050405020304" pitchFamily="18" charset="0"/>
                <a:cs typeface="Times New Roman" panose="02020603050405020304" pitchFamily="18" charset="0"/>
              </a:rPr>
              <a:t>Suerkemper</a:t>
            </a:r>
            <a:r>
              <a:rPr lang="en-IN" sz="1400" dirty="0">
                <a:latin typeface="Times New Roman" panose="02020603050405020304" pitchFamily="18" charset="0"/>
                <a:cs typeface="Times New Roman" panose="02020603050405020304" pitchFamily="18" charset="0"/>
              </a:rPr>
              <a:t>, F.; </a:t>
            </a:r>
            <a:r>
              <a:rPr lang="en-IN" sz="1400" dirty="0" err="1">
                <a:latin typeface="Times New Roman" panose="02020603050405020304" pitchFamily="18" charset="0"/>
                <a:cs typeface="Times New Roman" panose="02020603050405020304" pitchFamily="18" charset="0"/>
              </a:rPr>
              <a:t>Couder</a:t>
            </a:r>
            <a:r>
              <a:rPr lang="en-IN" sz="1400" dirty="0">
                <a:latin typeface="Times New Roman" panose="02020603050405020304" pitchFamily="18" charset="0"/>
                <a:cs typeface="Times New Roman" panose="02020603050405020304" pitchFamily="18" charset="0"/>
              </a:rPr>
              <a:t>, J.; </a:t>
            </a:r>
            <a:r>
              <a:rPr lang="en-IN" sz="1400" dirty="0" err="1">
                <a:latin typeface="Times New Roman" panose="02020603050405020304" pitchFamily="18" charset="0"/>
                <a:cs typeface="Times New Roman" panose="02020603050405020304" pitchFamily="18" charset="0"/>
              </a:rPr>
              <a:t>Mzavanadze</a:t>
            </a:r>
            <a:r>
              <a:rPr lang="en-IN" sz="1400" dirty="0">
                <a:latin typeface="Times New Roman" panose="02020603050405020304" pitchFamily="18" charset="0"/>
                <a:cs typeface="Times New Roman" panose="02020603050405020304" pitchFamily="18" charset="0"/>
              </a:rPr>
              <a:t>, N.; Chatterjee, S.; Teubler, J.; Thomas, S.; Ürge-</a:t>
            </a:r>
            <a:r>
              <a:rPr lang="en-IN" sz="1400" dirty="0" err="1">
                <a:latin typeface="Times New Roman" panose="02020603050405020304" pitchFamily="18" charset="0"/>
                <a:cs typeface="Times New Roman" panose="02020603050405020304" pitchFamily="18" charset="0"/>
              </a:rPr>
              <a:t>Vorsatz</a:t>
            </a:r>
            <a:r>
              <a:rPr lang="en-IN" sz="1400" dirty="0">
                <a:latin typeface="Times New Roman" panose="02020603050405020304" pitchFamily="18" charset="0"/>
                <a:cs typeface="Times New Roman" panose="02020603050405020304" pitchFamily="18" charset="0"/>
              </a:rPr>
              <a:t>, D.; Hansen, M.B.; </a:t>
            </a:r>
            <a:r>
              <a:rPr lang="en-IN" sz="1400" dirty="0" err="1">
                <a:latin typeface="Times New Roman" panose="02020603050405020304" pitchFamily="18" charset="0"/>
                <a:cs typeface="Times New Roman" panose="02020603050405020304" pitchFamily="18" charset="0"/>
              </a:rPr>
              <a:t>Bouzarovski</a:t>
            </a:r>
            <a:r>
              <a:rPr lang="en-IN" sz="1400" dirty="0">
                <a:latin typeface="Times New Roman" panose="02020603050405020304" pitchFamily="18" charset="0"/>
                <a:cs typeface="Times New Roman" panose="02020603050405020304" pitchFamily="18" charset="0"/>
              </a:rPr>
              <a:t>, S.; et al. The multiple benefits of the 2030 EU energy efficiency potential. Energies 2019, 12, 2798. [</a:t>
            </a:r>
            <a:r>
              <a:rPr lang="en-IN" sz="1400" dirty="0" err="1">
                <a:latin typeface="Times New Roman" panose="02020603050405020304" pitchFamily="18" charset="0"/>
                <a:cs typeface="Times New Roman" panose="02020603050405020304" pitchFamily="18" charset="0"/>
              </a:rPr>
              <a:t>CrossRef</a:t>
            </a:r>
            <a:r>
              <a:rPr lang="en-IN" sz="1400" dirty="0">
                <a:latin typeface="Times New Roman" panose="02020603050405020304" pitchFamily="18" charset="0"/>
                <a:cs typeface="Times New Roman" panose="02020603050405020304" pitchFamily="18" charset="0"/>
              </a:rPr>
              <a:t>]</a:t>
            </a:r>
          </a:p>
          <a:p>
            <a:pPr marL="203200" lvl="0" indent="0" algn="just">
              <a:spcBef>
                <a:spcPts val="0"/>
              </a:spcBef>
              <a:buClr>
                <a:schemeClr val="dk1"/>
              </a:buClr>
              <a:buSzPts val="3200"/>
              <a:buNone/>
            </a:pPr>
            <a:endParaRPr lang="en-IN" sz="1400" dirty="0">
              <a:latin typeface="Times New Roman" panose="02020603050405020304" pitchFamily="18" charset="0"/>
              <a:cs typeface="Times New Roman" panose="02020603050405020304" pitchFamily="18" charset="0"/>
            </a:endParaRPr>
          </a:p>
          <a:p>
            <a:pPr marL="203200" lvl="0" indent="0" algn="just">
              <a:spcBef>
                <a:spcPts val="0"/>
              </a:spcBef>
              <a:buClr>
                <a:schemeClr val="dk1"/>
              </a:buClr>
              <a:buSzPts val="3200"/>
              <a:buNone/>
            </a:pPr>
            <a:r>
              <a:rPr lang="en-IN" sz="1400" dirty="0">
                <a:latin typeface="Times New Roman" panose="02020603050405020304" pitchFamily="18" charset="0"/>
                <a:cs typeface="Times New Roman" panose="02020603050405020304" pitchFamily="18" charset="0"/>
              </a:rPr>
              <a:t>3.Mosavi,A.;Salimi,M.;Ardabili,S.F.;Rabczuk,T.;Shamshirband,S.;Varkonyi-Koczy,A.R.Stateoftheartof machinelearningmodelsinenergysystems,asystematicReview.Energies2019,12,1301. [</a:t>
            </a:r>
            <a:r>
              <a:rPr lang="en-IN" sz="1400" dirty="0" err="1">
                <a:latin typeface="Times New Roman" panose="02020603050405020304" pitchFamily="18" charset="0"/>
                <a:cs typeface="Times New Roman" panose="02020603050405020304" pitchFamily="18" charset="0"/>
              </a:rPr>
              <a:t>CrossRef</a:t>
            </a:r>
            <a:r>
              <a:rPr lang="en-IN" sz="1400" dirty="0">
                <a:latin typeface="Times New Roman" panose="02020603050405020304" pitchFamily="18" charset="0"/>
                <a:cs typeface="Times New Roman" panose="02020603050405020304" pitchFamily="18" charset="0"/>
              </a:rPr>
              <a:t>]</a:t>
            </a:r>
          </a:p>
          <a:p>
            <a:pPr marL="203200" lvl="0" indent="0" algn="just">
              <a:spcBef>
                <a:spcPts val="0"/>
              </a:spcBef>
              <a:buClr>
                <a:schemeClr val="dk1"/>
              </a:buClr>
              <a:buSzPts val="3200"/>
              <a:buNone/>
            </a:pPr>
            <a:endParaRPr lang="en-IN" sz="1400" dirty="0">
              <a:latin typeface="Times New Roman" panose="02020603050405020304" pitchFamily="18" charset="0"/>
              <a:cs typeface="Times New Roman" panose="02020603050405020304" pitchFamily="18" charset="0"/>
            </a:endParaRPr>
          </a:p>
          <a:p>
            <a:pPr marL="203200" lvl="0" indent="0" algn="just">
              <a:spcBef>
                <a:spcPts val="0"/>
              </a:spcBef>
              <a:buClr>
                <a:schemeClr val="dk1"/>
              </a:buClr>
              <a:buSzPts val="3200"/>
              <a:buNone/>
            </a:pPr>
            <a:r>
              <a:rPr lang="en-IN" sz="1400" dirty="0">
                <a:latin typeface="Times New Roman" panose="02020603050405020304" pitchFamily="18" charset="0"/>
                <a:cs typeface="Times New Roman" panose="02020603050405020304" pitchFamily="18" charset="0"/>
              </a:rPr>
              <a:t>4.Nejat,P.;Jomehzadeh,F.;Taheri,M.M.;Gohari,M.;Majid,M.Z.A.Aglobalreviewofenergyconsumption, CO2emissionsandpolicyintheresidentialsector(withanoverviewofthetoptenCO2emittingcountries). Renew.Sustain.EnergyRev.2015,43,843–862. [</a:t>
            </a:r>
            <a:r>
              <a:rPr lang="en-IN" sz="1400" dirty="0" err="1">
                <a:latin typeface="Times New Roman" panose="02020603050405020304" pitchFamily="18" charset="0"/>
                <a:cs typeface="Times New Roman" panose="02020603050405020304" pitchFamily="18" charset="0"/>
              </a:rPr>
              <a:t>CrossRef</a:t>
            </a:r>
            <a:r>
              <a:rPr lang="en-IN" sz="1400" dirty="0">
                <a:latin typeface="Times New Roman" panose="02020603050405020304" pitchFamily="18" charset="0"/>
                <a:cs typeface="Times New Roman" panose="02020603050405020304" pitchFamily="18" charset="0"/>
              </a:rPr>
              <a:t>]</a:t>
            </a:r>
          </a:p>
          <a:p>
            <a:pPr marL="203200" lvl="0" indent="0" algn="just">
              <a:spcBef>
                <a:spcPts val="0"/>
              </a:spcBef>
              <a:buClr>
                <a:schemeClr val="dk1"/>
              </a:buClr>
              <a:buSzPts val="3200"/>
              <a:buNone/>
            </a:pPr>
            <a:endParaRPr lang="en-IN" sz="1400" dirty="0">
              <a:latin typeface="Times New Roman" panose="02020603050405020304" pitchFamily="18" charset="0"/>
              <a:cs typeface="Times New Roman" panose="02020603050405020304" pitchFamily="18" charset="0"/>
            </a:endParaRPr>
          </a:p>
          <a:p>
            <a:pPr marL="203200" lvl="0" indent="0" algn="just">
              <a:spcBef>
                <a:spcPts val="0"/>
              </a:spcBef>
              <a:buClr>
                <a:schemeClr val="dk1"/>
              </a:buClr>
              <a:buSzPts val="3200"/>
              <a:buNone/>
            </a:pPr>
            <a:r>
              <a:rPr lang="en-IN" sz="1400" dirty="0">
                <a:latin typeface="Times New Roman" panose="02020603050405020304" pitchFamily="18" charset="0"/>
                <a:cs typeface="Times New Roman" panose="02020603050405020304" pitchFamily="18" charset="0"/>
              </a:rPr>
              <a:t>5. Baig F, Beg S, Khan MF. Controlling home appliances remotely through voice command. </a:t>
            </a:r>
            <a:r>
              <a:rPr lang="en-IN" sz="1400" dirty="0" err="1">
                <a:latin typeface="Times New Roman" panose="02020603050405020304" pitchFamily="18" charset="0"/>
                <a:cs typeface="Times New Roman" panose="02020603050405020304" pitchFamily="18" charset="0"/>
              </a:rPr>
              <a:t>arXiv</a:t>
            </a:r>
            <a:r>
              <a:rPr lang="en-IN" sz="1400" dirty="0">
                <a:latin typeface="Times New Roman" panose="02020603050405020304" pitchFamily="18" charset="0"/>
                <a:cs typeface="Times New Roman" panose="02020603050405020304" pitchFamily="18" charset="0"/>
              </a:rPr>
              <a:t>. 2012. https:// </a:t>
            </a:r>
            <a:r>
              <a:rPr lang="en-IN" sz="1400" dirty="0" err="1">
                <a:latin typeface="Times New Roman" panose="02020603050405020304" pitchFamily="18" charset="0"/>
                <a:cs typeface="Times New Roman" panose="02020603050405020304" pitchFamily="18" charset="0"/>
              </a:rPr>
              <a:t>doi</a:t>
            </a:r>
            <a:r>
              <a:rPr lang="en-IN" sz="1400" dirty="0">
                <a:latin typeface="Times New Roman" panose="02020603050405020304" pitchFamily="18" charset="0"/>
                <a:cs typeface="Times New Roman" panose="02020603050405020304" pitchFamily="18" charset="0"/>
              </a:rPr>
              <a:t>. org/ 10. 48550/ </a:t>
            </a:r>
            <a:r>
              <a:rPr lang="en-IN" sz="1400" dirty="0" err="1">
                <a:latin typeface="Times New Roman" panose="02020603050405020304" pitchFamily="18" charset="0"/>
                <a:cs typeface="Times New Roman" panose="02020603050405020304" pitchFamily="18" charset="0"/>
              </a:rPr>
              <a:t>arXiv</a:t>
            </a:r>
            <a:r>
              <a:rPr lang="en-IN" sz="1400" dirty="0">
                <a:latin typeface="Times New Roman" panose="02020603050405020304" pitchFamily="18" charset="0"/>
                <a:cs typeface="Times New Roman" panose="02020603050405020304" pitchFamily="18" charset="0"/>
              </a:rPr>
              <a:t>. 1212. 1790.</a:t>
            </a:r>
          </a:p>
          <a:p>
            <a:pPr marL="203200" lvl="0" indent="0" algn="just">
              <a:spcBef>
                <a:spcPts val="0"/>
              </a:spcBef>
              <a:buClr>
                <a:schemeClr val="dk1"/>
              </a:buClr>
              <a:buSzPts val="3200"/>
              <a:buNone/>
            </a:pPr>
            <a:endParaRPr lang="en-IN" sz="1400" dirty="0">
              <a:latin typeface="Times New Roman" panose="02020603050405020304" pitchFamily="18" charset="0"/>
              <a:cs typeface="Times New Roman" panose="02020603050405020304" pitchFamily="18" charset="0"/>
            </a:endParaRPr>
          </a:p>
          <a:p>
            <a:pPr marL="203200" lvl="0" indent="0" algn="just">
              <a:spcBef>
                <a:spcPts val="0"/>
              </a:spcBef>
              <a:buClr>
                <a:schemeClr val="dk1"/>
              </a:buClr>
              <a:buSzPts val="3200"/>
              <a:buNone/>
            </a:pPr>
            <a:r>
              <a:rPr lang="en-IN" sz="1400" dirty="0">
                <a:latin typeface="Times New Roman" panose="02020603050405020304" pitchFamily="18" charset="0"/>
                <a:cs typeface="Times New Roman" panose="02020603050405020304" pitchFamily="18" charset="0"/>
              </a:rPr>
              <a:t>6. </a:t>
            </a:r>
            <a:r>
              <a:rPr lang="en-IN" sz="1400" dirty="0" err="1">
                <a:latin typeface="Times New Roman" panose="02020603050405020304" pitchFamily="18" charset="0"/>
                <a:cs typeface="Times New Roman" panose="02020603050405020304" pitchFamily="18" charset="0"/>
              </a:rPr>
              <a:t>Kaluri</a:t>
            </a:r>
            <a:r>
              <a:rPr lang="en-IN" sz="1400" dirty="0">
                <a:latin typeface="Times New Roman" panose="02020603050405020304" pitchFamily="18" charset="0"/>
                <a:cs typeface="Times New Roman" panose="02020603050405020304" pitchFamily="18" charset="0"/>
              </a:rPr>
              <a:t> R, Rajput DS, Xin Q, Lakshmanna K, Bhattacharya S, </a:t>
            </a:r>
            <a:r>
              <a:rPr lang="en-IN" sz="1400" dirty="0" err="1">
                <a:latin typeface="Times New Roman" panose="02020603050405020304" pitchFamily="18" charset="0"/>
                <a:cs typeface="Times New Roman" panose="02020603050405020304" pitchFamily="18" charset="0"/>
              </a:rPr>
              <a:t>Gadekallu</a:t>
            </a:r>
            <a:r>
              <a:rPr lang="en-IN" sz="1400" dirty="0">
                <a:latin typeface="Times New Roman" panose="02020603050405020304" pitchFamily="18" charset="0"/>
                <a:cs typeface="Times New Roman" panose="02020603050405020304" pitchFamily="18" charset="0"/>
              </a:rPr>
              <a:t> TR, </a:t>
            </a:r>
            <a:r>
              <a:rPr lang="en-IN" sz="1400" dirty="0" err="1">
                <a:latin typeface="Times New Roman" panose="02020603050405020304" pitchFamily="18" charset="0"/>
                <a:cs typeface="Times New Roman" panose="02020603050405020304" pitchFamily="18" charset="0"/>
              </a:rPr>
              <a:t>Maddikunta</a:t>
            </a:r>
            <a:r>
              <a:rPr lang="en-IN" sz="1400" dirty="0">
                <a:latin typeface="Times New Roman" panose="02020603050405020304" pitchFamily="18" charset="0"/>
                <a:cs typeface="Times New Roman" panose="02020603050405020304" pitchFamily="18" charset="0"/>
              </a:rPr>
              <a:t> PKR. </a:t>
            </a:r>
            <a:r>
              <a:rPr lang="en-IN" sz="1400" dirty="0" err="1">
                <a:latin typeface="Times New Roman" panose="02020603050405020304" pitchFamily="18" charset="0"/>
                <a:cs typeface="Times New Roman" panose="02020603050405020304" pitchFamily="18" charset="0"/>
              </a:rPr>
              <a:t>Roughsets</a:t>
            </a:r>
            <a:r>
              <a:rPr lang="en-IN" sz="1400" dirty="0">
                <a:latin typeface="Times New Roman" panose="02020603050405020304" pitchFamily="18" charset="0"/>
                <a:cs typeface="Times New Roman" panose="02020603050405020304" pitchFamily="18" charset="0"/>
              </a:rPr>
              <a:t>-based approach for predicting battery life in IoT. </a:t>
            </a:r>
            <a:r>
              <a:rPr lang="en-IN" sz="1400" dirty="0" err="1">
                <a:latin typeface="Times New Roman" panose="02020603050405020304" pitchFamily="18" charset="0"/>
                <a:cs typeface="Times New Roman" panose="02020603050405020304" pitchFamily="18" charset="0"/>
              </a:rPr>
              <a:t>arXiv</a:t>
            </a:r>
            <a:r>
              <a:rPr lang="en-IN" sz="1400" dirty="0">
                <a:latin typeface="Times New Roman" panose="02020603050405020304" pitchFamily="18" charset="0"/>
                <a:cs typeface="Times New Roman" panose="02020603050405020304" pitchFamily="18" charset="0"/>
              </a:rPr>
              <a:t>. 2021. https:// </a:t>
            </a:r>
            <a:r>
              <a:rPr lang="en-IN" sz="1400" dirty="0" err="1">
                <a:latin typeface="Times New Roman" panose="02020603050405020304" pitchFamily="18" charset="0"/>
                <a:cs typeface="Times New Roman" panose="02020603050405020304" pitchFamily="18" charset="0"/>
              </a:rPr>
              <a:t>doi</a:t>
            </a:r>
            <a:r>
              <a:rPr lang="en-IN" sz="1400" dirty="0">
                <a:latin typeface="Times New Roman" panose="02020603050405020304" pitchFamily="18" charset="0"/>
                <a:cs typeface="Times New Roman" panose="02020603050405020304" pitchFamily="18" charset="0"/>
              </a:rPr>
              <a:t>. org/ 10. 48550/ </a:t>
            </a:r>
            <a:r>
              <a:rPr lang="en-IN" sz="1400" dirty="0" err="1">
                <a:latin typeface="Times New Roman" panose="02020603050405020304" pitchFamily="18" charset="0"/>
                <a:cs typeface="Times New Roman" panose="02020603050405020304" pitchFamily="18" charset="0"/>
              </a:rPr>
              <a:t>arXiv</a:t>
            </a:r>
            <a:r>
              <a:rPr lang="en-IN" sz="1400" dirty="0">
                <a:latin typeface="Times New Roman" panose="02020603050405020304" pitchFamily="18" charset="0"/>
                <a:cs typeface="Times New Roman" panose="02020603050405020304" pitchFamily="18" charset="0"/>
              </a:rPr>
              <a:t>. 2102. 06026.</a:t>
            </a:r>
          </a:p>
          <a:p>
            <a:pPr marL="203200" lvl="0" indent="0" algn="just">
              <a:spcBef>
                <a:spcPts val="0"/>
              </a:spcBef>
              <a:buClr>
                <a:schemeClr val="dk1"/>
              </a:buClr>
              <a:buSzPts val="3200"/>
              <a:buNone/>
            </a:pPr>
            <a:endParaRPr lang="en-IN" sz="1400" dirty="0">
              <a:latin typeface="Times New Roman" panose="02020603050405020304" pitchFamily="18" charset="0"/>
              <a:cs typeface="Times New Roman" panose="02020603050405020304" pitchFamily="18" charset="0"/>
            </a:endParaRPr>
          </a:p>
          <a:p>
            <a:pPr marL="203200" lvl="0" indent="0" algn="just">
              <a:spcBef>
                <a:spcPts val="0"/>
              </a:spcBef>
              <a:buClr>
                <a:schemeClr val="dk1"/>
              </a:buClr>
              <a:buSzPts val="3200"/>
              <a:buNone/>
            </a:pPr>
            <a:r>
              <a:rPr lang="en-IN" sz="1400" dirty="0">
                <a:latin typeface="Times New Roman" panose="02020603050405020304" pitchFamily="18" charset="0"/>
                <a:cs typeface="Times New Roman" panose="02020603050405020304" pitchFamily="18" charset="0"/>
              </a:rPr>
              <a:t>7. A. Khalil, N. Mbarek and O. Togni, “Fuzzy logic based model for self-optimizing energy consumption in </a:t>
            </a:r>
            <a:r>
              <a:rPr lang="en-IN" sz="1400" dirty="0" err="1">
                <a:latin typeface="Times New Roman" panose="02020603050405020304" pitchFamily="18" charset="0"/>
                <a:cs typeface="Times New Roman" panose="02020603050405020304" pitchFamily="18" charset="0"/>
              </a:rPr>
              <a:t>IoTenvironment</a:t>
            </a:r>
            <a:r>
              <a:rPr lang="en-IN" sz="1400" dirty="0">
                <a:latin typeface="Times New Roman" panose="02020603050405020304" pitchFamily="18" charset="0"/>
                <a:cs typeface="Times New Roman" panose="02020603050405020304" pitchFamily="18" charset="0"/>
              </a:rPr>
              <a:t>,”in 2021IEEEWirelessCommunicationsandNetworkingConf.,Nanjing,China,pp.1–7, 2021. </a:t>
            </a:r>
          </a:p>
          <a:p>
            <a:pPr marL="203200" lvl="0" indent="0" algn="just">
              <a:spcBef>
                <a:spcPts val="0"/>
              </a:spcBef>
              <a:buClr>
                <a:schemeClr val="dk1"/>
              </a:buClr>
              <a:buSzPts val="3200"/>
              <a:buNone/>
            </a:pPr>
            <a:endParaRPr lang="en-IN" sz="1400" dirty="0">
              <a:latin typeface="Times New Roman" panose="02020603050405020304" pitchFamily="18" charset="0"/>
              <a:cs typeface="Times New Roman" panose="02020603050405020304" pitchFamily="18" charset="0"/>
            </a:endParaRPr>
          </a:p>
        </p:txBody>
      </p:sp>
      <p:sp>
        <p:nvSpPr>
          <p:cNvPr id="610" name="Google Shape;610;p28"/>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34686241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28"/>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sz="4000" dirty="0">
                <a:solidFill>
                  <a:srgbClr val="002060"/>
                </a:solidFill>
                <a:latin typeface="Times New Roman" panose="02020603050405020304" pitchFamily="18" charset="0"/>
                <a:cs typeface="Times New Roman" panose="02020603050405020304" pitchFamily="18" charset="0"/>
              </a:rPr>
              <a:t>References</a:t>
            </a:r>
            <a:endParaRPr dirty="0">
              <a:solidFill>
                <a:srgbClr val="002060"/>
              </a:solidFill>
              <a:latin typeface="Times New Roman" panose="02020603050405020304" pitchFamily="18" charset="0"/>
              <a:cs typeface="Times New Roman" panose="02020603050405020304" pitchFamily="18" charset="0"/>
            </a:endParaRPr>
          </a:p>
        </p:txBody>
      </p:sp>
      <p:sp>
        <p:nvSpPr>
          <p:cNvPr id="609" name="Google Shape;609;p28"/>
          <p:cNvSpPr txBox="1">
            <a:spLocks noGrp="1"/>
          </p:cNvSpPr>
          <p:nvPr>
            <p:ph type="body" idx="1"/>
          </p:nvPr>
        </p:nvSpPr>
        <p:spPr>
          <a:xfrm>
            <a:off x="457200" y="1219200"/>
            <a:ext cx="8229600" cy="550225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indent="-139700" algn="just">
              <a:spcBef>
                <a:spcPts val="0"/>
              </a:spcBef>
              <a:buClr>
                <a:schemeClr val="dk1"/>
              </a:buClr>
              <a:buSzPts val="3200"/>
              <a:buNone/>
            </a:pPr>
            <a:endParaRPr lang="en-US" sz="1400" dirty="0">
              <a:latin typeface="Times New Roman" panose="02020603050405020304" pitchFamily="18" charset="0"/>
              <a:cs typeface="Times New Roman" panose="02020603050405020304" pitchFamily="18" charset="0"/>
            </a:endParaRPr>
          </a:p>
          <a:p>
            <a:pPr marL="342900" indent="-139700" algn="just">
              <a:spcBef>
                <a:spcPts val="0"/>
              </a:spcBef>
              <a:buClr>
                <a:schemeClr val="dk1"/>
              </a:buClr>
              <a:buSzPts val="3200"/>
              <a:buNone/>
            </a:pPr>
            <a:endParaRPr lang="en-IN" sz="1400" dirty="0">
              <a:latin typeface="Times New Roman" panose="02020603050405020304" pitchFamily="18" charset="0"/>
              <a:cs typeface="Times New Roman" panose="02020603050405020304" pitchFamily="18" charset="0"/>
            </a:endParaRPr>
          </a:p>
          <a:p>
            <a:pPr marL="342900" indent="-139700" algn="just">
              <a:spcBef>
                <a:spcPts val="0"/>
              </a:spcBef>
              <a:buClr>
                <a:schemeClr val="dk1"/>
              </a:buClr>
              <a:buSzPts val="3200"/>
              <a:buNone/>
            </a:pPr>
            <a:r>
              <a:rPr lang="en-IN" sz="1400" dirty="0">
                <a:latin typeface="Times New Roman" panose="02020603050405020304" pitchFamily="18" charset="0"/>
                <a:cs typeface="Times New Roman" panose="02020603050405020304" pitchFamily="18" charset="0"/>
              </a:rPr>
              <a:t>8. </a:t>
            </a:r>
            <a:r>
              <a:rPr lang="en-IN" sz="1400" dirty="0" err="1">
                <a:latin typeface="Times New Roman" panose="02020603050405020304" pitchFamily="18" charset="0"/>
                <a:cs typeface="Times New Roman" panose="02020603050405020304" pitchFamily="18" charset="0"/>
              </a:rPr>
              <a:t>A.R.Jordehi</a:t>
            </a:r>
            <a:r>
              <a:rPr lang="en-IN" sz="1400" dirty="0">
                <a:latin typeface="Times New Roman" panose="02020603050405020304" pitchFamily="18" charset="0"/>
                <a:cs typeface="Times New Roman" panose="02020603050405020304" pitchFamily="18" charset="0"/>
              </a:rPr>
              <a:t>, M.S.JavadiandJ.P.Catalão,“Energymanagementinmicrogridswithbatteryswapstations and var </a:t>
            </a:r>
            <a:r>
              <a:rPr lang="en-IN" sz="1400" dirty="0" err="1">
                <a:latin typeface="Times New Roman" panose="02020603050405020304" pitchFamily="18" charset="0"/>
                <a:cs typeface="Times New Roman" panose="02020603050405020304" pitchFamily="18" charset="0"/>
              </a:rPr>
              <a:t>compensators,”Journal</a:t>
            </a:r>
            <a:r>
              <a:rPr lang="en-IN" sz="1400" dirty="0">
                <a:latin typeface="Times New Roman" panose="02020603050405020304" pitchFamily="18" charset="0"/>
                <a:cs typeface="Times New Roman" panose="02020603050405020304" pitchFamily="18" charset="0"/>
              </a:rPr>
              <a:t> of Cleaner Production, vol. 272, no. 1, pp. 29–43, 2020.</a:t>
            </a:r>
          </a:p>
          <a:p>
            <a:pPr marL="342900" lvl="0" indent="-139700" algn="just">
              <a:spcBef>
                <a:spcPts val="0"/>
              </a:spcBef>
              <a:buClr>
                <a:schemeClr val="dk1"/>
              </a:buClr>
              <a:buSzPts val="3200"/>
              <a:buNone/>
            </a:pPr>
            <a:r>
              <a:rPr lang="en-US" sz="1400" dirty="0">
                <a:latin typeface="Times New Roman" panose="02020603050405020304" pitchFamily="18" charset="0"/>
                <a:cs typeface="Times New Roman" panose="02020603050405020304" pitchFamily="18" charset="0"/>
              </a:rPr>
              <a:t> </a:t>
            </a:r>
          </a:p>
          <a:p>
            <a:pPr marL="342900" lvl="0" indent="-139700" algn="just">
              <a:spcBef>
                <a:spcPts val="0"/>
              </a:spcBef>
              <a:buClr>
                <a:schemeClr val="dk1"/>
              </a:buClr>
              <a:buSzPts val="3200"/>
              <a:buNone/>
            </a:pPr>
            <a:r>
              <a:rPr lang="en-US" sz="1400" dirty="0">
                <a:latin typeface="Times New Roman" panose="02020603050405020304" pitchFamily="18" charset="0"/>
                <a:cs typeface="Times New Roman" panose="02020603050405020304" pitchFamily="18" charset="0"/>
              </a:rPr>
              <a:t>9. S.K. Das, D. Cook, A. Bhattacharya, E.O. Heierman, T.Y. Lin, The role of prediction algorithms in the </a:t>
            </a:r>
            <a:r>
              <a:rPr lang="en-US" sz="1400" dirty="0" err="1">
                <a:latin typeface="Times New Roman" panose="02020603050405020304" pitchFamily="18" charset="0"/>
                <a:cs typeface="Times New Roman" panose="02020603050405020304" pitchFamily="18" charset="0"/>
              </a:rPr>
              <a:t>mavHome</a:t>
            </a:r>
            <a:r>
              <a:rPr lang="en-US" sz="1400" dirty="0">
                <a:latin typeface="Times New Roman" panose="02020603050405020304" pitchFamily="18" charset="0"/>
                <a:cs typeface="Times New Roman" panose="02020603050405020304" pitchFamily="18" charset="0"/>
              </a:rPr>
              <a:t> smart home architecture, IEEE Wireless Commun. Mag. 9 (2002), 77–84.</a:t>
            </a:r>
          </a:p>
          <a:p>
            <a:pPr marL="342900" lvl="0" indent="-139700" algn="just">
              <a:spcBef>
                <a:spcPts val="0"/>
              </a:spcBef>
              <a:buClr>
                <a:schemeClr val="dk1"/>
              </a:buClr>
              <a:buSzPts val="3200"/>
              <a:buNone/>
            </a:pPr>
            <a:endParaRPr lang="en-US" sz="1400" dirty="0">
              <a:latin typeface="Times New Roman" panose="02020603050405020304" pitchFamily="18" charset="0"/>
              <a:cs typeface="Times New Roman" panose="02020603050405020304" pitchFamily="18" charset="0"/>
            </a:endParaRPr>
          </a:p>
          <a:p>
            <a:pPr marL="342900" lvl="0" indent="-139700" algn="just">
              <a:spcBef>
                <a:spcPts val="0"/>
              </a:spcBef>
              <a:buClr>
                <a:schemeClr val="dk1"/>
              </a:buClr>
              <a:buSzPts val="3200"/>
              <a:buNone/>
            </a:pPr>
            <a:r>
              <a:rPr lang="en-US" sz="1400" dirty="0">
                <a:latin typeface="Times New Roman" panose="02020603050405020304" pitchFamily="18" charset="0"/>
                <a:cs typeface="Times New Roman" panose="02020603050405020304" pitchFamily="18" charset="0"/>
              </a:rPr>
              <a:t>10. M. S. Saleh, A. </a:t>
            </a:r>
            <a:r>
              <a:rPr lang="en-US" sz="1400" dirty="0" err="1">
                <a:latin typeface="Times New Roman" panose="02020603050405020304" pitchFamily="18" charset="0"/>
                <a:cs typeface="Times New Roman" panose="02020603050405020304" pitchFamily="18" charset="0"/>
              </a:rPr>
              <a:t>Althaibani</a:t>
            </a:r>
            <a:r>
              <a:rPr lang="en-US" sz="1400" dirty="0">
                <a:latin typeface="Times New Roman" panose="02020603050405020304" pitchFamily="18" charset="0"/>
                <a:cs typeface="Times New Roman" panose="02020603050405020304" pitchFamily="18" charset="0"/>
              </a:rPr>
              <a:t>, Y. Esa, Y. </a:t>
            </a:r>
            <a:r>
              <a:rPr lang="en-US" sz="1400" dirty="0" err="1">
                <a:latin typeface="Times New Roman" panose="02020603050405020304" pitchFamily="18" charset="0"/>
                <a:cs typeface="Times New Roman" panose="02020603050405020304" pitchFamily="18" charset="0"/>
              </a:rPr>
              <a:t>Mhandi</a:t>
            </a:r>
            <a:r>
              <a:rPr lang="en-US" sz="1400" dirty="0">
                <a:latin typeface="Times New Roman" panose="02020603050405020304" pitchFamily="18" charset="0"/>
                <a:cs typeface="Times New Roman" panose="02020603050405020304" pitchFamily="18" charset="0"/>
              </a:rPr>
              <a:t>, and A. A. Mohamed, "Impact of clustering microgrids on their stability and resilience during blackouts," Oct. 2015, </a:t>
            </a:r>
            <a:r>
              <a:rPr lang="en-US" sz="1400" dirty="0" err="1">
                <a:latin typeface="Times New Roman" panose="02020603050405020304" pitchFamily="18" charset="0"/>
                <a:cs typeface="Times New Roman" panose="02020603050405020304" pitchFamily="18" charset="0"/>
              </a:rPr>
              <a:t>doi</a:t>
            </a:r>
            <a:r>
              <a:rPr lang="en-US" sz="1400" dirty="0">
                <a:latin typeface="Times New Roman" panose="02020603050405020304" pitchFamily="18" charset="0"/>
                <a:cs typeface="Times New Roman" panose="02020603050405020304" pitchFamily="18" charset="0"/>
              </a:rPr>
              <a:t>: 10.1109/ICSGCE.2015.7454295. </a:t>
            </a:r>
          </a:p>
          <a:p>
            <a:pPr marL="342900" lvl="0" indent="-139700" algn="just">
              <a:spcBef>
                <a:spcPts val="0"/>
              </a:spcBef>
              <a:buClr>
                <a:schemeClr val="dk1"/>
              </a:buClr>
              <a:buSzPts val="3200"/>
              <a:buNone/>
            </a:pPr>
            <a:endParaRPr lang="en-US" sz="1400" dirty="0">
              <a:latin typeface="Times New Roman" panose="02020603050405020304" pitchFamily="18" charset="0"/>
              <a:cs typeface="Times New Roman" panose="02020603050405020304" pitchFamily="18" charset="0"/>
            </a:endParaRPr>
          </a:p>
          <a:p>
            <a:pPr marL="342900" lvl="0" indent="-139700" algn="just">
              <a:spcBef>
                <a:spcPts val="0"/>
              </a:spcBef>
              <a:buClr>
                <a:schemeClr val="dk1"/>
              </a:buClr>
              <a:buSzPts val="3200"/>
              <a:buNone/>
            </a:pPr>
            <a:r>
              <a:rPr lang="en-US" sz="1400" dirty="0">
                <a:latin typeface="Times New Roman" panose="02020603050405020304" pitchFamily="18" charset="0"/>
                <a:cs typeface="Times New Roman" panose="02020603050405020304" pitchFamily="18" charset="0"/>
              </a:rPr>
              <a:t>11. M. Raval, S. Bhardwaj, A. </a:t>
            </a:r>
            <a:r>
              <a:rPr lang="en-US" sz="1400" dirty="0" err="1">
                <a:latin typeface="Times New Roman" panose="02020603050405020304" pitchFamily="18" charset="0"/>
                <a:cs typeface="Times New Roman" panose="02020603050405020304" pitchFamily="18" charset="0"/>
              </a:rPr>
              <a:t>Aravelli</a:t>
            </a:r>
            <a:r>
              <a:rPr lang="en-US" sz="1400" dirty="0">
                <a:latin typeface="Times New Roman" panose="02020603050405020304" pitchFamily="18" charset="0"/>
                <a:cs typeface="Times New Roman" panose="02020603050405020304" pitchFamily="18" charset="0"/>
              </a:rPr>
              <a:t>, et al., Smart energy optimization for massive IoT using artificial intelligence, Internet Things 13 (2021). [3] </a:t>
            </a:r>
          </a:p>
          <a:p>
            <a:pPr marL="342900" lvl="0" indent="-139700" algn="just">
              <a:spcBef>
                <a:spcPts val="0"/>
              </a:spcBef>
              <a:buClr>
                <a:schemeClr val="dk1"/>
              </a:buClr>
              <a:buSzPts val="3200"/>
              <a:buNone/>
            </a:pPr>
            <a:endParaRPr lang="en-US" sz="1400" dirty="0">
              <a:latin typeface="Times New Roman" panose="02020603050405020304" pitchFamily="18" charset="0"/>
              <a:cs typeface="Times New Roman" panose="02020603050405020304" pitchFamily="18" charset="0"/>
            </a:endParaRPr>
          </a:p>
          <a:p>
            <a:pPr marL="342900" lvl="0" indent="-139700" algn="just">
              <a:spcBef>
                <a:spcPts val="0"/>
              </a:spcBef>
              <a:buClr>
                <a:schemeClr val="dk1"/>
              </a:buClr>
              <a:buSzPts val="3200"/>
              <a:buNone/>
            </a:pPr>
            <a:r>
              <a:rPr lang="en-US" sz="1400" dirty="0">
                <a:latin typeface="Times New Roman" panose="02020603050405020304" pitchFamily="18" charset="0"/>
                <a:cs typeface="Times New Roman" panose="02020603050405020304" pitchFamily="18" charset="0"/>
              </a:rPr>
              <a:t>12. T. Ahmad, D.D. Zhang, Using the Internet of Things in smart energy systems and networks, Sustain. Cities Soc. 68 (2021).</a:t>
            </a:r>
          </a:p>
          <a:p>
            <a:pPr marL="342900" lvl="0" indent="-139700" algn="just">
              <a:spcBef>
                <a:spcPts val="0"/>
              </a:spcBef>
              <a:buClr>
                <a:schemeClr val="dk1"/>
              </a:buClr>
              <a:buSzPts val="3200"/>
              <a:buNone/>
            </a:pPr>
            <a:endParaRPr lang="en-US" sz="1400" dirty="0">
              <a:latin typeface="Times New Roman" panose="02020603050405020304" pitchFamily="18" charset="0"/>
              <a:cs typeface="Times New Roman" panose="02020603050405020304" pitchFamily="18" charset="0"/>
            </a:endParaRPr>
          </a:p>
          <a:p>
            <a:pPr marL="342900" lvl="0" indent="-139700" algn="just">
              <a:spcBef>
                <a:spcPts val="0"/>
              </a:spcBef>
              <a:buClr>
                <a:schemeClr val="dk1"/>
              </a:buClr>
              <a:buSzPts val="3200"/>
              <a:buNone/>
            </a:pPr>
            <a:r>
              <a:rPr lang="en-US" sz="1400" dirty="0">
                <a:latin typeface="Times New Roman" panose="02020603050405020304" pitchFamily="18" charset="0"/>
                <a:cs typeface="Times New Roman" panose="02020603050405020304" pitchFamily="18" charset="0"/>
              </a:rPr>
              <a:t>13.A.K.M.Masum,M.K.A.Chy,M.T.HasanandM.H.Sayeed,“Smartmeterwithloadpredictionfeature for residential customers in Bangladesh,” in Int. Conf. on Energy and Power Engineering, Bangladesh, pp. 1–6, 20</a:t>
            </a:r>
          </a:p>
          <a:p>
            <a:pPr marL="342900" lvl="0" indent="-139700" algn="just">
              <a:spcBef>
                <a:spcPts val="0"/>
              </a:spcBef>
              <a:buClr>
                <a:schemeClr val="dk1"/>
              </a:buClr>
              <a:buSzPts val="3200"/>
              <a:buNone/>
            </a:pPr>
            <a:endParaRPr lang="en-US" sz="1400" dirty="0">
              <a:latin typeface="Times New Roman" panose="02020603050405020304" pitchFamily="18" charset="0"/>
              <a:cs typeface="Times New Roman" panose="02020603050405020304" pitchFamily="18" charset="0"/>
            </a:endParaRPr>
          </a:p>
          <a:p>
            <a:pPr marL="342900" lvl="0" indent="-139700" algn="just">
              <a:spcBef>
                <a:spcPts val="0"/>
              </a:spcBef>
              <a:buClr>
                <a:schemeClr val="dk1"/>
              </a:buClr>
              <a:buSzPts val="3200"/>
              <a:buNone/>
            </a:pPr>
            <a:r>
              <a:rPr lang="en-US" sz="1400" dirty="0">
                <a:latin typeface="Times New Roman" panose="02020603050405020304" pitchFamily="18" charset="0"/>
                <a:cs typeface="Times New Roman" panose="02020603050405020304" pitchFamily="18" charset="0"/>
              </a:rPr>
              <a:t>14.</a:t>
            </a:r>
            <a:r>
              <a:rPr lang="en-IN" sz="1400" dirty="0">
                <a:latin typeface="Times New Roman" panose="02020603050405020304" pitchFamily="18" charset="0"/>
                <a:cs typeface="Times New Roman" panose="02020603050405020304" pitchFamily="18" charset="0"/>
              </a:rPr>
              <a:t> Rathore, M.M.; Paul, A.; Ahmad, A.; Rho, S. Urban planning and building smart cities based on the Internet of Things using Big Data analytics. </a:t>
            </a:r>
            <a:r>
              <a:rPr lang="en-IN" sz="1400" dirty="0" err="1">
                <a:latin typeface="Times New Roman" panose="02020603050405020304" pitchFamily="18" charset="0"/>
                <a:cs typeface="Times New Roman" panose="02020603050405020304" pitchFamily="18" charset="0"/>
              </a:rPr>
              <a:t>Comput</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Netw</a:t>
            </a:r>
            <a:r>
              <a:rPr lang="en-IN" sz="1400" dirty="0">
                <a:latin typeface="Times New Roman" panose="02020603050405020304" pitchFamily="18" charset="0"/>
                <a:cs typeface="Times New Roman" panose="02020603050405020304" pitchFamily="18" charset="0"/>
              </a:rPr>
              <a:t>. 2016, 101, 63–80. [</a:t>
            </a:r>
            <a:r>
              <a:rPr lang="en-IN" sz="1400" dirty="0" err="1">
                <a:latin typeface="Times New Roman" panose="02020603050405020304" pitchFamily="18" charset="0"/>
                <a:cs typeface="Times New Roman" panose="02020603050405020304" pitchFamily="18" charset="0"/>
              </a:rPr>
              <a:t>CrossRef</a:t>
            </a:r>
            <a:r>
              <a:rPr lang="en-IN" sz="1400" dirty="0">
                <a:latin typeface="Times New Roman" panose="02020603050405020304" pitchFamily="18" charset="0"/>
                <a:cs typeface="Times New Roman" panose="02020603050405020304" pitchFamily="18" charset="0"/>
              </a:rPr>
              <a:t>]</a:t>
            </a:r>
          </a:p>
          <a:p>
            <a:pPr marL="342900" lvl="0" indent="-139700" algn="just">
              <a:spcBef>
                <a:spcPts val="0"/>
              </a:spcBef>
              <a:buClr>
                <a:schemeClr val="dk1"/>
              </a:buClr>
              <a:buSzPts val="3200"/>
              <a:buNone/>
            </a:pPr>
            <a:endParaRPr lang="en-IN" sz="1400" dirty="0">
              <a:latin typeface="Times New Roman" panose="02020603050405020304" pitchFamily="18" charset="0"/>
              <a:cs typeface="Times New Roman" panose="02020603050405020304" pitchFamily="18" charset="0"/>
            </a:endParaRPr>
          </a:p>
          <a:p>
            <a:pPr marL="342900" lvl="0" indent="-139700" algn="just">
              <a:spcBef>
                <a:spcPts val="0"/>
              </a:spcBef>
              <a:buClr>
                <a:schemeClr val="dk1"/>
              </a:buClr>
              <a:buSzPts val="3200"/>
              <a:buNone/>
            </a:pPr>
            <a:r>
              <a:rPr lang="en-IN" sz="1400" dirty="0">
                <a:latin typeface="Times New Roman" panose="02020603050405020304" pitchFamily="18" charset="0"/>
                <a:cs typeface="Times New Roman" panose="02020603050405020304" pitchFamily="18" charset="0"/>
              </a:rPr>
              <a:t>15. Kumar A, Singh AR, Deng Y, He X, Kumar P, Bansal RC (2018) Multiyear load growth based techno-financial evaluation of a microgrid for an academic institution. IEEE Access 6:3753337555. https:// </a:t>
            </a:r>
            <a:r>
              <a:rPr lang="en-IN" sz="1400" dirty="0" err="1">
                <a:latin typeface="Times New Roman" panose="02020603050405020304" pitchFamily="18" charset="0"/>
                <a:cs typeface="Times New Roman" panose="02020603050405020304" pitchFamily="18" charset="0"/>
              </a:rPr>
              <a:t>doi</a:t>
            </a:r>
            <a:r>
              <a:rPr lang="en-IN" sz="1400" dirty="0">
                <a:latin typeface="Times New Roman" panose="02020603050405020304" pitchFamily="18" charset="0"/>
                <a:cs typeface="Times New Roman" panose="02020603050405020304" pitchFamily="18" charset="0"/>
              </a:rPr>
              <a:t>. org/ 10. 1109/ ACCESS. 2018. 28494 11</a:t>
            </a:r>
            <a:endParaRPr sz="1400" dirty="0">
              <a:latin typeface="Times New Roman" panose="02020603050405020304" pitchFamily="18" charset="0"/>
              <a:cs typeface="Times New Roman" panose="02020603050405020304" pitchFamily="18" charset="0"/>
            </a:endParaRPr>
          </a:p>
        </p:txBody>
      </p:sp>
      <p:sp>
        <p:nvSpPr>
          <p:cNvPr id="610" name="Google Shape;610;p28"/>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24466954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29"/>
          <p:cNvSpPr/>
          <p:nvPr/>
        </p:nvSpPr>
        <p:spPr>
          <a:xfrm>
            <a:off x="1447801" y="2810112"/>
            <a:ext cx="6248400" cy="1200300"/>
          </a:xfrm>
          <a:prstGeom prst="rect">
            <a:avLst/>
          </a:prstGeom>
          <a:noFill/>
          <a:ln w="2857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7200" b="1" i="0" u="none" strike="noStrike" cap="none">
                <a:solidFill>
                  <a:srgbClr val="262626"/>
                </a:solidFill>
                <a:latin typeface="Times New Roman"/>
                <a:ea typeface="Times New Roman"/>
                <a:cs typeface="Times New Roman"/>
                <a:sym typeface="Times New Roman"/>
              </a:rPr>
              <a:t>Thank you</a:t>
            </a:r>
            <a:endParaRPr/>
          </a:p>
        </p:txBody>
      </p:sp>
      <p:sp>
        <p:nvSpPr>
          <p:cNvPr id="616" name="Google Shape;616;p2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418080777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363</TotalTime>
  <Words>2541</Words>
  <Application>Microsoft Office PowerPoint</Application>
  <PresentationFormat>On-screen Show (4:3)</PresentationFormat>
  <Paragraphs>329</Paragraphs>
  <Slides>21</Slides>
  <Notes>18</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21</vt:i4>
      </vt:variant>
    </vt:vector>
  </HeadingPairs>
  <TitlesOfParts>
    <vt:vector size="27" baseType="lpstr">
      <vt:lpstr>Arial</vt:lpstr>
      <vt:lpstr>Calibri</vt:lpstr>
      <vt:lpstr>Calibri Light</vt:lpstr>
      <vt:lpstr>Times New Roman</vt:lpstr>
      <vt:lpstr>Office Theme</vt:lpstr>
      <vt:lpstr>1_Office Theme</vt:lpstr>
      <vt:lpstr>PowerPoint Presentation</vt:lpstr>
      <vt:lpstr>Contents</vt:lpstr>
      <vt:lpstr>Abstract</vt:lpstr>
      <vt:lpstr>1. Introduction</vt:lpstr>
      <vt:lpstr>2. Literature Survey</vt:lpstr>
      <vt:lpstr>PowerPoint Presentation</vt:lpstr>
      <vt:lpstr>PowerPoint Presentation</vt:lpstr>
      <vt:lpstr>PowerPoint Presentation</vt:lpstr>
      <vt:lpstr>3. Information to Seminar Topic</vt:lpstr>
      <vt:lpstr>4. Advantages / Disadvantages</vt:lpstr>
      <vt:lpstr>5. Conclusion</vt:lpstr>
      <vt:lpstr>6. Project Initiation</vt:lpstr>
      <vt:lpstr>6. 1 Description of Problem Statement. Identification.</vt:lpstr>
      <vt:lpstr> 6. 2 Scope and Objectives </vt:lpstr>
      <vt:lpstr>6. 3 Stakeholder</vt:lpstr>
      <vt:lpstr>6. 4 Seminar Discussion Plan</vt:lpstr>
      <vt:lpstr> 6.5 Platform/ Equipment/ Resources </vt:lpstr>
      <vt:lpstr>Bibliography</vt:lpstr>
      <vt:lpstr>References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Abc</dc:creator>
  <cp:lastModifiedBy>Chaitanya Jadhav</cp:lastModifiedBy>
  <cp:revision>15</cp:revision>
  <dcterms:created xsi:type="dcterms:W3CDTF">2026-10-14T13:05:44Z</dcterms:created>
  <dcterms:modified xsi:type="dcterms:W3CDTF">2026-10-16T05:58:56Z</dcterms:modified>
</cp:coreProperties>
</file>